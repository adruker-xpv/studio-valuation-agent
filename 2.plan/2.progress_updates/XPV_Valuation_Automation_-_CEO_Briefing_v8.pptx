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60" r:id="rId5"/>
    <p:sldId id="261" r:id="rId6"/>
    <p:sldId id="277" r:id="rId7"/>
    <p:sldId id="264" r:id="rId8"/>
    <p:sldId id="259" r:id="rId9"/>
    <p:sldId id="271" r:id="rId10"/>
    <p:sldId id="262" r:id="rId11"/>
    <p:sldId id="263" r:id="rId12"/>
    <p:sldId id="265" r:id="rId13"/>
    <p:sldId id="273" r:id="rId14"/>
    <p:sldId id="266" r:id="rId15"/>
    <p:sldId id="267" r:id="rId16"/>
    <p:sldId id="268" r:id="rId17"/>
    <p:sldId id="269" r:id="rId18"/>
    <p:sldId id="270" r:id="rId19"/>
    <p:sldId id="274" r:id="rId20"/>
    <p:sldId id="272" r:id="rId21"/>
    <p:sldId id="275" r:id="rId22"/>
    <p:sldId id="276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724AF5-817A-41B1-BD17-60EE454C914F}" v="6" dt="2026-10-15T14:02:34.342"/>
    <p1510:client id="{FBCC68FE-4445-4342-A651-9B3F935C229D}" v="47" dt="2026-10-15T21:32:42.8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0145" autoAdjust="0"/>
  </p:normalViewPr>
  <p:slideViewPr>
    <p:cSldViewPr snapToGrid="0" snapToObjects="1">
      <p:cViewPr varScale="1">
        <p:scale>
          <a:sx n="76" d="100"/>
          <a:sy n="76" d="100"/>
        </p:scale>
        <p:origin x="108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ia Druker" userId="4df1af69-80de-47bc-b057-d5185b09c5fc" providerId="ADAL" clId="{F3C205D8-FD4F-45E7-B3B5-44D147A799DB}"/>
    <pc:docChg chg="undo custSel modSld">
      <pc:chgData name="Aria Druker" userId="4df1af69-80de-47bc-b057-d5185b09c5fc" providerId="ADAL" clId="{F3C205D8-FD4F-45E7-B3B5-44D147A799DB}" dt="2026-10-15T21:39:42.165" v="494" actId="20577"/>
      <pc:docMkLst>
        <pc:docMk/>
      </pc:docMkLst>
      <pc:sldChg chg="modSp mod">
        <pc:chgData name="Aria Druker" userId="4df1af69-80de-47bc-b057-d5185b09c5fc" providerId="ADAL" clId="{F3C205D8-FD4F-45E7-B3B5-44D147A799DB}" dt="2026-10-15T14:10:13.085" v="297" actId="20577"/>
        <pc:sldMkLst>
          <pc:docMk/>
          <pc:sldMk cId="0" sldId="256"/>
        </pc:sldMkLst>
        <pc:spChg chg="mod">
          <ac:chgData name="Aria Druker" userId="4df1af69-80de-47bc-b057-d5185b09c5fc" providerId="ADAL" clId="{F3C205D8-FD4F-45E7-B3B5-44D147A799DB}" dt="2026-10-15T14:10:13.085" v="297" actId="20577"/>
          <ac:spMkLst>
            <pc:docMk/>
            <pc:sldMk cId="0" sldId="256"/>
            <ac:spMk id="3" creationId="{00000000-0000-0000-0000-000000000000}"/>
          </ac:spMkLst>
        </pc:spChg>
      </pc:sldChg>
      <pc:sldChg chg="delSp modSp mod modNotesTx">
        <pc:chgData name="Aria Druker" userId="4df1af69-80de-47bc-b057-d5185b09c5fc" providerId="ADAL" clId="{F3C205D8-FD4F-45E7-B3B5-44D147A799DB}" dt="2026-10-15T14:12:53.402" v="358" actId="20577"/>
        <pc:sldMkLst>
          <pc:docMk/>
          <pc:sldMk cId="0" sldId="259"/>
        </pc:sldMkLst>
        <pc:spChg chg="mod">
          <ac:chgData name="Aria Druker" userId="4df1af69-80de-47bc-b057-d5185b09c5fc" providerId="ADAL" clId="{F3C205D8-FD4F-45E7-B3B5-44D147A799DB}" dt="2026-10-15T13:33:54.185" v="13" actId="14100"/>
          <ac:spMkLst>
            <pc:docMk/>
            <pc:sldMk cId="0" sldId="259"/>
            <ac:spMk id="22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3:33:47.176" v="12" actId="1035"/>
          <ac:spMkLst>
            <pc:docMk/>
            <pc:sldMk cId="0" sldId="259"/>
            <ac:spMk id="23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3:33:59.885" v="25" actId="1036"/>
          <ac:spMkLst>
            <pc:docMk/>
            <pc:sldMk cId="0" sldId="259"/>
            <ac:spMk id="24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3:33:59.885" v="25" actId="1036"/>
          <ac:spMkLst>
            <pc:docMk/>
            <pc:sldMk cId="0" sldId="259"/>
            <ac:spMk id="25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3:33:59.885" v="25" actId="1036"/>
          <ac:spMkLst>
            <pc:docMk/>
            <pc:sldMk cId="0" sldId="259"/>
            <ac:spMk id="27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3:33:59.885" v="25" actId="1036"/>
          <ac:spMkLst>
            <pc:docMk/>
            <pc:sldMk cId="0" sldId="259"/>
            <ac:spMk id="29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3:33:59.885" v="25" actId="1036"/>
          <ac:spMkLst>
            <pc:docMk/>
            <pc:sldMk cId="0" sldId="259"/>
            <ac:spMk id="30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3:33:59.885" v="25" actId="1036"/>
          <ac:spMkLst>
            <pc:docMk/>
            <pc:sldMk cId="0" sldId="259"/>
            <ac:spMk id="31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3:33:59.885" v="25" actId="1036"/>
          <ac:spMkLst>
            <pc:docMk/>
            <pc:sldMk cId="0" sldId="259"/>
            <ac:spMk id="32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3:33:47.176" v="12" actId="1035"/>
          <ac:spMkLst>
            <pc:docMk/>
            <pc:sldMk cId="0" sldId="259"/>
            <ac:spMk id="34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3:33:59.885" v="25" actId="1036"/>
          <ac:spMkLst>
            <pc:docMk/>
            <pc:sldMk cId="0" sldId="259"/>
            <ac:spMk id="35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3:33:59.885" v="25" actId="1036"/>
          <ac:spMkLst>
            <pc:docMk/>
            <pc:sldMk cId="0" sldId="259"/>
            <ac:spMk id="36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3:33:59.885" v="25" actId="1036"/>
          <ac:spMkLst>
            <pc:docMk/>
            <pc:sldMk cId="0" sldId="259"/>
            <ac:spMk id="37" creationId="{00000000-0000-0000-0000-000000000000}"/>
          </ac:spMkLst>
        </pc:spChg>
        <pc:spChg chg="del mod">
          <ac:chgData name="Aria Druker" userId="4df1af69-80de-47bc-b057-d5185b09c5fc" providerId="ADAL" clId="{F3C205D8-FD4F-45E7-B3B5-44D147A799DB}" dt="2026-10-15T13:33:35.053" v="1" actId="478"/>
          <ac:spMkLst>
            <pc:docMk/>
            <pc:sldMk cId="0" sldId="259"/>
            <ac:spMk id="39" creationId="{00000000-0000-0000-0000-000000000000}"/>
          </ac:spMkLst>
        </pc:spChg>
      </pc:sldChg>
      <pc:sldChg chg="modSp mod">
        <pc:chgData name="Aria Druker" userId="4df1af69-80de-47bc-b057-d5185b09c5fc" providerId="ADAL" clId="{F3C205D8-FD4F-45E7-B3B5-44D147A799DB}" dt="2026-10-15T21:34:16.630" v="467" actId="20577"/>
        <pc:sldMkLst>
          <pc:docMk/>
          <pc:sldMk cId="0" sldId="260"/>
        </pc:sldMkLst>
        <pc:spChg chg="mod">
          <ac:chgData name="Aria Druker" userId="4df1af69-80de-47bc-b057-d5185b09c5fc" providerId="ADAL" clId="{F3C205D8-FD4F-45E7-B3B5-44D147A799DB}" dt="2026-10-15T14:16:06.040" v="377" actId="20577"/>
          <ac:spMkLst>
            <pc:docMk/>
            <pc:sldMk cId="0" sldId="260"/>
            <ac:spMk id="3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21:34:16.630" v="467" actId="20577"/>
          <ac:spMkLst>
            <pc:docMk/>
            <pc:sldMk cId="0" sldId="260"/>
            <ac:spMk id="34" creationId="{00000000-0000-0000-0000-000000000000}"/>
          </ac:spMkLst>
        </pc:spChg>
        <pc:graphicFrameChg chg="mod modGraphic">
          <ac:chgData name="Aria Druker" userId="4df1af69-80de-47bc-b057-d5185b09c5fc" providerId="ADAL" clId="{F3C205D8-FD4F-45E7-B3B5-44D147A799DB}" dt="2026-10-15T13:37:48.149" v="51" actId="14100"/>
          <ac:graphicFrameMkLst>
            <pc:docMk/>
            <pc:sldMk cId="0" sldId="260"/>
            <ac:graphicFrameMk id="6" creationId="{00000000-0000-0000-0000-000000000000}"/>
          </ac:graphicFrameMkLst>
        </pc:graphicFrameChg>
        <pc:graphicFrameChg chg="mod">
          <ac:chgData name="Aria Druker" userId="4df1af69-80de-47bc-b057-d5185b09c5fc" providerId="ADAL" clId="{F3C205D8-FD4F-45E7-B3B5-44D147A799DB}" dt="2026-10-15T21:32:42.830" v="441" actId="20577"/>
          <ac:graphicFrameMkLst>
            <pc:docMk/>
            <pc:sldMk cId="0" sldId="260"/>
            <ac:graphicFrameMk id="26" creationId="{00000000-0000-0000-0000-000000000000}"/>
          </ac:graphicFrameMkLst>
        </pc:graphicFrameChg>
      </pc:sldChg>
      <pc:sldChg chg="delSp modSp mod">
        <pc:chgData name="Aria Druker" userId="4df1af69-80de-47bc-b057-d5185b09c5fc" providerId="ADAL" clId="{F3C205D8-FD4F-45E7-B3B5-44D147A799DB}" dt="2026-10-15T14:17:45.389" v="380" actId="14100"/>
        <pc:sldMkLst>
          <pc:docMk/>
          <pc:sldMk cId="0" sldId="261"/>
        </pc:sldMkLst>
        <pc:spChg chg="mod">
          <ac:chgData name="Aria Druker" userId="4df1af69-80de-47bc-b057-d5185b09c5fc" providerId="ADAL" clId="{F3C205D8-FD4F-45E7-B3B5-44D147A799DB}" dt="2026-10-15T13:41:30.777" v="72" actId="20577"/>
          <ac:spMkLst>
            <pc:docMk/>
            <pc:sldMk cId="0" sldId="261"/>
            <ac:spMk id="18" creationId="{00000000-0000-0000-0000-000000000000}"/>
          </ac:spMkLst>
        </pc:spChg>
        <pc:spChg chg="del mod">
          <ac:chgData name="Aria Druker" userId="4df1af69-80de-47bc-b057-d5185b09c5fc" providerId="ADAL" clId="{F3C205D8-FD4F-45E7-B3B5-44D147A799DB}" dt="2026-10-15T13:44:46.358" v="74" actId="478"/>
          <ac:spMkLst>
            <pc:docMk/>
            <pc:sldMk cId="0" sldId="261"/>
            <ac:spMk id="24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17:45.389" v="380" actId="14100"/>
          <ac:spMkLst>
            <pc:docMk/>
            <pc:sldMk cId="0" sldId="261"/>
            <ac:spMk id="54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17:36.441" v="379" actId="20577"/>
          <ac:spMkLst>
            <pc:docMk/>
            <pc:sldMk cId="0" sldId="261"/>
            <ac:spMk id="59" creationId="{00000000-0000-0000-0000-000000000000}"/>
          </ac:spMkLst>
        </pc:spChg>
      </pc:sldChg>
      <pc:sldChg chg="modSp mod">
        <pc:chgData name="Aria Druker" userId="4df1af69-80de-47bc-b057-d5185b09c5fc" providerId="ADAL" clId="{F3C205D8-FD4F-45E7-B3B5-44D147A799DB}" dt="2026-10-15T14:00:02.421" v="79" actId="20577"/>
        <pc:sldMkLst>
          <pc:docMk/>
          <pc:sldMk cId="0" sldId="262"/>
        </pc:sldMkLst>
        <pc:spChg chg="mod">
          <ac:chgData name="Aria Druker" userId="4df1af69-80de-47bc-b057-d5185b09c5fc" providerId="ADAL" clId="{F3C205D8-FD4F-45E7-B3B5-44D147A799DB}" dt="2026-10-15T14:00:02.421" v="79" actId="20577"/>
          <ac:spMkLst>
            <pc:docMk/>
            <pc:sldMk cId="0" sldId="262"/>
            <ac:spMk id="18" creationId="{00000000-0000-0000-0000-000000000000}"/>
          </ac:spMkLst>
        </pc:spChg>
      </pc:sldChg>
      <pc:sldChg chg="modSp mod">
        <pc:chgData name="Aria Druker" userId="4df1af69-80de-47bc-b057-d5185b09c5fc" providerId="ADAL" clId="{F3C205D8-FD4F-45E7-B3B5-44D147A799DB}" dt="2026-10-15T14:18:42.107" v="394" actId="1038"/>
        <pc:sldMkLst>
          <pc:docMk/>
          <pc:sldMk cId="0" sldId="263"/>
        </pc:sldMkLst>
        <pc:spChg chg="mod">
          <ac:chgData name="Aria Druker" userId="4df1af69-80de-47bc-b057-d5185b09c5fc" providerId="ADAL" clId="{F3C205D8-FD4F-45E7-B3B5-44D147A799DB}" dt="2026-10-15T14:01:16.706" v="127" actId="14100"/>
          <ac:spMkLst>
            <pc:docMk/>
            <pc:sldMk cId="0" sldId="263"/>
            <ac:spMk id="4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1:21.411" v="131" actId="20577"/>
          <ac:spMkLst>
            <pc:docMk/>
            <pc:sldMk cId="0" sldId="263"/>
            <ac:spMk id="5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0:24.638" v="87" actId="20577"/>
          <ac:spMkLst>
            <pc:docMk/>
            <pc:sldMk cId="0" sldId="263"/>
            <ac:spMk id="15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0:28.281" v="90" actId="20577"/>
          <ac:spMkLst>
            <pc:docMk/>
            <pc:sldMk cId="0" sldId="263"/>
            <ac:spMk id="17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0:35.885" v="91" actId="20577"/>
          <ac:spMkLst>
            <pc:docMk/>
            <pc:sldMk cId="0" sldId="263"/>
            <ac:spMk id="20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1:48.940" v="147" actId="5793"/>
          <ac:spMkLst>
            <pc:docMk/>
            <pc:sldMk cId="0" sldId="263"/>
            <ac:spMk id="24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1:59.382" v="148" actId="14100"/>
          <ac:spMkLst>
            <pc:docMk/>
            <pc:sldMk cId="0" sldId="263"/>
            <ac:spMk id="25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2:03.844" v="149" actId="14100"/>
          <ac:spMkLst>
            <pc:docMk/>
            <pc:sldMk cId="0" sldId="263"/>
            <ac:spMk id="29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2:49.616" v="162" actId="14100"/>
          <ac:spMkLst>
            <pc:docMk/>
            <pc:sldMk cId="0" sldId="263"/>
            <ac:spMk id="30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2:49.616" v="162" actId="14100"/>
          <ac:spMkLst>
            <pc:docMk/>
            <pc:sldMk cId="0" sldId="263"/>
            <ac:spMk id="31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3:07.516" v="165" actId="1076"/>
          <ac:spMkLst>
            <pc:docMk/>
            <pc:sldMk cId="0" sldId="263"/>
            <ac:spMk id="32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3:07.516" v="165" actId="1076"/>
          <ac:spMkLst>
            <pc:docMk/>
            <pc:sldMk cId="0" sldId="263"/>
            <ac:spMk id="33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2:13.774" v="150" actId="14100"/>
          <ac:spMkLst>
            <pc:docMk/>
            <pc:sldMk cId="0" sldId="263"/>
            <ac:spMk id="37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2:49.616" v="162" actId="14100"/>
          <ac:spMkLst>
            <pc:docMk/>
            <pc:sldMk cId="0" sldId="263"/>
            <ac:spMk id="38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2:49.616" v="162" actId="14100"/>
          <ac:spMkLst>
            <pc:docMk/>
            <pc:sldMk cId="0" sldId="263"/>
            <ac:spMk id="39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3:07.516" v="165" actId="1076"/>
          <ac:spMkLst>
            <pc:docMk/>
            <pc:sldMk cId="0" sldId="263"/>
            <ac:spMk id="40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3:07.516" v="165" actId="1076"/>
          <ac:spMkLst>
            <pc:docMk/>
            <pc:sldMk cId="0" sldId="263"/>
            <ac:spMk id="41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2:17.401" v="151" actId="14100"/>
          <ac:spMkLst>
            <pc:docMk/>
            <pc:sldMk cId="0" sldId="263"/>
            <ac:spMk id="45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2:49.616" v="162" actId="14100"/>
          <ac:spMkLst>
            <pc:docMk/>
            <pc:sldMk cId="0" sldId="263"/>
            <ac:spMk id="46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2:49.616" v="162" actId="14100"/>
          <ac:spMkLst>
            <pc:docMk/>
            <pc:sldMk cId="0" sldId="263"/>
            <ac:spMk id="47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3:07.516" v="165" actId="1076"/>
          <ac:spMkLst>
            <pc:docMk/>
            <pc:sldMk cId="0" sldId="263"/>
            <ac:spMk id="48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3:07.516" v="165" actId="1076"/>
          <ac:spMkLst>
            <pc:docMk/>
            <pc:sldMk cId="0" sldId="263"/>
            <ac:spMk id="49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6:23.738" v="289" actId="14100"/>
          <ac:spMkLst>
            <pc:docMk/>
            <pc:sldMk cId="0" sldId="263"/>
            <ac:spMk id="50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6:23.738" v="289" actId="14100"/>
          <ac:spMkLst>
            <pc:docMk/>
            <pc:sldMk cId="0" sldId="263"/>
            <ac:spMk id="51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6:23.738" v="289" actId="14100"/>
          <ac:spMkLst>
            <pc:docMk/>
            <pc:sldMk cId="0" sldId="263"/>
            <ac:spMk id="52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18:29.250" v="383" actId="20577"/>
          <ac:spMkLst>
            <pc:docMk/>
            <pc:sldMk cId="0" sldId="263"/>
            <ac:spMk id="53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18:42.107" v="394" actId="1038"/>
          <ac:spMkLst>
            <pc:docMk/>
            <pc:sldMk cId="0" sldId="263"/>
            <ac:spMk id="54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18:42.107" v="394" actId="1038"/>
          <ac:spMkLst>
            <pc:docMk/>
            <pc:sldMk cId="0" sldId="263"/>
            <ac:spMk id="55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18:42.107" v="394" actId="1038"/>
          <ac:spMkLst>
            <pc:docMk/>
            <pc:sldMk cId="0" sldId="263"/>
            <ac:spMk id="56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18:42.107" v="394" actId="1038"/>
          <ac:spMkLst>
            <pc:docMk/>
            <pc:sldMk cId="0" sldId="263"/>
            <ac:spMk id="57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18:42.107" v="394" actId="1038"/>
          <ac:spMkLst>
            <pc:docMk/>
            <pc:sldMk cId="0" sldId="263"/>
            <ac:spMk id="58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18:42.107" v="394" actId="1038"/>
          <ac:spMkLst>
            <pc:docMk/>
            <pc:sldMk cId="0" sldId="263"/>
            <ac:spMk id="59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3:24.984" v="166" actId="1076"/>
          <ac:spMkLst>
            <pc:docMk/>
            <pc:sldMk cId="0" sldId="263"/>
            <ac:spMk id="60" creationId="{00000000-0000-0000-0000-000000000000}"/>
          </ac:spMkLst>
        </pc:spChg>
      </pc:sldChg>
      <pc:sldChg chg="modSp mod">
        <pc:chgData name="Aria Druker" userId="4df1af69-80de-47bc-b057-d5185b09c5fc" providerId="ADAL" clId="{F3C205D8-FD4F-45E7-B3B5-44D147A799DB}" dt="2026-10-15T21:39:42.165" v="494" actId="20577"/>
        <pc:sldMkLst>
          <pc:docMk/>
          <pc:sldMk cId="0" sldId="277"/>
        </pc:sldMkLst>
        <pc:spChg chg="mod">
          <ac:chgData name="Aria Druker" userId="4df1af69-80de-47bc-b057-d5185b09c5fc" providerId="ADAL" clId="{F3C205D8-FD4F-45E7-B3B5-44D147A799DB}" dt="2026-10-15T21:39:17.193" v="490" actId="20577"/>
          <ac:spMkLst>
            <pc:docMk/>
            <pc:sldMk cId="0" sldId="277"/>
            <ac:spMk id="18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21:39:23.055" v="493" actId="1036"/>
          <ac:spMkLst>
            <pc:docMk/>
            <pc:sldMk cId="0" sldId="277"/>
            <ac:spMk id="19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21:39:42.165" v="494" actId="20577"/>
          <ac:spMkLst>
            <pc:docMk/>
            <pc:sldMk cId="0" sldId="277"/>
            <ac:spMk id="22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300" b="0" dirty="0">
                <a:solidFill>
                  <a:srgbClr val="1F2A33"/>
                </a:solidFill>
              </a:rPr>
              <a:t>Preliminary Valuation Metrics Correctly Extracted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AI-first</c:v>
                </c:pt>
              </c:strCache>
            </c:strRef>
          </c:tx>
          <c:spPr>
            <a:solidFill>
              <a:srgbClr val="D1495B"/>
            </a:solidFill>
            <a:ln>
              <a:noFill/>
            </a:ln>
          </c:spPr>
          <c:invertIfNegative val="1"/>
          <c:dLbls>
            <c:numFmt formatCode="0&quot; of 9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1">
                    <a:solidFill>
                      <a:srgbClr val="1F2A33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OceanSight</c:v>
                </c:pt>
                <c:pt idx="1">
                  <c:v>Opus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</c:v>
                </c:pt>
                <c:pt idx="1">
                  <c:v>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2A36-48C0-A84B-66D77D3EA02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Studio build</c:v>
                </c:pt>
              </c:strCache>
            </c:strRef>
          </c:tx>
          <c:spPr>
            <a:solidFill>
              <a:srgbClr val="66A7A2"/>
            </a:solidFill>
            <a:ln>
              <a:noFill/>
            </a:ln>
          </c:spPr>
          <c:invertIfNegative val="1"/>
          <c:dLbls>
            <c:numFmt formatCode="0&quot; of 9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1">
                    <a:solidFill>
                      <a:srgbClr val="1F2A33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OceanSight</c:v>
                </c:pt>
                <c:pt idx="1">
                  <c:v>Opus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9</c:v>
                </c:pt>
                <c:pt idx="1">
                  <c:v>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2A36-48C0-A84B-66D77D3EA0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1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9E0E6"/>
            </a:solidFill>
          </a:ln>
        </c:spPr>
        <c:txPr>
          <a:bodyPr/>
          <a:lstStyle/>
          <a:p>
            <a:pPr>
              <a:defRPr sz="1400">
                <a:solidFill>
                  <a:srgbClr val="1F2A33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200">
              <a:solidFill>
                <a:srgbClr val="1F2A33"/>
              </a:solidFill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100" b="0">
                <a:solidFill>
                  <a:srgbClr val="1F2A33"/>
                </a:solidFill>
              </a:rPr>
              <a:t>Best AI building Excel finance models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Checks passed</c:v>
                </c:pt>
              </c:strCache>
            </c:strRef>
          </c:tx>
          <c:spPr>
            <a:solidFill>
              <a:srgbClr val="66A7A2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66A7A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6C2-4580-AF1A-B85A22EAE88E}"/>
              </c:ext>
            </c:extLst>
          </c:dPt>
          <c:dPt>
            <c:idx val="1"/>
            <c:invertIfNegative val="0"/>
            <c:bubble3D val="0"/>
            <c:spPr>
              <a:solidFill>
                <a:srgbClr val="00A7E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6C2-4580-AF1A-B85A22EAE88E}"/>
              </c:ext>
            </c:extLst>
          </c:dPt>
          <c:dPt>
            <c:idx val="2"/>
            <c:invertIfNegative val="0"/>
            <c:bubble3D val="0"/>
            <c:spPr>
              <a:solidFill>
                <a:srgbClr val="D1495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6C2-4580-AF1A-B85A22EAE88E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Formulas</c:v>
                </c:pt>
                <c:pt idx="1">
                  <c:v>Presentation</c:v>
                </c:pt>
                <c:pt idx="2">
                  <c:v>Numbers</c:v>
                </c:pt>
              </c:strCache>
            </c:strRef>
          </c:cat>
          <c:val>
            <c:numRef>
              <c:f>Sheet1!$B$2:$B$4</c:f>
              <c:numCache>
                <c:formatCode>0"%"</c:formatCode>
                <c:ptCount val="3"/>
                <c:pt idx="0">
                  <c:v>89</c:v>
                </c:pt>
                <c:pt idx="1">
                  <c:v>82</c:v>
                </c:pt>
                <c:pt idx="2">
                  <c:v>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6C2-4580-AF1A-B85A22EAE88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173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The story in five slides: how it works today, where we're going, what already works, the plan, and what I need from you.</a:t>
            </a:r>
          </a:p>
          <a:p>
            <a:r>
              <a:t>- Colours mean the same thing on every slide: blue is AI, navy is code, yellow is the analyst, green is working, red is a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Every quarter, numbers pass through a chain of spreadsheets, from each company to our investor report.</a:t>
            </a:r>
          </a:p>
          <a:p>
            <a:r>
              <a:t>- At every step, people copy, link and check by hand.</a:t>
            </a:r>
          </a:p>
          <a:p>
            <a:r>
              <a:t>- One early mistake travels all the way to the investor report.</a:t>
            </a:r>
          </a:p>
          <a:p>
            <a:r>
              <a:t>- Hours per company: waiting on AJ.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Two parts: setting up a company once, then every quarter after that.</a:t>
            </a:r>
          </a:p>
          <a:p>
            <a:r>
              <a:t>- The AI reads the files and finds the numbers. Code double-checks every one.</a:t>
            </a:r>
          </a:p>
          <a:p>
            <a:r>
              <a:t>- The analyst signs off once, and the system remembers that decision next quarter.</a:t>
            </a:r>
          </a:p>
          <a:p>
            <a:r>
              <a:t>- Each quarter, the analyst only looks at what changed.</a:t>
            </a:r>
          </a:p>
          <a:p>
            <a:r>
              <a:t>- The goal is the new quarter's valuation workbook, then the investor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We tested on two real companies, OceanSight and Opus.</a:t>
            </a:r>
          </a:p>
          <a:p>
            <a:r>
              <a:t>- Fair test: both builds got the same files and were marked against the same answer key.</a:t>
            </a:r>
          </a:p>
          <a:p>
            <a:r>
              <a:t>- The AI on its own got 3 of 9 right on each. Our build got all 9 on both, with nothing wrong let through.</a:t>
            </a:r>
          </a:p>
          <a:p>
            <a:r>
              <a:t>- The 9: method, earnings number, its 12 months, multiple, company value, debt and cash, ownership split, value to XPV and the fund, and how those match.</a:t>
            </a:r>
          </a:p>
          <a:p>
            <a:r>
              <a:t>- Caution: one run each. Next, a third company built differently, and repeat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Done: mapped the process, tried both extremes, built a version that gets all 9 right on two companies.</a:t>
            </a:r>
          </a:p>
          <a:p>
            <a:r>
              <a:t>- Next: ask fewer, better questions and remember the analyst's answers.</a:t>
            </a:r>
          </a:p>
          <a:p>
            <a:r>
              <a:t>- Then test on past quarters where we know the right answer, and build the new workbook. That's the hardest part.</a:t>
            </a:r>
          </a:p>
          <a:p>
            <a:r>
              <a:t>- Then a third, differently built company, and the same test run several times.</a:t>
            </a:r>
          </a:p>
          <a:p>
            <a:r>
              <a:t>- Handover by December 18 so it runs without 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Risk 1: two companies is a good start, not proof. A third, different company and repeat runs come next.</a:t>
            </a:r>
          </a:p>
          <a:p>
            <a:r>
              <a:t>- Risk 2: building the new workbook is harder than reading one. Fallback: checked numbers plus a list of changes.</a:t>
            </a:r>
          </a:p>
          <a:p>
            <a:r>
              <a:t>- Risk 3: if analysts approve everything without looking, mistakes slip through. Keep their list short and real.</a:t>
            </a:r>
          </a:p>
          <a:p>
            <a:r>
              <a:t>- Decision 1: more review catches more, but saves less time.</a:t>
            </a:r>
          </a:p>
          <a:p>
            <a:r>
              <a:t>- Decision 2: a filled-in guess is quick but easy to wave through; a blank is slower but safer. I lean towards blank.</a:t>
            </a:r>
          </a:p>
          <a:p>
            <a:r>
              <a:t>- Decision 3: I wrote the answer keys myself. An analyst checking them makes the results trustworthy.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Fixed rules only match exact words; every new layout breaks them.</a:t>
            </a:r>
          </a:p>
          <a:p>
            <a:r>
              <a:t>- AI-first: the AI changed the file itself, so mistakes looked finished.</a:t>
            </a:r>
          </a:p>
          <a:p>
            <a:r>
              <a:t>- Not bad prompting: research shows even top models take shortcuts (next slide).</a:t>
            </a:r>
          </a:p>
          <a:p>
            <a:r>
              <a:t>- AI + checking code was closest, but the AI still edited the file and nothing was remembered.</a:t>
            </a:r>
          </a:p>
          <a:p>
            <a:r>
              <a:t>- Target: AI proposes; code checks and makes every change; approvals are saved and reused.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Vals AI tests AI on 103 Excel finance tasks, each built and checked by financial experts. The AI gets the same Python tools we have.</a:t>
            </a:r>
          </a:p>
          <a:p>
            <a:r>
              <a:t>- Formulas: does it point to the right cells? Strong (89%).</a:t>
            </a:r>
          </a:p>
          <a:p>
            <a:r>
              <a:t>- Numbers: do the values come out right? Weakest (64%), because one early mistake carries through a chain of linked cells.</a:t>
            </a:r>
          </a:p>
          <a:p>
            <a:r>
              <a:t>- Long chains like a company valuation score lowest, about 70%. Our valuation is a long chain too.</a:t>
            </a:r>
          </a:p>
          <a:p>
            <a:r>
              <a:t>- So the best AI, even with code tools, gets about 1 in 4 things wrong on its own. That's why the AI's answer never stands without code proof.</a:t>
            </a:r>
          </a:p>
          <a:p>
            <a:r>
              <a:t>- Not a head-to-head: Vals tasks build models from scratch; ours reads and updates existing workbooks.</a:t>
            </a:r>
          </a:p>
          <a:p>
            <a:r>
              <a:t>- Vals results are its own, not independently repeated.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Q1: more review means fewer mistakes get through, but less time saved.
- Q2: filling in saves time but can be waved through; leaving blank is safer but slower.
- Both stay open until the backtest gives us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Talent-search engagement letters, in Power Automate.
- Adam fills in one form; details drop into every email.
- Approve in Teams, Outlook or a browser link.
- Reminder every 3 days (adjustable); Adam told after 14 days of no answer.
- Test flow: Adam reviewing, Jim setting up access.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Studio build (today): what exists now. Solid boxes are built; dashed are planned.</a:t>
            </a:r>
          </a:p>
          <a:p>
            <a:r>
              <a:t>- Main path: company files → extraction → code checks → analyst approves → company memory.</a:t>
            </a:r>
          </a:p>
          <a:p>
            <a:r>
              <a:t>- Review is optional and sits outside the main path: a second AI kept for new or unusual companies.</a:t>
            </a:r>
          </a:p>
          <a:p>
            <a:r>
              <a:t>- The quarterly lane is planned, including the quarterly mode of extraction.</a:t>
            </a:r>
          </a:p>
          <a:p>
            <a:r>
              <a:t>- Test bench is for development and maintenance only; it never runs in a live quarter.</a:t>
            </a:r>
          </a:p>
          <a:p>
            <a:r>
              <a:t>- Blue is AI, navy is code, yellow is the analyst, green is 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- Harness: Microsoft's engine that runs the AI and decides which tools to call. Generally available since September 2026; billed in Copilot Credits.</a:t>
            </a:r>
          </a:p>
          <a:p>
            <a:r>
              <a:rPr dirty="0"/>
              <a:t>- Skill: a packaged set of instructions and tested code. Microsoft lets the AI decide at runtime whether to use it or write its own code.</a:t>
            </a:r>
          </a:p>
          <a:p>
            <a:r>
              <a:rPr dirty="0"/>
              <a:t>- Sandbox: a temporary Python workspace. No internet; it can't save to SharePoint itself; wiped when the conversation ends.</a:t>
            </a:r>
          </a:p>
          <a:p>
            <a:r>
              <a:rPr dirty="0"/>
              <a:t>- Connector: a configured link to another system. The only way data leaves.</a:t>
            </a:r>
          </a:p>
          <a:p>
            <a:r>
              <a:rPr dirty="0"/>
              <a:t>- Hook: an automatic checkpoint the platform runs at set moments, e.g. just before the AI runs code. Like a turnstile, versus a sign saying "please use the skill".</a:t>
            </a:r>
          </a:p>
          <a:p>
            <a:r>
              <a:rPr dirty="0"/>
              <a:t>- Hooks are in preview (a test version) and fail open: if the checkpoint breaks, the AI carries on.</a:t>
            </a:r>
          </a:p>
          <a:p>
            <a:r>
              <a:rPr dirty="0"/>
              <a:t>- So our own final gate fails closed: a run only counts if the checking code's report exists and matches the file fingerprints.</a:t>
            </a:r>
          </a:p>
          <a:p>
            <a:r>
              <a:rPr dirty="0"/>
              <a:t>- Microsoft's platform has its own gaps; we don't rely on it for the checks that matter.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Seven saved stages: list the files → each file's role → the core chain → back to the monthly numbers → forward to the fund → questions → final check.</a:t>
            </a:r>
          </a:p>
          <a:p>
            <a:r>
              <a:t>- Starts at the value the fund reports and follows formulas backwards, so it finds the cell actually used, not one with a convincing label.</a:t>
            </a:r>
          </a:p>
          <a:p>
            <a:r>
              <a:t>- Then confirms each link forward to the fund.</a:t>
            </a:r>
          </a:p>
          <a:p>
            <a:r>
              <a:t>- Code checks each claim before the next stage.</a:t>
            </a:r>
          </a:p>
          <a:p>
            <a:r>
              <a:t>- A value pasted with no formula link becomes a question for the analyst.</a:t>
            </a:r>
          </a:p>
          <a:p>
            <a:r>
              <a:t>- Shared knowledge base: XPV's valuation documentation, adjustments and categories.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AI copies labels exactly as written; code checks the exact text, no fuzzy matching.
- Meaning is the AI's claim; the analyst approves it once.
- A failed check goes back to the AI to fix.
- Known gap: headers far from the numbers. Fix planned.
- Example values invented.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A second AI works up from the monthly numbers without seeing the first answer, then compares.</a:t>
            </a:r>
          </a:p>
          <a:p>
            <a:r>
              <a:t>- Most of the 38 differences were the same thing written differently.</a:t>
            </a:r>
          </a:p>
          <a:p>
            <a:r>
              <a:t>- The extractor was strong enough alone, so review leaves the main path; kept as an option for new or unusual companies.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Answer keys are written by a person before any run; the AI never sees them. Analysts will review the keys.</a:t>
            </a:r>
          </a:p>
          <a:p>
            <a:r>
              <a:t>- 242 code tests prove the checks catch planted mistakes. They don't measure the AI's accuracy.</a:t>
            </a:r>
          </a:p>
          <a:p>
            <a:r>
              <a:t>- Real accuracy comes from grading real runs against the answer key.</a:t>
            </a:r>
          </a:p>
          <a:p>
            <a:r>
              <a:t>- Two loops: inside every run, code checks send failures back to the AI to fix. In development only, the test bench grades the finished run and I improve the skills.</a:t>
            </a:r>
          </a:p>
          <a:p>
            <a:r>
              <a:t>- The test bench never talks to the extractor, and answers are never added to the system.</a:t>
            </a:r>
          </a:p>
          <a:p>
            <a:r>
              <a:t>- Risk: repeating the development loop on one company can fit the system to that company. A second company guards against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Always starts from the latest version of last quarter's workbook; it may have been revised.</a:t>
            </a:r>
          </a:p>
          <a:p>
            <a:r>
              <a:t>- AI proposes each change, e.g. "add the July column" or "this value, from this cell, into that cell".</a:t>
            </a:r>
          </a:p>
          <a:p>
            <a:r>
              <a:t>- Code checks each proposal against the files and memory, then sorts: pass, to the analyst, or stop.</a:t>
            </a:r>
          </a:p>
          <a:p>
            <a:r>
              <a:t>- Standard actions: paste the new monthly sheet, add each new month as a column copying last month's formulas, update links.</a:t>
            </a:r>
          </a:p>
          <a:p>
            <a:r>
              <a:t>- Every typed number gets a note: source file, sheet, cell, date. For auditors.</a:t>
            </a:r>
          </a:p>
          <a:p>
            <a:r>
              <a:t>- Memory holds: each file's role, where each value lives, approved label variants, period rules, analyst-input cells, approved adjustments, known look-alikes, the decision log.</a:t>
            </a:r>
          </a:p>
          <a:p>
            <a:r>
              <a:t>- Acquisition example: earnings restated as if the bought business was owned all 12 months; new rows are a structural change approved once.</a:t>
            </a:r>
          </a:p>
          <a:p>
            <a:r>
              <a:t>- Fallback if a full build isn't reliable yet: checked numbers plus a list of changes for the analyst.</a:t>
            </a:r>
          </a:p>
          <a:p>
            <a:r>
              <a:t>- Not yet tested on a real workbook.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OceanSight and Opus: 9 of 9 each, one run each.</a:t>
            </a:r>
          </a:p>
          <a:p>
            <a:r>
              <a:t>- The real test is a third company built differently, run several times, with no changes made just to fit it.</a:t>
            </a:r>
          </a:p>
          <a:p>
            <a:r>
              <a:t>- Weaknesses stay even in the target; each has a guard, and the analyst sees anything code can't prove.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Plain-language terms used in this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Plain-language terms for the Studio platform and our checks.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Every title links to the source. Checked October 15, 2026.</a:t>
            </a:r>
          </a:p>
          <a:p>
            <a:r>
              <a:t>- Vals results are its own, not independently repeated.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XPV Valuation Automation · October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3B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hyperlink" Target="https://metr.org/blog/2025-06-05-recent-reward-hacking/" TargetMode="External"/><Relationship Id="rId3" Type="http://schemas.openxmlformats.org/officeDocument/2006/relationships/hyperlink" Target="https://www.vals.ai/benchmarks/emb" TargetMode="External"/><Relationship Id="rId7" Type="http://schemas.openxmlformats.org/officeDocument/2006/relationships/hyperlink" Target="https://openai.com/index/why-language-models-hallucinate/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icrosoft.github.io/mcscatblog/posts/hooks-in-copilot-studio/" TargetMode="External"/><Relationship Id="rId5" Type="http://schemas.openxmlformats.org/officeDocument/2006/relationships/hyperlink" Target="https://microsoft.github.io/mcscatblog/posts/copilot-studio-agent-sandbox/" TargetMode="External"/><Relationship Id="rId4" Type="http://schemas.openxmlformats.org/officeDocument/2006/relationships/hyperlink" Target="https://www.microsoft.com/en-us/copilot/blog/copilot-studio/new-and-improved-github-copilot-harness-agent-skills-and-richer-context/" TargetMode="External"/><Relationship Id="rId9" Type="http://schemas.openxmlformats.org/officeDocument/2006/relationships/hyperlink" Target="https://cursor.com/blog/reward-hacking-coding-benchmark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3774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Automating the quarterly valuation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383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FE3EF"/>
                </a:solidFill>
              </a:rPr>
              <a:t>Aria, AI Intern 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5760720"/>
            <a:ext cx="201168" cy="201168"/>
          </a:xfrm>
          <a:prstGeom prst="rect">
            <a:avLst/>
          </a:prstGeom>
          <a:solidFill>
            <a:srgbClr val="00A7E2"/>
          </a:solidFill>
          <a:ln w="12700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05840" y="57332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FE3EF"/>
                </a:solidFill>
              </a:rPr>
              <a:t>AI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011680" y="5760720"/>
            <a:ext cx="201168" cy="201168"/>
          </a:xfrm>
          <a:prstGeom prst="rect">
            <a:avLst/>
          </a:prstGeom>
          <a:solidFill>
            <a:srgbClr val="0B3B60"/>
          </a:solidFill>
          <a:ln w="12700">
            <a:solidFill>
              <a:srgbClr val="5C86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2286000" y="57332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FE3EF"/>
                </a:solidFill>
              </a:rPr>
              <a:t>Code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5760720"/>
            <a:ext cx="201168" cy="201168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566160" y="57332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FE3EF"/>
                </a:solidFill>
              </a:rPr>
              <a:t>Analyst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5760720"/>
            <a:ext cx="201168" cy="201168"/>
          </a:xfrm>
          <a:prstGeom prst="rect">
            <a:avLst/>
          </a:prstGeom>
          <a:solidFill>
            <a:srgbClr val="66A7A2"/>
          </a:solidFill>
          <a:ln w="12700">
            <a:solidFill>
              <a:srgbClr val="66A7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846320" y="57332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FE3EF"/>
                </a:solidFill>
              </a:rPr>
              <a:t>Working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852160" y="5760720"/>
            <a:ext cx="201168" cy="201168"/>
          </a:xfrm>
          <a:prstGeom prst="rect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126480" y="57332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FE3EF"/>
                </a:solidFill>
              </a:rPr>
              <a:t>Problem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5440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FBCD1"/>
                </a:solidFill>
              </a:rPr>
              <a:t>Colour key, used on every slide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B3B60"/>
                </a:solidFill>
              </a:rPr>
              <a:t>Today: numbers move through a chain of workbooks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737360"/>
            <a:ext cx="2148840" cy="1234440"/>
          </a:xfrm>
          <a:prstGeom prst="roundRect">
            <a:avLst>
              <a:gd name="adj" fmla="val 5926"/>
            </a:avLst>
          </a:prstGeom>
          <a:solidFill>
            <a:srgbClr val="F4F7F9"/>
          </a:solidFill>
          <a:ln w="9525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685800" y="182880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3B60"/>
                </a:solidFill>
              </a:rPr>
              <a:t>Incoming financials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248716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From each company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743200" y="2350008"/>
            <a:ext cx="749808" cy="914"/>
          </a:xfrm>
          <a:prstGeom prst="line">
            <a:avLst/>
          </a:prstGeom>
          <a:noFill/>
          <a:ln w="3175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3538728" y="1737360"/>
            <a:ext cx="2148840" cy="1234440"/>
          </a:xfrm>
          <a:prstGeom prst="roundRect">
            <a:avLst>
              <a:gd name="adj" fmla="val 5926"/>
            </a:avLst>
          </a:prstGeom>
          <a:solidFill>
            <a:srgbClr val="F4F7F9"/>
          </a:solidFill>
          <a:ln w="9525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3675888" y="182880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3B60"/>
                </a:solidFill>
              </a:rPr>
              <a:t>Monthly summaries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3675888" y="248716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XPV's monthly view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733288" y="2350008"/>
            <a:ext cx="749808" cy="914"/>
          </a:xfrm>
          <a:prstGeom prst="line">
            <a:avLst/>
          </a:prstGeom>
          <a:noFill/>
          <a:ln w="3175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528816" y="1737360"/>
            <a:ext cx="2148840" cy="1234440"/>
          </a:xfrm>
          <a:prstGeom prst="roundRect">
            <a:avLst>
              <a:gd name="adj" fmla="val 5926"/>
            </a:avLst>
          </a:prstGeom>
          <a:solidFill>
            <a:srgbClr val="F4F7F9"/>
          </a:solidFill>
          <a:ln w="9525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6665976" y="182880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3B60"/>
                </a:solidFill>
              </a:rPr>
              <a:t>Quarterly valuation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6665976" y="248716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What the company is worth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723376" y="2350008"/>
            <a:ext cx="749808" cy="914"/>
          </a:xfrm>
          <a:prstGeom prst="line">
            <a:avLst/>
          </a:prstGeom>
          <a:noFill/>
          <a:ln w="3175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9518904" y="1737360"/>
            <a:ext cx="2148840" cy="1234440"/>
          </a:xfrm>
          <a:prstGeom prst="roundRect">
            <a:avLst>
              <a:gd name="adj" fmla="val 5926"/>
            </a:avLst>
          </a:prstGeom>
          <a:solidFill>
            <a:srgbClr val="F4F7F9"/>
          </a:solidFill>
          <a:ln w="9525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9656064" y="182880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3B60"/>
                </a:solidFill>
              </a:rPr>
              <a:t>Fund and investor reports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9656064" y="248716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What we report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2386584" y="324612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D9E0E6"/>
          </a:solidFill>
          <a:ln w="9525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2496312" y="3319272"/>
            <a:ext cx="124358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3"/>
                </a:solidFill>
              </a:rPr>
              <a:t>Drop in new sheets, extend formulas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3118104" y="2514600"/>
            <a:ext cx="914" cy="713232"/>
          </a:xfrm>
          <a:prstGeom prst="line">
            <a:avLst/>
          </a:prstGeom>
          <a:noFill/>
          <a:ln w="12700">
            <a:solidFill>
              <a:srgbClr val="8A97A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5376672" y="324612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D9E0E6"/>
          </a:solidFill>
          <a:ln w="9525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5486400" y="3319272"/>
            <a:ext cx="124358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3"/>
                </a:solidFill>
              </a:rPr>
              <a:t>Link and update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108192" y="2514600"/>
            <a:ext cx="914" cy="713232"/>
          </a:xfrm>
          <a:prstGeom prst="line">
            <a:avLst/>
          </a:prstGeom>
          <a:noFill/>
          <a:ln w="12700">
            <a:solidFill>
              <a:srgbClr val="8A97A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8366760" y="324612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D9E0E6"/>
          </a:solidFill>
          <a:ln w="9525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 txBox="1"/>
          <p:nvPr/>
        </p:nvSpPr>
        <p:spPr>
          <a:xfrm>
            <a:off x="8476488" y="3319272"/>
            <a:ext cx="124358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3"/>
                </a:solidFill>
              </a:rPr>
              <a:t>Link to the fund and investor files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9098280" y="2514600"/>
            <a:ext cx="914" cy="713232"/>
          </a:xfrm>
          <a:prstGeom prst="line">
            <a:avLst/>
          </a:prstGeom>
          <a:noFill/>
          <a:ln w="12700">
            <a:solidFill>
              <a:srgbClr val="8A97A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6986016" y="3246120"/>
            <a:ext cx="1234440" cy="777240"/>
          </a:xfrm>
          <a:prstGeom prst="roundRect">
            <a:avLst>
              <a:gd name="adj" fmla="val 9412"/>
            </a:avLst>
          </a:prstGeom>
          <a:solidFill>
            <a:srgbClr val="F2A541"/>
          </a:solidFill>
          <a:ln w="9525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 txBox="1"/>
          <p:nvPr/>
        </p:nvSpPr>
        <p:spPr>
          <a:xfrm>
            <a:off x="7095744" y="3319272"/>
            <a:ext cx="101498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3"/>
                </a:solidFill>
              </a:rPr>
              <a:t>Judgment: multiple, adjustments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548640" y="4526280"/>
            <a:ext cx="11109960" cy="914400"/>
          </a:xfrm>
          <a:prstGeom prst="roundRect">
            <a:avLst>
              <a:gd name="adj" fmla="val 8000"/>
            </a:avLst>
          </a:prstGeom>
          <a:solidFill>
            <a:srgbClr val="F6DCE0"/>
          </a:solidFill>
          <a:ln w="9525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 txBox="1"/>
          <p:nvPr/>
        </p:nvSpPr>
        <p:spPr>
          <a:xfrm>
            <a:off x="731520" y="45262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B60"/>
                </a:solidFill>
              </a:rPr>
              <a:t>Every hand-off is done by hand, then checked by hand. A mistake early on flows all the way to the investor report.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10881360" y="6144768"/>
            <a:ext cx="146304" cy="146304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 txBox="1"/>
          <p:nvPr/>
        </p:nvSpPr>
        <p:spPr>
          <a:xfrm>
            <a:off x="11082528" y="610819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Judgment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10035540" y="6144768"/>
            <a:ext cx="146304" cy="146304"/>
          </a:xfrm>
          <a:prstGeom prst="rect">
            <a:avLst/>
          </a:prstGeom>
          <a:solidFill>
            <a:srgbClr val="D9E0E6"/>
          </a:solidFill>
          <a:ln w="12700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 txBox="1"/>
          <p:nvPr/>
        </p:nvSpPr>
        <p:spPr>
          <a:xfrm>
            <a:off x="10236708" y="6108192"/>
            <a:ext cx="5257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By hand</a:t>
            </a:r>
            <a:endParaRPr lang="en-US" sz="10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B3B60"/>
                </a:solidFill>
              </a:rPr>
              <a:t>Where we're going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630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3B60"/>
                </a:solidFill>
              </a:rPr>
              <a:t>Onboarding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83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7A3"/>
                </a:solidFill>
              </a:rPr>
              <a:t>Once per company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606040" y="141732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D9F2FB"/>
          </a:solidFill>
          <a:ln w="19050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2606040" y="1417320"/>
            <a:ext cx="2103120" cy="411480"/>
          </a:xfrm>
          <a:prstGeom prst="rect">
            <a:avLst/>
          </a:prstGeom>
          <a:solidFill>
            <a:srgbClr val="00A7E2"/>
          </a:solidFill>
          <a:ln w="12700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2715768" y="1417320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traces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2715768" y="1874520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3"/>
                </a:solidFill>
              </a:rPr>
              <a:t>How the value is built, cell by cell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36592" y="1965960"/>
            <a:ext cx="237744" cy="914"/>
          </a:xfrm>
          <a:prstGeom prst="line">
            <a:avLst/>
          </a:prstGeom>
          <a:noFill/>
          <a:ln w="2540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001768" y="141732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DCE5EE"/>
          </a:solidFill>
          <a:ln w="19050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001768" y="1417320"/>
            <a:ext cx="2103120" cy="411480"/>
          </a:xfrm>
          <a:prstGeom prst="rect">
            <a:avLst/>
          </a:prstGeom>
          <a:solidFill>
            <a:srgbClr val="0B3B60"/>
          </a:solidFill>
          <a:ln w="12700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5111496" y="1417320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Code checks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111496" y="1874520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3"/>
                </a:solidFill>
              </a:rPr>
              <a:t>Every cell the AI points to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132320" y="1965960"/>
            <a:ext cx="237744" cy="914"/>
          </a:xfrm>
          <a:prstGeom prst="line">
            <a:avLst/>
          </a:prstGeom>
          <a:noFill/>
          <a:ln w="2540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7397496" y="141732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FDEBD3"/>
          </a:solidFill>
          <a:ln w="1905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7397496" y="1417320"/>
            <a:ext cx="2103120" cy="41148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7507224" y="1417320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3"/>
                </a:solidFill>
              </a:rPr>
              <a:t>Analyst approves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7507224" y="1874520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3"/>
                </a:solidFill>
              </a:rPr>
              <a:t>Once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2606040" y="2880360"/>
            <a:ext cx="9290304" cy="502920"/>
          </a:xfrm>
          <a:prstGeom prst="roundRect">
            <a:avLst>
              <a:gd name="adj" fmla="val 14545"/>
            </a:avLst>
          </a:prstGeom>
          <a:solidFill>
            <a:srgbClr val="66A7A2"/>
          </a:solidFill>
          <a:ln w="12700">
            <a:solidFill>
              <a:srgbClr val="66A7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2788920" y="28803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Company memory: what the analyst approved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8449056" y="2487168"/>
            <a:ext cx="914" cy="374904"/>
          </a:xfrm>
          <a:prstGeom prst="line">
            <a:avLst/>
          </a:prstGeom>
          <a:noFill/>
          <a:ln w="31750">
            <a:solidFill>
              <a:srgbClr val="66A7A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548640" y="3794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3B60"/>
                </a:solidFill>
              </a:rPr>
              <a:t>Every quarter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411480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7A3"/>
                </a:solidFill>
              </a:rPr>
              <a:t>In: latest version of last quarter's workbook + new monthly financials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2606040" y="374904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D9F2FB"/>
          </a:solidFill>
          <a:ln w="19050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2606040" y="3749040"/>
            <a:ext cx="2103120" cy="411480"/>
          </a:xfrm>
          <a:prstGeom prst="rect">
            <a:avLst/>
          </a:prstGeom>
          <a:solidFill>
            <a:srgbClr val="00A7E2"/>
          </a:solidFill>
          <a:ln w="12700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2715768" y="3749040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suggests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2715768" y="4206240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3"/>
                </a:solidFill>
              </a:rPr>
              <a:t>Where each new number goes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4736592" y="4297680"/>
            <a:ext cx="237744" cy="914"/>
          </a:xfrm>
          <a:prstGeom prst="line">
            <a:avLst/>
          </a:prstGeom>
          <a:noFill/>
          <a:ln w="2540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5001768" y="374904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DCE5EE"/>
          </a:solidFill>
          <a:ln w="19050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5001768" y="3749040"/>
            <a:ext cx="2103120" cy="411480"/>
          </a:xfrm>
          <a:prstGeom prst="rect">
            <a:avLst/>
          </a:prstGeom>
          <a:solidFill>
            <a:srgbClr val="0B3B60"/>
          </a:solidFill>
          <a:ln w="12700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 txBox="1"/>
          <p:nvPr/>
        </p:nvSpPr>
        <p:spPr>
          <a:xfrm>
            <a:off x="5111496" y="3749040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Code checks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5111496" y="4206240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3"/>
                </a:solidFill>
              </a:rPr>
              <a:t>Against the memory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7132320" y="4297680"/>
            <a:ext cx="237744" cy="914"/>
          </a:xfrm>
          <a:prstGeom prst="line">
            <a:avLst/>
          </a:prstGeom>
          <a:noFill/>
          <a:ln w="2540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7397496" y="374904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FDEBD3"/>
          </a:solidFill>
          <a:ln w="1905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7397496" y="3749040"/>
            <a:ext cx="2103120" cy="41148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 txBox="1"/>
          <p:nvPr/>
        </p:nvSpPr>
        <p:spPr>
          <a:xfrm>
            <a:off x="7507224" y="3749040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3"/>
                </a:solidFill>
              </a:rPr>
              <a:t>Analyst decides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7507224" y="4206240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3"/>
                </a:solidFill>
              </a:rPr>
              <a:t>Only what changed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9528048" y="4297680"/>
            <a:ext cx="237744" cy="914"/>
          </a:xfrm>
          <a:prstGeom prst="line">
            <a:avLst/>
          </a:prstGeom>
          <a:noFill/>
          <a:ln w="2540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9793224" y="374904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DCE5EE"/>
          </a:solidFill>
          <a:ln w="19050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9793224" y="3749040"/>
            <a:ext cx="2103120" cy="411480"/>
          </a:xfrm>
          <a:prstGeom prst="rect">
            <a:avLst/>
          </a:prstGeom>
          <a:solidFill>
            <a:srgbClr val="0B3B60"/>
          </a:solidFill>
          <a:ln w="12700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 txBox="1"/>
          <p:nvPr/>
        </p:nvSpPr>
        <p:spPr>
          <a:xfrm>
            <a:off x="9902952" y="3749040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Code builds</a:t>
            </a:r>
            <a:endParaRPr lang="en-US" sz="1400" dirty="0"/>
          </a:p>
        </p:txBody>
      </p:sp>
      <p:sp>
        <p:nvSpPr>
          <p:cNvPr id="43" name="Text 40"/>
          <p:cNvSpPr txBox="1"/>
          <p:nvPr/>
        </p:nvSpPr>
        <p:spPr>
          <a:xfrm>
            <a:off x="9902952" y="4206240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3"/>
                </a:solidFill>
              </a:rPr>
              <a:t>The new workbook, with source notes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6053328" y="3401568"/>
            <a:ext cx="914" cy="329184"/>
          </a:xfrm>
          <a:prstGeom prst="line">
            <a:avLst/>
          </a:prstGeom>
          <a:noFill/>
          <a:ln w="31750">
            <a:solidFill>
              <a:srgbClr val="66A7A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 txBox="1"/>
          <p:nvPr/>
        </p:nvSpPr>
        <p:spPr>
          <a:xfrm>
            <a:off x="6126480" y="34290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66A7A2"/>
                </a:solidFill>
              </a:rPr>
              <a:t>uses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 flipV="1">
            <a:off x="8449056" y="3401568"/>
            <a:ext cx="914" cy="329184"/>
          </a:xfrm>
          <a:prstGeom prst="line">
            <a:avLst/>
          </a:prstGeom>
          <a:noFill/>
          <a:ln w="31750">
            <a:solidFill>
              <a:srgbClr val="66A7A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 txBox="1"/>
          <p:nvPr/>
        </p:nvSpPr>
        <p:spPr>
          <a:xfrm>
            <a:off x="8522208" y="34290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66A7A2"/>
                </a:solidFill>
              </a:rPr>
              <a:t>updates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48640" y="52578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3B60"/>
                </a:solidFill>
              </a:rPr>
              <a:t>Delivers the new quarter's valuation workbook. Extension: investor report and quarter-on-quarter changes.</a:t>
            </a:r>
            <a:endParaRPr lang="en-US" sz="1400" dirty="0"/>
          </a:p>
        </p:txBody>
      </p:sp>
      <p:sp>
        <p:nvSpPr>
          <p:cNvPr id="49" name="Shape 46"/>
          <p:cNvSpPr/>
          <p:nvPr/>
        </p:nvSpPr>
        <p:spPr>
          <a:xfrm>
            <a:off x="11018520" y="6144768"/>
            <a:ext cx="146304" cy="146304"/>
          </a:xfrm>
          <a:prstGeom prst="rect">
            <a:avLst/>
          </a:prstGeom>
          <a:solidFill>
            <a:srgbClr val="66A7A2"/>
          </a:solidFill>
          <a:ln w="12700">
            <a:solidFill>
              <a:srgbClr val="66A7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 txBox="1"/>
          <p:nvPr/>
        </p:nvSpPr>
        <p:spPr>
          <a:xfrm>
            <a:off x="11219688" y="61081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Memory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10241280" y="6144768"/>
            <a:ext cx="146304" cy="146304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9"/>
          <p:cNvSpPr txBox="1"/>
          <p:nvPr/>
        </p:nvSpPr>
        <p:spPr>
          <a:xfrm>
            <a:off x="10442448" y="61081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Analyst</a:t>
            </a:r>
            <a:endParaRPr lang="en-US" sz="1000" dirty="0"/>
          </a:p>
        </p:txBody>
      </p:sp>
      <p:sp>
        <p:nvSpPr>
          <p:cNvPr id="53" name="Shape 50"/>
          <p:cNvSpPr/>
          <p:nvPr/>
        </p:nvSpPr>
        <p:spPr>
          <a:xfrm>
            <a:off x="9601200" y="6144768"/>
            <a:ext cx="146304" cy="146304"/>
          </a:xfrm>
          <a:prstGeom prst="rect">
            <a:avLst/>
          </a:prstGeom>
          <a:solidFill>
            <a:srgbClr val="0B3B60"/>
          </a:solidFill>
          <a:ln w="12700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1"/>
          <p:cNvSpPr txBox="1"/>
          <p:nvPr/>
        </p:nvSpPr>
        <p:spPr>
          <a:xfrm>
            <a:off x="9802368" y="610819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Code</a:t>
            </a:r>
            <a:endParaRPr lang="en-US" sz="1000" dirty="0"/>
          </a:p>
        </p:txBody>
      </p:sp>
      <p:sp>
        <p:nvSpPr>
          <p:cNvPr id="55" name="Shape 52"/>
          <p:cNvSpPr/>
          <p:nvPr/>
        </p:nvSpPr>
        <p:spPr>
          <a:xfrm>
            <a:off x="9098280" y="6144768"/>
            <a:ext cx="146304" cy="146304"/>
          </a:xfrm>
          <a:prstGeom prst="rect">
            <a:avLst/>
          </a:prstGeom>
          <a:solidFill>
            <a:srgbClr val="00A7E2"/>
          </a:solidFill>
          <a:ln w="12700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3"/>
          <p:cNvSpPr txBox="1"/>
          <p:nvPr/>
        </p:nvSpPr>
        <p:spPr>
          <a:xfrm>
            <a:off x="9299448" y="610819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AI</a:t>
            </a:r>
            <a:endParaRPr lang="en-US" sz="10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B3B60"/>
                </a:solidFill>
              </a:rPr>
              <a:t>What works today: two real companies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Same files, same answer key, one run each. Research agrees: even the best AI alone gets about 1 in 4 wrong.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  <p:graphicFrame>
        <p:nvGraphicFramePr>
          <p:cNvPr id="26" name="Chart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3658051"/>
              </p:ext>
            </p:extLst>
          </p:nvPr>
        </p:nvGraphicFramePr>
        <p:xfrm>
          <a:off x="548640" y="1371600"/>
          <a:ext cx="676656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7" name="Rectangle 26"/>
          <p:cNvSpPr/>
          <p:nvPr/>
        </p:nvSpPr>
        <p:spPr>
          <a:xfrm>
            <a:off x="7863840" y="1554480"/>
            <a:ext cx="3794760" cy="1234440"/>
          </a:xfrm>
          <a:prstGeom prst="rect">
            <a:avLst/>
          </a:prstGeom>
          <a:solidFill>
            <a:srgbClr val="E0EEEC"/>
          </a:solidFill>
          <a:ln w="12700">
            <a:solidFill>
              <a:srgbClr val="E0E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92440" y="1664207"/>
            <a:ext cx="3383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0B3B60"/>
                </a:solidFill>
              </a:rP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233172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2A33"/>
                </a:solidFill>
              </a:rPr>
              <a:t>wrong answers let through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63840" y="2971800"/>
            <a:ext cx="3794760" cy="1234440"/>
          </a:xfrm>
          <a:prstGeom prst="rect">
            <a:avLst/>
          </a:prstGeom>
          <a:solidFill>
            <a:srgbClr val="E0EEEC"/>
          </a:solidFill>
          <a:ln w="12700">
            <a:solidFill>
              <a:srgbClr val="E0E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92440" y="3081528"/>
            <a:ext cx="3383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0B3B60"/>
                </a:solidFill>
              </a:rPr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2440" y="3749039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2A33"/>
                </a:solidFill>
              </a:rPr>
              <a:t>missed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63840" y="4389120"/>
            <a:ext cx="3794760" cy="1234440"/>
          </a:xfrm>
          <a:prstGeom prst="rect">
            <a:avLst/>
          </a:prstGeom>
          <a:solidFill>
            <a:srgbClr val="E0EEEC"/>
          </a:solidFill>
          <a:ln w="12700">
            <a:solidFill>
              <a:srgbClr val="E0E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092440" y="4498848"/>
            <a:ext cx="338328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dirty="0">
                <a:solidFill>
                  <a:srgbClr val="0B3B60"/>
                </a:solidFill>
              </a:rPr>
              <a:t>11 </a:t>
            </a:r>
            <a:r>
              <a:rPr lang="en-US" sz="3600" b="1" dirty="0">
                <a:solidFill>
                  <a:srgbClr val="0B3B60"/>
                </a:solidFill>
              </a:rPr>
              <a:t>files tested</a:t>
            </a:r>
            <a:endParaRPr sz="3600" b="1" i="0" dirty="0">
              <a:solidFill>
                <a:srgbClr val="0B3B6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092440" y="5166359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2A33"/>
                </a:solidFill>
              </a:rPr>
              <a:t>files proven identical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B3B60"/>
                </a:solidFill>
              </a:rPr>
              <a:t>How we got here, and the next nine weeks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25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8A97A3"/>
                </a:solidFill>
              </a:rPr>
              <a:t>How we got here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4F7F9"/>
          </a:solidFill>
          <a:ln w="9525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658368" y="1691640"/>
            <a:ext cx="2386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3B60"/>
                </a:solidFill>
              </a:rPr>
              <a:t>Map the process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1993392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Workbooks, steps, answer keys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2267712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F2A33"/>
                </a:solidFill>
              </a:rPr>
              <a:t>Know what "right" looks like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172968" y="2121408"/>
            <a:ext cx="192024" cy="914"/>
          </a:xfrm>
          <a:prstGeom prst="line">
            <a:avLst/>
          </a:prstGeom>
          <a:noFill/>
          <a:ln w="1905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383280" y="164592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6DCE0"/>
          </a:solidFill>
          <a:ln w="9525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3493008" y="1691640"/>
            <a:ext cx="2386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3B60"/>
                </a:solidFill>
              </a:rPr>
              <a:t>Try the code end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493008" y="1993392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Fixed rules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3493008" y="2267712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D1495B"/>
                </a:solidFill>
              </a:rPr>
              <a:t>Too rigid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007608" y="2121408"/>
            <a:ext cx="192024" cy="914"/>
          </a:xfrm>
          <a:prstGeom prst="line">
            <a:avLst/>
          </a:prstGeom>
          <a:noFill/>
          <a:ln w="1905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217920" y="164592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6DCE0"/>
          </a:solidFill>
          <a:ln w="9525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6327648" y="1691640"/>
            <a:ext cx="2386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3B60"/>
                </a:solidFill>
              </a:rPr>
              <a:t>Try the AI end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327648" y="1993392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AI-first builds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327648" y="2267712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D1495B"/>
                </a:solidFill>
              </a:rPr>
              <a:t>Shortcuts; 3 of 9 right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842248" y="2121408"/>
            <a:ext cx="192024" cy="914"/>
          </a:xfrm>
          <a:prstGeom prst="line">
            <a:avLst/>
          </a:prstGeom>
          <a:noFill/>
          <a:ln w="1905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9052560" y="164592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E0EEEC"/>
          </a:solidFill>
          <a:ln w="9525">
            <a:solidFill>
              <a:srgbClr val="66A7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9162288" y="1691640"/>
            <a:ext cx="2386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3B60"/>
                </a:solidFill>
              </a:rPr>
              <a:t>Build the Studio agents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9162288" y="1993392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AI reads, code checks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9162288" y="2267712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66A7A2"/>
                </a:solidFill>
              </a:rPr>
              <a:t>9 of 9 on two companies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2926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8A97A3"/>
                </a:solidFill>
              </a:rPr>
              <a:t>Next nine weeks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3429000" y="2971800"/>
            <a:ext cx="52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7A3"/>
                </a:solidFill>
              </a:rPr>
              <a:t>Oct 19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3957320" y="2971800"/>
            <a:ext cx="52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7A3"/>
                </a:solidFill>
              </a:rPr>
              <a:t>Oct 26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4485640" y="2971800"/>
            <a:ext cx="52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7A3"/>
                </a:solidFill>
              </a:rPr>
              <a:t>Nov 2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5013960" y="2971800"/>
            <a:ext cx="52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7A3"/>
                </a:solidFill>
              </a:rPr>
              <a:t>Nov 9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5542280" y="2971800"/>
            <a:ext cx="52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7A3"/>
                </a:solidFill>
              </a:rPr>
              <a:t>Nov 16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6070600" y="2971800"/>
            <a:ext cx="52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7A3"/>
                </a:solidFill>
              </a:rPr>
              <a:t>Nov 23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6598920" y="2971800"/>
            <a:ext cx="52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7A3"/>
                </a:solidFill>
              </a:rPr>
              <a:t>Nov 30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7127240" y="2971800"/>
            <a:ext cx="52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7A3"/>
                </a:solidFill>
              </a:rPr>
              <a:t>Dec 7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7655560" y="2971800"/>
            <a:ext cx="52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7A3"/>
                </a:solidFill>
              </a:rPr>
              <a:t>Dec 14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8366760" y="29718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B3B60"/>
                </a:solidFill>
              </a:rPr>
              <a:t>What we'll know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548640" y="32461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A33"/>
                </a:solidFill>
              </a:rPr>
              <a:t>Fewer questions + memory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3429000" y="3319272"/>
            <a:ext cx="4754880" cy="274320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3429000" y="3319272"/>
            <a:ext cx="845312" cy="274320"/>
          </a:xfrm>
          <a:prstGeom prst="roundRect">
            <a:avLst>
              <a:gd name="adj" fmla="val 16667"/>
            </a:avLst>
          </a:prstGeom>
          <a:solidFill>
            <a:srgbClr val="0B3B60"/>
          </a:solidFill>
          <a:ln w="12700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 txBox="1"/>
          <p:nvPr/>
        </p:nvSpPr>
        <p:spPr>
          <a:xfrm>
            <a:off x="8366760" y="324612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The analyst answers only real questions</a:t>
            </a:r>
            <a:endParaRPr lang="en-US" sz="1100" dirty="0"/>
          </a:p>
        </p:txBody>
      </p:sp>
      <p:sp>
        <p:nvSpPr>
          <p:cNvPr id="40" name="Text 37"/>
          <p:cNvSpPr txBox="1"/>
          <p:nvPr/>
        </p:nvSpPr>
        <p:spPr>
          <a:xfrm>
            <a:off x="548640" y="37033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A33"/>
                </a:solidFill>
              </a:rPr>
              <a:t>Backtest: a company with two past quarters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3429000" y="3776472"/>
            <a:ext cx="4754880" cy="274320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3957320" y="3776472"/>
            <a:ext cx="1373632" cy="274320"/>
          </a:xfrm>
          <a:prstGeom prst="roundRect">
            <a:avLst>
              <a:gd name="adj" fmla="val 16667"/>
            </a:avLst>
          </a:prstGeom>
          <a:solidFill>
            <a:srgbClr val="66A7A2"/>
          </a:solidFill>
          <a:ln w="12700">
            <a:solidFill>
              <a:srgbClr val="66A7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 txBox="1"/>
          <p:nvPr/>
        </p:nvSpPr>
        <p:spPr>
          <a:xfrm>
            <a:off x="8366760" y="370332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How much passes without review, with zero wrong numbers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54864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A33"/>
                </a:solidFill>
              </a:rPr>
              <a:t>Workbook builder (hardest part)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3429000" y="4233672"/>
            <a:ext cx="4754880" cy="274320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3"/>
          <p:cNvSpPr/>
          <p:nvPr/>
        </p:nvSpPr>
        <p:spPr>
          <a:xfrm>
            <a:off x="3957320" y="4233672"/>
            <a:ext cx="2430272" cy="274320"/>
          </a:xfrm>
          <a:prstGeom prst="roundRect">
            <a:avLst>
              <a:gd name="adj" fmla="val 16667"/>
            </a:avLst>
          </a:prstGeom>
          <a:solidFill>
            <a:srgbClr val="0B3B60"/>
          </a:solidFill>
          <a:ln w="12700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 txBox="1"/>
          <p:nvPr/>
        </p:nvSpPr>
        <p:spPr>
          <a:xfrm>
            <a:off x="8366760" y="416052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A33"/>
                </a:solidFill>
              </a:rPr>
              <a:t>Our workbook matches the analyst's, cell by cell. Fallback: checked numbers + list of changes</a:t>
            </a:r>
            <a:endParaRPr lang="en-US" sz="1000" dirty="0"/>
          </a:p>
        </p:txBody>
      </p:sp>
      <p:sp>
        <p:nvSpPr>
          <p:cNvPr id="48" name="Text 45"/>
          <p:cNvSpPr txBox="1"/>
          <p:nvPr/>
        </p:nvSpPr>
        <p:spPr>
          <a:xfrm>
            <a:off x="548640" y="46177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A33"/>
                </a:solidFill>
              </a:rPr>
              <a:t>Live: first company's next quarter</a:t>
            </a:r>
            <a:endParaRPr lang="en-US" sz="1200" dirty="0"/>
          </a:p>
        </p:txBody>
      </p:sp>
      <p:sp>
        <p:nvSpPr>
          <p:cNvPr id="49" name="Shape 46"/>
          <p:cNvSpPr/>
          <p:nvPr/>
        </p:nvSpPr>
        <p:spPr>
          <a:xfrm>
            <a:off x="3429000" y="4690872"/>
            <a:ext cx="4754880" cy="274320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7"/>
          <p:cNvSpPr/>
          <p:nvPr/>
        </p:nvSpPr>
        <p:spPr>
          <a:xfrm>
            <a:off x="5013960" y="4690872"/>
            <a:ext cx="1373632" cy="274320"/>
          </a:xfrm>
          <a:prstGeom prst="roundRect">
            <a:avLst>
              <a:gd name="adj" fmla="val 16667"/>
            </a:avLst>
          </a:prstGeom>
          <a:solidFill>
            <a:srgbClr val="66A7A2"/>
          </a:solidFill>
          <a:ln w="12700">
            <a:solidFill>
              <a:srgbClr val="66A7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 txBox="1"/>
          <p:nvPr/>
        </p:nvSpPr>
        <p:spPr>
          <a:xfrm>
            <a:off x="8366760" y="461772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It works on new data</a:t>
            </a: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548640" y="50749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A33"/>
                </a:solidFill>
              </a:rPr>
              <a:t>Third company + repeat runs</a:t>
            </a:r>
            <a:endParaRPr lang="en-US" sz="1200" dirty="0"/>
          </a:p>
        </p:txBody>
      </p:sp>
      <p:sp>
        <p:nvSpPr>
          <p:cNvPr id="53" name="Shape 50"/>
          <p:cNvSpPr/>
          <p:nvPr/>
        </p:nvSpPr>
        <p:spPr>
          <a:xfrm>
            <a:off x="3429000" y="5148072"/>
            <a:ext cx="4754880" cy="274320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1"/>
          <p:cNvSpPr/>
          <p:nvPr/>
        </p:nvSpPr>
        <p:spPr>
          <a:xfrm>
            <a:off x="5542280" y="5148072"/>
            <a:ext cx="1584960" cy="274320"/>
          </a:xfrm>
          <a:prstGeom prst="roundRect">
            <a:avLst>
              <a:gd name="adj" fmla="val 16667"/>
            </a:avLst>
          </a:prstGeom>
          <a:solidFill>
            <a:srgbClr val="66A7A2"/>
          </a:solidFill>
          <a:ln w="12700">
            <a:solidFill>
              <a:srgbClr val="66A7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2"/>
          <p:cNvSpPr txBox="1"/>
          <p:nvPr/>
        </p:nvSpPr>
        <p:spPr>
          <a:xfrm>
            <a:off x="8366760" y="507492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It works on any company, every time</a:t>
            </a:r>
            <a:endParaRPr lang="en-US" sz="1100" dirty="0"/>
          </a:p>
        </p:txBody>
      </p:sp>
      <p:sp>
        <p:nvSpPr>
          <p:cNvPr id="56" name="Text 53"/>
          <p:cNvSpPr txBox="1"/>
          <p:nvPr/>
        </p:nvSpPr>
        <p:spPr>
          <a:xfrm>
            <a:off x="548640" y="55321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A33"/>
                </a:solidFill>
              </a:rPr>
              <a:t>Handover</a:t>
            </a:r>
            <a:endParaRPr lang="en-US" sz="1200" dirty="0"/>
          </a:p>
        </p:txBody>
      </p:sp>
      <p:sp>
        <p:nvSpPr>
          <p:cNvPr id="57" name="Shape 54"/>
          <p:cNvSpPr/>
          <p:nvPr/>
        </p:nvSpPr>
        <p:spPr>
          <a:xfrm>
            <a:off x="3429000" y="5605272"/>
            <a:ext cx="4754880" cy="274320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5"/>
          <p:cNvSpPr/>
          <p:nvPr/>
        </p:nvSpPr>
        <p:spPr>
          <a:xfrm>
            <a:off x="7127240" y="5605272"/>
            <a:ext cx="898144" cy="274320"/>
          </a:xfrm>
          <a:prstGeom prst="roundRect">
            <a:avLst>
              <a:gd name="adj" fmla="val 16667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6"/>
          <p:cNvSpPr txBox="1"/>
          <p:nvPr/>
        </p:nvSpPr>
        <p:spPr>
          <a:xfrm>
            <a:off x="8366760" y="553212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It runs without me</a:t>
            </a:r>
            <a:endParaRPr lang="en-US" sz="1100" dirty="0"/>
          </a:p>
        </p:txBody>
      </p:sp>
      <p:sp>
        <p:nvSpPr>
          <p:cNvPr id="60" name="Shape 57"/>
          <p:cNvSpPr/>
          <p:nvPr/>
        </p:nvSpPr>
        <p:spPr>
          <a:xfrm>
            <a:off x="10881360" y="6144768"/>
            <a:ext cx="146304" cy="146304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8"/>
          <p:cNvSpPr txBox="1"/>
          <p:nvPr/>
        </p:nvSpPr>
        <p:spPr>
          <a:xfrm>
            <a:off x="11082528" y="610819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Handover</a:t>
            </a:r>
            <a:endParaRPr lang="en-US" sz="1000" dirty="0"/>
          </a:p>
        </p:txBody>
      </p:sp>
      <p:sp>
        <p:nvSpPr>
          <p:cNvPr id="62" name="Shape 59"/>
          <p:cNvSpPr/>
          <p:nvPr/>
        </p:nvSpPr>
        <p:spPr>
          <a:xfrm>
            <a:off x="10241280" y="6144768"/>
            <a:ext cx="146304" cy="146304"/>
          </a:xfrm>
          <a:prstGeom prst="rect">
            <a:avLst/>
          </a:prstGeom>
          <a:solidFill>
            <a:srgbClr val="66A7A2"/>
          </a:solidFill>
          <a:ln w="12700">
            <a:solidFill>
              <a:srgbClr val="66A7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0"/>
          <p:cNvSpPr txBox="1"/>
          <p:nvPr/>
        </p:nvSpPr>
        <p:spPr>
          <a:xfrm>
            <a:off x="10442448" y="610819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Test</a:t>
            </a:r>
            <a:endParaRPr lang="en-US" sz="1000" dirty="0"/>
          </a:p>
        </p:txBody>
      </p:sp>
      <p:sp>
        <p:nvSpPr>
          <p:cNvPr id="64" name="Shape 61"/>
          <p:cNvSpPr/>
          <p:nvPr/>
        </p:nvSpPr>
        <p:spPr>
          <a:xfrm>
            <a:off x="9532620" y="6144768"/>
            <a:ext cx="146304" cy="146304"/>
          </a:xfrm>
          <a:prstGeom prst="rect">
            <a:avLst/>
          </a:prstGeom>
          <a:solidFill>
            <a:srgbClr val="0B3B60"/>
          </a:solidFill>
          <a:ln w="12700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2"/>
          <p:cNvSpPr txBox="1"/>
          <p:nvPr/>
        </p:nvSpPr>
        <p:spPr>
          <a:xfrm>
            <a:off x="9733788" y="6108192"/>
            <a:ext cx="3886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Build</a:t>
            </a:r>
            <a:endParaRPr lang="en-US" sz="10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  <p:sp>
        <p:nvSpPr>
          <p:cNvPr id="2" name="Text 0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B3B60"/>
                </a:solidFill>
              </a:rPr>
              <a:t>Risks and decisions</a:t>
            </a:r>
            <a:endParaRPr lang="en-US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D1495B"/>
                </a:solidFill>
              </a:rPr>
              <a:t>Risks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5120640" cy="1051560"/>
          </a:xfrm>
          <a:prstGeom prst="rect">
            <a:avLst/>
          </a:prstGeom>
          <a:solidFill>
            <a:srgbClr val="F6DCE0"/>
          </a:solidFill>
          <a:ln w="12700">
            <a:solidFill>
              <a:srgbClr val="F6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466344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>
                <a:solidFill>
                  <a:srgbClr val="1F2A33"/>
                </a:solidFill>
              </a:rPr>
              <a:t>Proven on two companies, one run each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108960"/>
            <a:ext cx="5120640" cy="1051560"/>
          </a:xfrm>
          <a:prstGeom prst="rect">
            <a:avLst/>
          </a:prstGeom>
          <a:solidFill>
            <a:srgbClr val="F6DCE0"/>
          </a:solidFill>
          <a:ln w="12700">
            <a:solidFill>
              <a:srgbClr val="F6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3108960"/>
            <a:ext cx="466344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>
                <a:solidFill>
                  <a:srgbClr val="1F2A33"/>
                </a:solidFill>
              </a:rPr>
              <a:t>Workbook builder is the hardest part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389120"/>
            <a:ext cx="5120640" cy="1051560"/>
          </a:xfrm>
          <a:prstGeom prst="rect">
            <a:avLst/>
          </a:prstGeom>
          <a:solidFill>
            <a:srgbClr val="F6DCE0"/>
          </a:solidFill>
          <a:ln w="12700">
            <a:solidFill>
              <a:srgbClr val="F6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4389120"/>
            <a:ext cx="466344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>
                <a:solidFill>
                  <a:srgbClr val="1F2A33"/>
                </a:solidFill>
              </a:rPr>
              <a:t>Analysts may approve without checking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13716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2A541"/>
                </a:solidFill>
              </a:rPr>
              <a:t>Decisions for you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828800"/>
            <a:ext cx="5486400" cy="1051560"/>
          </a:xfrm>
          <a:prstGeom prst="rect">
            <a:avLst/>
          </a:prstGeom>
          <a:solidFill>
            <a:srgbClr val="FDEBD3"/>
          </a:solidFill>
          <a:ln w="12700">
            <a:solidFill>
              <a:srgbClr val="FDE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1920240"/>
            <a:ext cx="457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i="0">
                <a:solidFill>
                  <a:srgbClr val="F2A541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1993392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F2A33"/>
                </a:solidFill>
              </a:rPr>
              <a:t>How much should an analyst review?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2450592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8A97A3"/>
                </a:solidFill>
              </a:rPr>
              <a:t>Every number · only changes · spot checks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1051560"/>
          </a:xfrm>
          <a:prstGeom prst="rect">
            <a:avLst/>
          </a:prstGeom>
          <a:solidFill>
            <a:srgbClr val="FDEBD3"/>
          </a:solidFill>
          <a:ln w="12700">
            <a:solidFill>
              <a:srgbClr val="FDE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55080" y="3200400"/>
            <a:ext cx="457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i="0">
                <a:solidFill>
                  <a:srgbClr val="F2A541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3273552"/>
            <a:ext cx="45720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rgbClr val="1F2A33"/>
                </a:solidFill>
              </a:rPr>
              <a:t>When </a:t>
            </a:r>
            <a:r>
              <a:rPr lang="en-US" sz="1600" b="1" i="0" dirty="0">
                <a:solidFill>
                  <a:srgbClr val="1F2A33"/>
                </a:solidFill>
              </a:rPr>
              <a:t>agent is </a:t>
            </a:r>
            <a:r>
              <a:rPr sz="1600" b="1" i="0" dirty="0">
                <a:solidFill>
                  <a:srgbClr val="1F2A33"/>
                </a:solidFill>
              </a:rPr>
              <a:t>unsure: suggest</a:t>
            </a:r>
            <a:r>
              <a:rPr lang="en-US" sz="1600" b="1" i="0" dirty="0">
                <a:solidFill>
                  <a:srgbClr val="1F2A33"/>
                </a:solidFill>
              </a:rPr>
              <a:t> values</a:t>
            </a:r>
            <a:r>
              <a:rPr sz="1600" b="1" i="0" dirty="0">
                <a:solidFill>
                  <a:srgbClr val="1F2A33"/>
                </a:solidFill>
              </a:rPr>
              <a:t>, or leave it blank?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3768852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>
                <a:solidFill>
                  <a:srgbClr val="8A97A3"/>
                </a:solidFill>
              </a:rPr>
              <a:t>Faster, or safer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4389120"/>
            <a:ext cx="5486400" cy="1051560"/>
          </a:xfrm>
          <a:prstGeom prst="rect">
            <a:avLst/>
          </a:prstGeom>
          <a:solidFill>
            <a:srgbClr val="FDEBD3"/>
          </a:solidFill>
          <a:ln w="12700">
            <a:solidFill>
              <a:srgbClr val="FDE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55080" y="4480559"/>
            <a:ext cx="457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i="0">
                <a:solidFill>
                  <a:srgbClr val="F2A541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4553712"/>
            <a:ext cx="45720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rgbClr val="1F2A33"/>
                </a:solidFill>
              </a:rPr>
              <a:t>Can an analyst check our answer keys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5010912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8A97A3"/>
                </a:solidFill>
              </a:rPr>
              <a:t>A second pair of eyes on the test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8812" y="6108192"/>
            <a:ext cx="58978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8A97A3"/>
                </a:solidFill>
              </a:rPr>
              <a:t>Analyst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867644" y="6144768"/>
            <a:ext cx="146304" cy="146304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94976" y="6108192"/>
            <a:ext cx="58978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8A97A3"/>
                </a:solidFill>
              </a:rPr>
              <a:t>Problem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93808" y="6144768"/>
            <a:ext cx="146304" cy="146304"/>
          </a:xfrm>
          <a:prstGeom prst="rect">
            <a:avLst/>
          </a:prstGeom>
          <a:solidFill>
            <a:srgbClr val="D1495B"/>
          </a:solidFill>
          <a:ln w="12700">
            <a:solidFill>
              <a:srgbClr val="D149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3774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Appendix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291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FE3EF"/>
                </a:solidFill>
              </a:rPr>
              <a:t>Why this design  ·  Approvals flow  ·  Studio build (today)  ·  Each part up close  ·  Caveats  ·  Glossary  ·  Sources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B3B60"/>
                </a:solidFill>
              </a:rPr>
              <a:t>What we learned: too rigid or too much AI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31520" y="1600200"/>
            <a:ext cx="10698480" cy="914"/>
          </a:xfrm>
          <a:prstGeom prst="line">
            <a:avLst/>
          </a:prstGeom>
          <a:noFill/>
          <a:ln w="25400">
            <a:solidFill>
              <a:srgbClr val="8A97A3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4864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A97A3"/>
                </a:solidFill>
              </a:rPr>
              <a:t>Code decides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891540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8A97A3"/>
                </a:solidFill>
              </a:rPr>
              <a:t>AI decides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335024" y="1472184"/>
            <a:ext cx="256032" cy="256032"/>
          </a:xfrm>
          <a:prstGeom prst="ellipse">
            <a:avLst/>
          </a:prstGeom>
          <a:solidFill>
            <a:srgbClr val="D1495B"/>
          </a:solidFill>
          <a:ln w="9525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685800" y="1965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B60"/>
                </a:solidFill>
              </a:rPr>
              <a:t>Fixed rules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2128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3"/>
                </a:solidFill>
              </a:rPr>
              <a:t>Exact-match rules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897880" y="1417320"/>
            <a:ext cx="365760" cy="365760"/>
          </a:xfrm>
          <a:prstGeom prst="ellipse">
            <a:avLst/>
          </a:prstGeom>
          <a:solidFill>
            <a:srgbClr val="66A7A2"/>
          </a:solidFill>
          <a:ln w="25400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5303520" y="1965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B60"/>
                </a:solidFill>
              </a:rPr>
              <a:t>Target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22128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3"/>
                </a:solidFill>
              </a:rPr>
              <a:t>AI proposes; code changes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552944" y="1472184"/>
            <a:ext cx="256032" cy="256032"/>
          </a:xfrm>
          <a:prstGeom prst="ellipse">
            <a:avLst/>
          </a:prstGeom>
          <a:solidFill>
            <a:srgbClr val="F2A541"/>
          </a:solidFill>
          <a:ln w="9525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6903720" y="1965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B60"/>
                </a:solidFill>
              </a:rPr>
              <a:t>AI + checking code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903720" y="22128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3"/>
                </a:solidFill>
              </a:rPr>
              <a:t>Can't skip checks; AI still edits the file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9198864" y="1472184"/>
            <a:ext cx="256032" cy="256032"/>
          </a:xfrm>
          <a:prstGeom prst="ellipse">
            <a:avLst/>
          </a:prstGeom>
          <a:solidFill>
            <a:srgbClr val="D1495B"/>
          </a:solidFill>
          <a:ln w="9525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8549640" y="1965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B60"/>
                </a:solidFill>
              </a:rPr>
              <a:t>AI + helper code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8549640" y="22128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3"/>
                </a:solidFill>
              </a:rPr>
              <a:t>Tools it could skip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0799064" y="1472184"/>
            <a:ext cx="256032" cy="256032"/>
          </a:xfrm>
          <a:prstGeom prst="ellipse">
            <a:avLst/>
          </a:prstGeom>
          <a:solidFill>
            <a:srgbClr val="D1495B"/>
          </a:solidFill>
          <a:ln w="9525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10149840" y="1965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B60"/>
                </a:solidFill>
              </a:rPr>
              <a:t>One AI, one prompt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0149840" y="22128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3"/>
                </a:solidFill>
              </a:rPr>
              <a:t>Instructions only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8640" y="2892432"/>
            <a:ext cx="3291840" cy="2614270"/>
          </a:xfrm>
          <a:prstGeom prst="roundRect">
            <a:avLst>
              <a:gd name="adj" fmla="val 2353"/>
            </a:avLst>
          </a:prstGeom>
          <a:solidFill>
            <a:srgbClr val="F6DCE0"/>
          </a:solidFill>
          <a:ln w="9525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731520" y="304425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D1495B"/>
                </a:solidFill>
              </a:rPr>
              <a:t>Too rigid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731520" y="3455734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A33"/>
                </a:solidFill>
              </a:rPr>
              <a:t>"Temp staffing" ≠ "Temporary labour", so the number is missed.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731520" y="432441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3B60"/>
                </a:solidFill>
              </a:rPr>
              <a:t>Why it matters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731520" y="4598734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A33"/>
                </a:solidFill>
              </a:rPr>
              <a:t>Every company needs its own rules, rewritten whenever a workbook changes.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4069080" y="2892432"/>
            <a:ext cx="3291840" cy="2614270"/>
          </a:xfrm>
          <a:prstGeom prst="roundRect">
            <a:avLst>
              <a:gd name="adj" fmla="val 2353"/>
            </a:avLst>
          </a:prstGeom>
          <a:solidFill>
            <a:srgbClr val="E0EEEC"/>
          </a:solidFill>
          <a:ln w="9525">
            <a:solidFill>
              <a:srgbClr val="66A7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 txBox="1"/>
          <p:nvPr/>
        </p:nvSpPr>
        <p:spPr>
          <a:xfrm>
            <a:off x="4251960" y="304425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66A7A2"/>
                </a:solidFill>
              </a:rPr>
              <a:t>Target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4251960" y="3501454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A33"/>
                </a:solidFill>
              </a:rPr>
              <a:t>AI reads and proposes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4251960" y="406838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A33"/>
                </a:solidFill>
              </a:rPr>
              <a:t>Code checks and makes every change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4251960" y="463531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A33"/>
                </a:solidFill>
              </a:rPr>
              <a:t>Analyst approves once; approvals are saved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7589520" y="2892432"/>
            <a:ext cx="4069080" cy="2614270"/>
          </a:xfrm>
          <a:prstGeom prst="roundRect">
            <a:avLst>
              <a:gd name="adj" fmla="val 2353"/>
            </a:avLst>
          </a:prstGeom>
          <a:solidFill>
            <a:srgbClr val="F6DCE0"/>
          </a:solidFill>
          <a:ln w="9525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 txBox="1"/>
          <p:nvPr/>
        </p:nvSpPr>
        <p:spPr>
          <a:xfrm>
            <a:off x="7772400" y="304425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D1495B"/>
                </a:solidFill>
              </a:rPr>
              <a:t>Too much AI</a:t>
            </a:r>
            <a:endParaRPr lang="en-US" sz="1800" dirty="0"/>
          </a:p>
        </p:txBody>
      </p:sp>
      <p:sp>
        <p:nvSpPr>
          <p:cNvPr id="34" name="Text 31"/>
          <p:cNvSpPr txBox="1"/>
          <p:nvPr/>
        </p:nvSpPr>
        <p:spPr>
          <a:xfrm>
            <a:off x="7772400" y="345573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✗  Put real numbers in the wrong rows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7772400" y="378491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✗  Invented a balancing number so totals matched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7772400" y="411410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✗  Turned costs into income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7772400" y="444328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✗  Wrote 0 where a number was missing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7772400" y="482733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3B60"/>
                </a:solidFill>
              </a:rPr>
              <a:t>Why it matters: the file looks finished, so mistakes are hidden.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11018520" y="6144768"/>
            <a:ext cx="146304" cy="146304"/>
          </a:xfrm>
          <a:prstGeom prst="rect">
            <a:avLst/>
          </a:prstGeom>
          <a:solidFill>
            <a:srgbClr val="66A7A2"/>
          </a:solidFill>
          <a:ln w="12700">
            <a:solidFill>
              <a:srgbClr val="66A7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 txBox="1"/>
          <p:nvPr/>
        </p:nvSpPr>
        <p:spPr>
          <a:xfrm>
            <a:off x="11219688" y="61081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Target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10309860" y="6144768"/>
            <a:ext cx="146304" cy="146304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 txBox="1"/>
          <p:nvPr/>
        </p:nvSpPr>
        <p:spPr>
          <a:xfrm>
            <a:off x="10511028" y="6108192"/>
            <a:ext cx="3886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Close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9464040" y="6144768"/>
            <a:ext cx="146304" cy="146304"/>
          </a:xfrm>
          <a:prstGeom prst="rect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 txBox="1"/>
          <p:nvPr/>
        </p:nvSpPr>
        <p:spPr>
          <a:xfrm>
            <a:off x="9665208" y="6108192"/>
            <a:ext cx="5257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Problem</a:t>
            </a:r>
            <a:endParaRPr lang="en-US" sz="10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B3B60"/>
                </a:solidFill>
              </a:rPr>
              <a:t>What research says about AI in spreadsheets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371600"/>
          <a:ext cx="420624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1"/>
          <p:cNvSpPr/>
          <p:nvPr/>
        </p:nvSpPr>
        <p:spPr>
          <a:xfrm>
            <a:off x="594360" y="4462272"/>
            <a:ext cx="182880" cy="182880"/>
          </a:xfrm>
          <a:prstGeom prst="rect">
            <a:avLst/>
          </a:prstGeom>
          <a:solidFill>
            <a:srgbClr val="66A7A2"/>
          </a:solidFill>
          <a:ln w="12700">
            <a:solidFill>
              <a:srgbClr val="66A7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 txBox="1"/>
          <p:nvPr/>
        </p:nvSpPr>
        <p:spPr>
          <a:xfrm>
            <a:off x="868680" y="438912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2A33"/>
                </a:solidFill>
              </a:rPr>
              <a:t>Formulas: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2011680" y="438912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Point to the right cells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594360" y="4846320"/>
            <a:ext cx="182880" cy="182880"/>
          </a:xfrm>
          <a:prstGeom prst="rect">
            <a:avLst/>
          </a:prstGeom>
          <a:solidFill>
            <a:srgbClr val="00A7E2"/>
          </a:solidFill>
          <a:ln w="12700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 txBox="1"/>
          <p:nvPr/>
        </p:nvSpPr>
        <p:spPr>
          <a:xfrm>
            <a:off x="868680" y="47731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2A33"/>
                </a:solidFill>
              </a:rPr>
              <a:t>Presentation: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2011680" y="477316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Layout, formats, source notes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94360" y="5230368"/>
            <a:ext cx="182880" cy="182880"/>
          </a:xfrm>
          <a:prstGeom prst="rect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 txBox="1"/>
          <p:nvPr/>
        </p:nvSpPr>
        <p:spPr>
          <a:xfrm>
            <a:off x="868680" y="515721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2A33"/>
                </a:solidFill>
              </a:rPr>
              <a:t>Numbers: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2011680" y="515721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Values come out right; early errors carry through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5074920" y="1371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D1495B"/>
                </a:solidFill>
              </a:rPr>
              <a:t>What research found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7315200" y="13716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8A97A3"/>
                </a:solidFill>
              </a:rPr>
              <a:t>Source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9646920" y="1371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6A7A2"/>
                </a:solidFill>
              </a:rPr>
              <a:t>How our build responds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074920" y="1691640"/>
            <a:ext cx="2011680" cy="804672"/>
          </a:xfrm>
          <a:prstGeom prst="rect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 txBox="1"/>
          <p:nvPr/>
        </p:nvSpPr>
        <p:spPr>
          <a:xfrm>
            <a:off x="5166360" y="169164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About 1 in 4 things wrong, even with code tools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7104888" y="2093976"/>
            <a:ext cx="192024" cy="914"/>
          </a:xfrm>
          <a:prstGeom prst="line">
            <a:avLst/>
          </a:prstGeom>
          <a:noFill/>
          <a:ln w="3175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7315200" y="1691640"/>
            <a:ext cx="2011680" cy="804672"/>
          </a:xfrm>
          <a:prstGeom prst="rect">
            <a:avLst/>
          </a:prstGeom>
          <a:solidFill>
            <a:srgbClr val="8A97A3"/>
          </a:solidFill>
          <a:ln w="12700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 txBox="1"/>
          <p:nvPr/>
        </p:nvSpPr>
        <p:spPr>
          <a:xfrm>
            <a:off x="7406640" y="169164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Vals AI, Oct 2026: best model 76.7%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9345168" y="2093976"/>
            <a:ext cx="192024" cy="914"/>
          </a:xfrm>
          <a:prstGeom prst="line">
            <a:avLst/>
          </a:prstGeom>
          <a:noFill/>
          <a:ln w="3175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9646920" y="1691640"/>
            <a:ext cx="2011680" cy="804672"/>
          </a:xfrm>
          <a:prstGeom prst="rect">
            <a:avLst/>
          </a:prstGeom>
          <a:solidFill>
            <a:srgbClr val="66A7A2"/>
          </a:solidFill>
          <a:ln w="12700">
            <a:solidFill>
              <a:srgbClr val="66A7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 txBox="1"/>
          <p:nvPr/>
        </p:nvSpPr>
        <p:spPr>
          <a:xfrm>
            <a:off x="9738360" y="169164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 never produces numbers; code copies and links them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5074920" y="2651760"/>
            <a:ext cx="2011680" cy="804672"/>
          </a:xfrm>
          <a:prstGeom prst="rect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 txBox="1"/>
          <p:nvPr/>
        </p:nvSpPr>
        <p:spPr>
          <a:xfrm>
            <a:off x="5166360" y="265176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Takes shortcuts to look finished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7104888" y="3054096"/>
            <a:ext cx="192024" cy="914"/>
          </a:xfrm>
          <a:prstGeom prst="line">
            <a:avLst/>
          </a:prstGeom>
          <a:noFill/>
          <a:ln w="3175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4"/>
          <p:cNvSpPr/>
          <p:nvPr/>
        </p:nvSpPr>
        <p:spPr>
          <a:xfrm>
            <a:off x="7315200" y="2651760"/>
            <a:ext cx="2011680" cy="804672"/>
          </a:xfrm>
          <a:prstGeom prst="rect">
            <a:avLst/>
          </a:prstGeom>
          <a:solidFill>
            <a:srgbClr val="8A97A3"/>
          </a:solidFill>
          <a:ln w="12700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 txBox="1"/>
          <p:nvPr/>
        </p:nvSpPr>
        <p:spPr>
          <a:xfrm>
            <a:off x="7406640" y="265176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METR 2025; Cursor 2026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9345168" y="3054096"/>
            <a:ext cx="192024" cy="914"/>
          </a:xfrm>
          <a:prstGeom prst="line">
            <a:avLst/>
          </a:prstGeom>
          <a:noFill/>
          <a:ln w="3175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7"/>
          <p:cNvSpPr/>
          <p:nvPr/>
        </p:nvSpPr>
        <p:spPr>
          <a:xfrm>
            <a:off x="9646920" y="2651760"/>
            <a:ext cx="2011680" cy="804672"/>
          </a:xfrm>
          <a:prstGeom prst="rect">
            <a:avLst/>
          </a:prstGeom>
          <a:solidFill>
            <a:srgbClr val="66A7A2"/>
          </a:solidFill>
          <a:ln w="12700">
            <a:solidFill>
              <a:srgbClr val="66A7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 txBox="1"/>
          <p:nvPr/>
        </p:nvSpPr>
        <p:spPr>
          <a:xfrm>
            <a:off x="9738360" y="265176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 can't edit the file or declare "done"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5074920" y="3611880"/>
            <a:ext cx="2011680" cy="804672"/>
          </a:xfrm>
          <a:prstGeom prst="rect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0"/>
          <p:cNvSpPr txBox="1"/>
          <p:nvPr/>
        </p:nvSpPr>
        <p:spPr>
          <a:xfrm>
            <a:off x="5166360" y="361188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Can skip the tools it's given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7104888" y="4014216"/>
            <a:ext cx="192024" cy="914"/>
          </a:xfrm>
          <a:prstGeom prst="line">
            <a:avLst/>
          </a:prstGeom>
          <a:noFill/>
          <a:ln w="3175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2"/>
          <p:cNvSpPr/>
          <p:nvPr/>
        </p:nvSpPr>
        <p:spPr>
          <a:xfrm>
            <a:off x="7315200" y="3611880"/>
            <a:ext cx="2011680" cy="804672"/>
          </a:xfrm>
          <a:prstGeom prst="rect">
            <a:avLst/>
          </a:prstGeom>
          <a:solidFill>
            <a:srgbClr val="8A97A3"/>
          </a:solidFill>
          <a:ln w="12700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 txBox="1"/>
          <p:nvPr/>
        </p:nvSpPr>
        <p:spPr>
          <a:xfrm>
            <a:off x="7406640" y="361188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Microsoft: the AI chooses whether to use a skill</a:t>
            </a:r>
            <a:endParaRPr lang="en-US" sz="1100" dirty="0"/>
          </a:p>
        </p:txBody>
      </p:sp>
      <p:sp>
        <p:nvSpPr>
          <p:cNvPr id="38" name="Shape 34"/>
          <p:cNvSpPr/>
          <p:nvPr/>
        </p:nvSpPr>
        <p:spPr>
          <a:xfrm>
            <a:off x="9345168" y="4014216"/>
            <a:ext cx="192024" cy="914"/>
          </a:xfrm>
          <a:prstGeom prst="line">
            <a:avLst/>
          </a:prstGeom>
          <a:noFill/>
          <a:ln w="3175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5"/>
          <p:cNvSpPr/>
          <p:nvPr/>
        </p:nvSpPr>
        <p:spPr>
          <a:xfrm>
            <a:off x="9646920" y="3611880"/>
            <a:ext cx="2011680" cy="804672"/>
          </a:xfrm>
          <a:prstGeom prst="rect">
            <a:avLst/>
          </a:prstGeom>
          <a:solidFill>
            <a:srgbClr val="66A7A2"/>
          </a:solidFill>
          <a:ln w="12700">
            <a:solidFill>
              <a:srgbClr val="66A7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6"/>
          <p:cNvSpPr txBox="1"/>
          <p:nvPr/>
        </p:nvSpPr>
        <p:spPr>
          <a:xfrm>
            <a:off x="9738360" y="361188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Required steps run by a flow; no report, no result</a:t>
            </a:r>
            <a:endParaRPr lang="en-US" sz="1100" dirty="0"/>
          </a:p>
        </p:txBody>
      </p:sp>
      <p:sp>
        <p:nvSpPr>
          <p:cNvPr id="41" name="Shape 37"/>
          <p:cNvSpPr/>
          <p:nvPr/>
        </p:nvSpPr>
        <p:spPr>
          <a:xfrm>
            <a:off x="5074920" y="4572000"/>
            <a:ext cx="2011680" cy="804672"/>
          </a:xfrm>
          <a:prstGeom prst="rect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8"/>
          <p:cNvSpPr txBox="1"/>
          <p:nvPr/>
        </p:nvSpPr>
        <p:spPr>
          <a:xfrm>
            <a:off x="5166360" y="457200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Guesses instead of "I don't know"</a:t>
            </a:r>
            <a:endParaRPr lang="en-US" sz="1100" dirty="0"/>
          </a:p>
        </p:txBody>
      </p:sp>
      <p:sp>
        <p:nvSpPr>
          <p:cNvPr id="43" name="Shape 39"/>
          <p:cNvSpPr/>
          <p:nvPr/>
        </p:nvSpPr>
        <p:spPr>
          <a:xfrm>
            <a:off x="7104888" y="4974336"/>
            <a:ext cx="192024" cy="914"/>
          </a:xfrm>
          <a:prstGeom prst="line">
            <a:avLst/>
          </a:prstGeom>
          <a:noFill/>
          <a:ln w="3175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0"/>
          <p:cNvSpPr/>
          <p:nvPr/>
        </p:nvSpPr>
        <p:spPr>
          <a:xfrm>
            <a:off x="7315200" y="4572000"/>
            <a:ext cx="2011680" cy="804672"/>
          </a:xfrm>
          <a:prstGeom prst="rect">
            <a:avLst/>
          </a:prstGeom>
          <a:solidFill>
            <a:srgbClr val="8A97A3"/>
          </a:solidFill>
          <a:ln w="12700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1"/>
          <p:cNvSpPr txBox="1"/>
          <p:nvPr/>
        </p:nvSpPr>
        <p:spPr>
          <a:xfrm>
            <a:off x="7406640" y="457200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OpenAI 2025</a:t>
            </a:r>
            <a:endParaRPr lang="en-US" sz="1100" dirty="0"/>
          </a:p>
        </p:txBody>
      </p:sp>
      <p:sp>
        <p:nvSpPr>
          <p:cNvPr id="46" name="Shape 42"/>
          <p:cNvSpPr/>
          <p:nvPr/>
        </p:nvSpPr>
        <p:spPr>
          <a:xfrm>
            <a:off x="9345168" y="4974336"/>
            <a:ext cx="192024" cy="914"/>
          </a:xfrm>
          <a:prstGeom prst="line">
            <a:avLst/>
          </a:prstGeom>
          <a:noFill/>
          <a:ln w="3175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3"/>
          <p:cNvSpPr/>
          <p:nvPr/>
        </p:nvSpPr>
        <p:spPr>
          <a:xfrm>
            <a:off x="9646920" y="4572000"/>
            <a:ext cx="2011680" cy="804672"/>
          </a:xfrm>
          <a:prstGeom prst="rect">
            <a:avLst/>
          </a:prstGeom>
          <a:solidFill>
            <a:srgbClr val="66A7A2"/>
          </a:solidFill>
          <a:ln w="12700">
            <a:solidFill>
              <a:srgbClr val="66A7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4"/>
          <p:cNvSpPr txBox="1"/>
          <p:nvPr/>
        </p:nvSpPr>
        <p:spPr>
          <a:xfrm>
            <a:off x="9738360" y="457200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Code decides confidence; unsure items go to the analyst</a:t>
            </a:r>
            <a:endParaRPr lang="en-US" sz="1100" dirty="0"/>
          </a:p>
        </p:txBody>
      </p:sp>
      <p:sp>
        <p:nvSpPr>
          <p:cNvPr id="49" name="Text 45"/>
          <p:cNvSpPr txBox="1"/>
          <p:nvPr/>
        </p:nvSpPr>
        <p:spPr>
          <a:xfrm>
            <a:off x="548640" y="57607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A97A3"/>
                </a:solidFill>
              </a:rPr>
              <a:t>Sources: Vals AI (Oct 2026) · Microsoft Copilot Studio docs (2026) · METR (2025) · Cursor (2026) · OpenAI (2025). Links on the Sources slide.</a:t>
            </a:r>
            <a:endParaRPr lang="en-US" sz="9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B3B60"/>
                </a:solidFill>
              </a:rPr>
              <a:t>Decisions 1 and 2, in detail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B3B60"/>
                </a:solidFill>
              </a:rPr>
              <a:t>1. How much should an analyst review?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9202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2A33"/>
                </a:solidFill>
              </a:rPr>
              <a:t>Every number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22199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A97A3"/>
                </a:solidFill>
              </a:rPr>
              <a:t>Most review, least time saved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2560320"/>
            <a:ext cx="5120640" cy="274320"/>
          </a:xfrm>
          <a:prstGeom prst="rect">
            <a:avLst/>
          </a:prstGeom>
          <a:solidFill>
            <a:srgbClr val="F4F7F9"/>
          </a:solidFill>
          <a:ln w="12700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48640" y="2560320"/>
            <a:ext cx="5120640" cy="27432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548640" y="30632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2A33"/>
                </a:solidFill>
              </a:rPr>
              <a:t>Only new or changed items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36499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A97A3"/>
                </a:solidFill>
              </a:rPr>
              <a:t>Everything else matches past approvals exactly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3703320"/>
            <a:ext cx="5120640" cy="274320"/>
          </a:xfrm>
          <a:prstGeom prst="rect">
            <a:avLst/>
          </a:prstGeom>
          <a:solidFill>
            <a:srgbClr val="F4F7F9"/>
          </a:solidFill>
          <a:ln w="12700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48640" y="3703320"/>
            <a:ext cx="2048256" cy="27432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548640" y="42062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2A33"/>
                </a:solidFill>
              </a:rPr>
              <a:t>Spot checks only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450799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A97A3"/>
                </a:solidFill>
              </a:rPr>
              <a:t>Least review, more risk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4846320"/>
            <a:ext cx="5120640" cy="274320"/>
          </a:xfrm>
          <a:prstGeom prst="rect">
            <a:avLst/>
          </a:prstGeom>
          <a:solidFill>
            <a:srgbClr val="F4F7F9"/>
          </a:solidFill>
          <a:ln w="12700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48640" y="4846320"/>
            <a:ext cx="614477" cy="27432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548640" y="53949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7A3"/>
                </a:solidFill>
              </a:rPr>
              <a:t>Yellow: share an analyst reviews (illustrative)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B3B60"/>
                </a:solidFill>
              </a:rPr>
              <a:t>2. When the agent isn't confident about a cell…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6263640" y="1920240"/>
            <a:ext cx="5394960" cy="1463040"/>
          </a:xfrm>
          <a:prstGeom prst="roundRect">
            <a:avLst>
              <a:gd name="adj" fmla="val 5000"/>
            </a:avLst>
          </a:prstGeom>
          <a:solidFill>
            <a:srgbClr val="D9F2FB"/>
          </a:solidFill>
          <a:ln w="9525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6446520" y="20574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2A33"/>
                </a:solidFill>
              </a:rPr>
              <a:t>Fill in its best suggestion, highlighted for review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6446520" y="26974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Faster. Risk: a highlighted cell gets waved through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263640" y="3611880"/>
            <a:ext cx="5394960" cy="1463040"/>
          </a:xfrm>
          <a:prstGeom prst="roundRect">
            <a:avLst>
              <a:gd name="adj" fmla="val 5000"/>
            </a:avLst>
          </a:prstGeom>
          <a:solidFill>
            <a:srgbClr val="FDEBD3"/>
          </a:solidFill>
          <a:ln w="9525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6446520" y="37490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2A33"/>
                </a:solidFill>
              </a:rPr>
              <a:t>Leave it blank for the analyst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6446520" y="43891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Safer. Slower, and the analyst finishes the workbook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10538460" y="6144768"/>
            <a:ext cx="146304" cy="146304"/>
          </a:xfrm>
          <a:prstGeom prst="rect">
            <a:avLst/>
          </a:prstGeom>
          <a:solidFill>
            <a:srgbClr val="00A7E2"/>
          </a:solidFill>
          <a:ln w="12700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 txBox="1"/>
          <p:nvPr/>
        </p:nvSpPr>
        <p:spPr>
          <a:xfrm>
            <a:off x="10739628" y="6108192"/>
            <a:ext cx="9372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AI suggestion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9761220" y="6144768"/>
            <a:ext cx="146304" cy="146304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 txBox="1"/>
          <p:nvPr/>
        </p:nvSpPr>
        <p:spPr>
          <a:xfrm>
            <a:off x="9962388" y="61081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Analyst</a:t>
            </a:r>
            <a:endParaRPr lang="en-US" sz="10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B3B60"/>
                </a:solidFill>
              </a:rPr>
              <a:t>Also built: engagement letter approvals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3017520" cy="3792932"/>
          </a:xfrm>
          <a:prstGeom prst="roundRect">
            <a:avLst>
              <a:gd name="adj" fmla="val 2424"/>
            </a:avLst>
          </a:prstGeom>
          <a:solidFill>
            <a:srgbClr val="F4F7F9"/>
          </a:solidFill>
          <a:ln w="9525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713232" y="14813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3B60"/>
                </a:solidFill>
              </a:rPr>
              <a:t>Form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13232" y="18745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Company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13232" y="2093976"/>
            <a:ext cx="26974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786384" y="209397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Example Co.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13232" y="23774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Role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13232" y="2596896"/>
            <a:ext cx="26974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786384" y="259689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Chief Financial Officer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13232" y="28803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Search firm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13232" y="3099816"/>
            <a:ext cx="26974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786384" y="30998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Example Search Ltd.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13232" y="33832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Currency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13232" y="3602736"/>
            <a:ext cx="26974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786384" y="36027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CAD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713232" y="38862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Approvers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13232" y="4105656"/>
            <a:ext cx="26974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786384" y="41056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Names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713232" y="43891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Agreement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13232" y="4608576"/>
            <a:ext cx="26974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786384" y="460857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Uploaded to SharePoint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713232" y="4937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8A97A3"/>
                </a:solidFill>
              </a:rPr>
              <a:t>more fields…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611880" y="1965960"/>
            <a:ext cx="338328" cy="0"/>
          </a:xfrm>
          <a:prstGeom prst="line">
            <a:avLst/>
          </a:prstGeom>
          <a:noFill/>
          <a:ln w="2540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3977640" y="1463040"/>
            <a:ext cx="1783080" cy="1005840"/>
          </a:xfrm>
          <a:prstGeom prst="roundRect">
            <a:avLst>
              <a:gd name="adj" fmla="val 7273"/>
            </a:avLst>
          </a:prstGeom>
          <a:solidFill>
            <a:srgbClr val="FDEBD3"/>
          </a:solidFill>
          <a:ln w="1905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4069080" y="15087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3B60"/>
                </a:solidFill>
              </a:rPr>
              <a:t>1  CEO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4069080" y="19202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Approve to continue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769864" y="1965960"/>
            <a:ext cx="182880" cy="0"/>
          </a:xfrm>
          <a:prstGeom prst="line">
            <a:avLst/>
          </a:prstGeom>
          <a:noFill/>
          <a:ln w="2540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3977640" y="2697480"/>
            <a:ext cx="1783080" cy="548640"/>
          </a:xfrm>
          <a:prstGeom prst="roundRect">
            <a:avLst>
              <a:gd name="adj" fmla="val 9412"/>
            </a:avLst>
          </a:prstGeom>
          <a:solidFill>
            <a:srgbClr val="F4F7F9"/>
          </a:solidFill>
          <a:ln w="9525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 txBox="1"/>
          <p:nvPr/>
        </p:nvSpPr>
        <p:spPr>
          <a:xfrm>
            <a:off x="4087368" y="2770632"/>
            <a:ext cx="1563624" cy="445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A33"/>
                </a:solidFill>
              </a:rPr>
              <a:t>No answer: reminder every 3 days; Adam notified after 14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3986784" y="3419174"/>
            <a:ext cx="1783080" cy="510496"/>
          </a:xfrm>
          <a:prstGeom prst="roundRect">
            <a:avLst>
              <a:gd name="adj" fmla="val 11429"/>
            </a:avLst>
          </a:prstGeom>
          <a:solidFill>
            <a:srgbClr val="F6DCE0"/>
          </a:solidFill>
          <a:ln w="9525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 txBox="1"/>
          <p:nvPr/>
        </p:nvSpPr>
        <p:spPr>
          <a:xfrm>
            <a:off x="4096512" y="3492326"/>
            <a:ext cx="1563624" cy="39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A33"/>
                </a:solidFill>
              </a:rPr>
              <a:t>Rejected: Adam gets the comments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5961888" y="1463040"/>
            <a:ext cx="1783080" cy="1005840"/>
          </a:xfrm>
          <a:prstGeom prst="roundRect">
            <a:avLst>
              <a:gd name="adj" fmla="val 7273"/>
            </a:avLst>
          </a:prstGeom>
          <a:solidFill>
            <a:srgbClr val="FDEBD3"/>
          </a:solidFill>
          <a:ln w="1905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 txBox="1"/>
          <p:nvPr/>
        </p:nvSpPr>
        <p:spPr>
          <a:xfrm>
            <a:off x="6053328" y="15087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3B60"/>
                </a:solidFill>
              </a:rPr>
              <a:t>2  Deal flow lead</a:t>
            </a:r>
            <a:endParaRPr lang="en-US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6053328" y="19202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Approve to continue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7754112" y="1965960"/>
            <a:ext cx="192024" cy="0"/>
          </a:xfrm>
          <a:prstGeom prst="line">
            <a:avLst/>
          </a:prstGeom>
          <a:noFill/>
          <a:ln w="2540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5961888" y="2697480"/>
            <a:ext cx="1783080" cy="548640"/>
          </a:xfrm>
          <a:prstGeom prst="roundRect">
            <a:avLst>
              <a:gd name="adj" fmla="val 9412"/>
            </a:avLst>
          </a:prstGeom>
          <a:solidFill>
            <a:srgbClr val="F4F7F9"/>
          </a:solidFill>
          <a:ln w="9525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 txBox="1"/>
          <p:nvPr/>
        </p:nvSpPr>
        <p:spPr>
          <a:xfrm>
            <a:off x="6071616" y="2770632"/>
            <a:ext cx="1563624" cy="445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dirty="0">
                <a:solidFill>
                  <a:srgbClr val="1F2A33"/>
                </a:solidFill>
              </a:rPr>
              <a:t>No answer: reminder every 3 days; Adam notified after 14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5971032" y="3419174"/>
            <a:ext cx="1783080" cy="510496"/>
          </a:xfrm>
          <a:prstGeom prst="roundRect">
            <a:avLst>
              <a:gd name="adj" fmla="val 11429"/>
            </a:avLst>
          </a:prstGeom>
          <a:solidFill>
            <a:srgbClr val="F6DCE0"/>
          </a:solidFill>
          <a:ln w="9525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 txBox="1"/>
          <p:nvPr/>
        </p:nvSpPr>
        <p:spPr>
          <a:xfrm>
            <a:off x="6080760" y="3492326"/>
            <a:ext cx="1563624" cy="39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A33"/>
                </a:solidFill>
              </a:rPr>
              <a:t>Rejected: Adam gets the comments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7946136" y="1463040"/>
            <a:ext cx="1783080" cy="1005840"/>
          </a:xfrm>
          <a:prstGeom prst="roundRect">
            <a:avLst>
              <a:gd name="adj" fmla="val 7273"/>
            </a:avLst>
          </a:prstGeom>
          <a:solidFill>
            <a:srgbClr val="FDEBD3"/>
          </a:solidFill>
          <a:ln w="1905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 txBox="1"/>
          <p:nvPr/>
        </p:nvSpPr>
        <p:spPr>
          <a:xfrm>
            <a:off x="8037576" y="15087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3B60"/>
                </a:solidFill>
              </a:rPr>
              <a:t>3  Hiring manager</a:t>
            </a:r>
            <a:endParaRPr lang="en-US" sz="1500" dirty="0"/>
          </a:p>
        </p:txBody>
      </p:sp>
      <p:sp>
        <p:nvSpPr>
          <p:cNvPr id="44" name="Text 41"/>
          <p:cNvSpPr txBox="1"/>
          <p:nvPr/>
        </p:nvSpPr>
        <p:spPr>
          <a:xfrm>
            <a:off x="8037576" y="19202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Approve to continue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9738360" y="1965960"/>
            <a:ext cx="192024" cy="0"/>
          </a:xfrm>
          <a:prstGeom prst="line">
            <a:avLst/>
          </a:prstGeom>
          <a:noFill/>
          <a:ln w="2540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3"/>
          <p:cNvSpPr/>
          <p:nvPr/>
        </p:nvSpPr>
        <p:spPr>
          <a:xfrm>
            <a:off x="7946136" y="2697480"/>
            <a:ext cx="1783080" cy="548640"/>
          </a:xfrm>
          <a:prstGeom prst="roundRect">
            <a:avLst>
              <a:gd name="adj" fmla="val 9412"/>
            </a:avLst>
          </a:prstGeom>
          <a:solidFill>
            <a:srgbClr val="F4F7F9"/>
          </a:solidFill>
          <a:ln w="9525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 txBox="1"/>
          <p:nvPr/>
        </p:nvSpPr>
        <p:spPr>
          <a:xfrm>
            <a:off x="8055864" y="2770632"/>
            <a:ext cx="1563624" cy="445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dirty="0">
                <a:solidFill>
                  <a:srgbClr val="1F2A33"/>
                </a:solidFill>
              </a:rPr>
              <a:t>No answer: reminder every 3 days; Adam notified after 14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7955280" y="3419174"/>
            <a:ext cx="1783080" cy="510496"/>
          </a:xfrm>
          <a:prstGeom prst="roundRect">
            <a:avLst>
              <a:gd name="adj" fmla="val 11429"/>
            </a:avLst>
          </a:prstGeom>
          <a:solidFill>
            <a:srgbClr val="F6DCE0"/>
          </a:solidFill>
          <a:ln w="9525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 txBox="1"/>
          <p:nvPr/>
        </p:nvSpPr>
        <p:spPr>
          <a:xfrm>
            <a:off x="8065008" y="3492326"/>
            <a:ext cx="1563624" cy="39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A33"/>
                </a:solidFill>
              </a:rPr>
              <a:t>Rejected: Adam gets the comments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9930384" y="1463040"/>
            <a:ext cx="1857756" cy="1005840"/>
          </a:xfrm>
          <a:prstGeom prst="roundRect">
            <a:avLst>
              <a:gd name="adj" fmla="val 7273"/>
            </a:avLst>
          </a:prstGeom>
          <a:solidFill>
            <a:srgbClr val="E0EEEC"/>
          </a:solidFill>
          <a:ln w="19050">
            <a:solidFill>
              <a:srgbClr val="66A7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 txBox="1"/>
          <p:nvPr/>
        </p:nvSpPr>
        <p:spPr>
          <a:xfrm>
            <a:off x="10021823" y="1508760"/>
            <a:ext cx="166721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3B60"/>
                </a:solidFill>
              </a:rPr>
              <a:t>Done</a:t>
            </a:r>
            <a:endParaRPr lang="en-US" sz="1500" dirty="0"/>
          </a:p>
        </p:txBody>
      </p:sp>
      <p:sp>
        <p:nvSpPr>
          <p:cNvPr id="52" name="Text 49"/>
          <p:cNvSpPr txBox="1"/>
          <p:nvPr/>
        </p:nvSpPr>
        <p:spPr>
          <a:xfrm>
            <a:off x="10021823" y="1920240"/>
            <a:ext cx="166721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Adam notified; Approval logs and comments attached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4187952" y="5192383"/>
            <a:ext cx="2045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B60"/>
                </a:solidFill>
              </a:rPr>
              <a:t>Approvals can be made from:</a:t>
            </a:r>
            <a:endParaRPr lang="en-US" sz="1300" dirty="0"/>
          </a:p>
        </p:txBody>
      </p:sp>
      <p:sp>
        <p:nvSpPr>
          <p:cNvPr id="54" name="Shape 51"/>
          <p:cNvSpPr/>
          <p:nvPr/>
        </p:nvSpPr>
        <p:spPr>
          <a:xfrm>
            <a:off x="6262977" y="5190859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DCE5EE"/>
          </a:solidFill>
          <a:ln w="9525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2"/>
          <p:cNvSpPr txBox="1"/>
          <p:nvPr/>
        </p:nvSpPr>
        <p:spPr>
          <a:xfrm>
            <a:off x="6372705" y="5264011"/>
            <a:ext cx="1106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B60"/>
                </a:solidFill>
              </a:rPr>
              <a:t>Teams</a:t>
            </a:r>
            <a:endParaRPr lang="en-US" sz="1200" dirty="0"/>
          </a:p>
        </p:txBody>
      </p:sp>
      <p:sp>
        <p:nvSpPr>
          <p:cNvPr id="56" name="Shape 53"/>
          <p:cNvSpPr/>
          <p:nvPr/>
        </p:nvSpPr>
        <p:spPr>
          <a:xfrm>
            <a:off x="7726017" y="5190859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DCE5EE"/>
          </a:solidFill>
          <a:ln w="9525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4"/>
          <p:cNvSpPr txBox="1"/>
          <p:nvPr/>
        </p:nvSpPr>
        <p:spPr>
          <a:xfrm>
            <a:off x="7835745" y="5264011"/>
            <a:ext cx="1106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B60"/>
                </a:solidFill>
              </a:rPr>
              <a:t>Outlook</a:t>
            </a:r>
            <a:endParaRPr lang="en-US" sz="1200" dirty="0"/>
          </a:p>
        </p:txBody>
      </p:sp>
      <p:sp>
        <p:nvSpPr>
          <p:cNvPr id="58" name="Shape 55"/>
          <p:cNvSpPr/>
          <p:nvPr/>
        </p:nvSpPr>
        <p:spPr>
          <a:xfrm>
            <a:off x="9189057" y="5190859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DCE5EE"/>
          </a:solidFill>
          <a:ln w="9525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6"/>
          <p:cNvSpPr txBox="1"/>
          <p:nvPr/>
        </p:nvSpPr>
        <p:spPr>
          <a:xfrm>
            <a:off x="9298785" y="5264011"/>
            <a:ext cx="1106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B60"/>
                </a:solidFill>
              </a:rPr>
              <a:t>Browser link</a:t>
            </a:r>
            <a:endParaRPr lang="en-US" sz="1200" dirty="0"/>
          </a:p>
        </p:txBody>
      </p:sp>
      <p:sp>
        <p:nvSpPr>
          <p:cNvPr id="60" name="Text 57"/>
          <p:cNvSpPr txBox="1"/>
          <p:nvPr/>
        </p:nvSpPr>
        <p:spPr>
          <a:xfrm>
            <a:off x="4187952" y="5741023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7A3"/>
                </a:solidFill>
              </a:rPr>
              <a:t>Every step logged · agreement attached to every email · status: test flow, in review</a:t>
            </a:r>
            <a:endParaRPr lang="en-US" sz="1100" dirty="0"/>
          </a:p>
        </p:txBody>
      </p:sp>
      <p:sp>
        <p:nvSpPr>
          <p:cNvPr id="61" name="Shape 58"/>
          <p:cNvSpPr/>
          <p:nvPr/>
        </p:nvSpPr>
        <p:spPr>
          <a:xfrm>
            <a:off x="11155680" y="6144768"/>
            <a:ext cx="146304" cy="146304"/>
          </a:xfrm>
          <a:prstGeom prst="rect">
            <a:avLst/>
          </a:prstGeom>
          <a:solidFill>
            <a:srgbClr val="66A7A2"/>
          </a:solidFill>
          <a:ln w="12700">
            <a:solidFill>
              <a:srgbClr val="66A7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59"/>
          <p:cNvSpPr txBox="1"/>
          <p:nvPr/>
        </p:nvSpPr>
        <p:spPr>
          <a:xfrm>
            <a:off x="11356848" y="610819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Done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10241280" y="6144768"/>
            <a:ext cx="146304" cy="146304"/>
          </a:xfrm>
          <a:prstGeom prst="rect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1"/>
          <p:cNvSpPr txBox="1"/>
          <p:nvPr/>
        </p:nvSpPr>
        <p:spPr>
          <a:xfrm>
            <a:off x="10442448" y="610819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Rejected</a:t>
            </a:r>
            <a:endParaRPr lang="en-US" sz="1000" dirty="0"/>
          </a:p>
        </p:txBody>
      </p:sp>
      <p:sp>
        <p:nvSpPr>
          <p:cNvPr id="65" name="Shape 62"/>
          <p:cNvSpPr/>
          <p:nvPr/>
        </p:nvSpPr>
        <p:spPr>
          <a:xfrm>
            <a:off x="9464040" y="6144768"/>
            <a:ext cx="146304" cy="146304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3"/>
          <p:cNvSpPr txBox="1"/>
          <p:nvPr/>
        </p:nvSpPr>
        <p:spPr>
          <a:xfrm>
            <a:off x="9665208" y="61081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People</a:t>
            </a:r>
            <a:endParaRPr lang="en-US" sz="10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B3B60"/>
                </a:solidFill>
              </a:rPr>
              <a:t>Studio build (today) and the plan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2103120" y="1554480"/>
            <a:ext cx="1508760" cy="914400"/>
          </a:xfrm>
          <a:prstGeom prst="rect">
            <a:avLst/>
          </a:prstGeom>
          <a:solidFill>
            <a:srgbClr val="8A97A3"/>
          </a:solidFill>
          <a:ln w="31750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2194560" y="162763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Company files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2194560" y="19659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One quarter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886200" y="1554480"/>
            <a:ext cx="1783080" cy="914400"/>
          </a:xfrm>
          <a:prstGeom prst="rect">
            <a:avLst/>
          </a:prstGeom>
          <a:solidFill>
            <a:srgbClr val="00A7E2"/>
          </a:solidFill>
          <a:ln w="31750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3977640" y="162763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Extraction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3977640" y="19659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AI traces the value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943600" y="1554480"/>
            <a:ext cx="1783080" cy="914400"/>
          </a:xfrm>
          <a:prstGeom prst="rect">
            <a:avLst/>
          </a:prstGeom>
          <a:solidFill>
            <a:srgbClr val="0B3B60"/>
          </a:solidFill>
          <a:ln w="31750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6035040" y="162763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Verification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035040" y="19659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Code confirms every claim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001000" y="1554480"/>
            <a:ext cx="1691640" cy="914400"/>
          </a:xfrm>
          <a:prstGeom prst="rect">
            <a:avLst/>
          </a:prstGeom>
          <a:solidFill>
            <a:srgbClr val="FFFFFF"/>
          </a:solidFill>
          <a:ln w="31750">
            <a:solidFill>
              <a:srgbClr val="8A97A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8092440" y="162763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A33"/>
                </a:solidFill>
              </a:rPr>
              <a:t>Review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8092440" y="19659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7A3"/>
                </a:solidFill>
              </a:rPr>
              <a:t>Optional second AI, for unusual companies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9966960" y="1554480"/>
            <a:ext cx="1691640" cy="914400"/>
          </a:xfrm>
          <a:prstGeom prst="rect">
            <a:avLst/>
          </a:prstGeom>
          <a:solidFill>
            <a:srgbClr val="FDEBD3"/>
          </a:solidFill>
          <a:ln w="31750">
            <a:solidFill>
              <a:srgbClr val="F2A5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10058400" y="162763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3B60"/>
                </a:solidFill>
              </a:rPr>
              <a:t>Analyst approves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0058400" y="19659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Only real decisions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103120" y="2926080"/>
            <a:ext cx="9555480" cy="502920"/>
          </a:xfrm>
          <a:prstGeom prst="rect">
            <a:avLst/>
          </a:prstGeom>
          <a:solidFill>
            <a:srgbClr val="E0EEEC"/>
          </a:solidFill>
          <a:ln w="31750">
            <a:solidFill>
              <a:srgbClr val="66A7A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2240280" y="2926080"/>
            <a:ext cx="9281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B60"/>
                </a:solidFill>
              </a:rPr>
              <a:t>Company memory: what the analyst approved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2103120" y="3886200"/>
            <a:ext cx="1508760" cy="914400"/>
          </a:xfrm>
          <a:prstGeom prst="rect">
            <a:avLst/>
          </a:prstGeom>
          <a:solidFill>
            <a:srgbClr val="8A97A3"/>
          </a:solidFill>
          <a:ln w="31750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2194560" y="395935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New files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2194560" y="42976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Latest workbook + new monthlies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886200" y="3886200"/>
            <a:ext cx="1783080" cy="914400"/>
          </a:xfrm>
          <a:prstGeom prst="rect">
            <a:avLst/>
          </a:prstGeom>
          <a:solidFill>
            <a:srgbClr val="D9F2FB"/>
          </a:solidFill>
          <a:ln w="31750">
            <a:solidFill>
              <a:srgbClr val="00A7E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3977640" y="395935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A33"/>
                </a:solidFill>
              </a:rPr>
              <a:t>Extraction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3977640" y="42976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AI proposes changes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943600" y="3886200"/>
            <a:ext cx="1783080" cy="914400"/>
          </a:xfrm>
          <a:prstGeom prst="rect">
            <a:avLst/>
          </a:prstGeom>
          <a:solidFill>
            <a:srgbClr val="DCE5EE"/>
          </a:solidFill>
          <a:ln w="31750">
            <a:solidFill>
              <a:srgbClr val="0B3B6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 txBox="1"/>
          <p:nvPr/>
        </p:nvSpPr>
        <p:spPr>
          <a:xfrm>
            <a:off x="6035040" y="395935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3B60"/>
                </a:solidFill>
              </a:rPr>
              <a:t>Comparison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6035040" y="42976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Code checks against memory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8001000" y="3886200"/>
            <a:ext cx="1691640" cy="914400"/>
          </a:xfrm>
          <a:prstGeom prst="rect">
            <a:avLst/>
          </a:prstGeom>
          <a:solidFill>
            <a:srgbClr val="FDEBD3"/>
          </a:solidFill>
          <a:ln w="31750">
            <a:solidFill>
              <a:srgbClr val="F2A5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 txBox="1"/>
          <p:nvPr/>
        </p:nvSpPr>
        <p:spPr>
          <a:xfrm>
            <a:off x="8092440" y="395935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3B60"/>
                </a:solidFill>
              </a:rPr>
              <a:t>Analyst decides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8092440" y="42976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Only what changed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9966960" y="3886200"/>
            <a:ext cx="1691640" cy="914400"/>
          </a:xfrm>
          <a:prstGeom prst="rect">
            <a:avLst/>
          </a:prstGeom>
          <a:solidFill>
            <a:srgbClr val="DCE5EE"/>
          </a:solidFill>
          <a:ln w="31750">
            <a:solidFill>
              <a:srgbClr val="0B3B6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 txBox="1"/>
          <p:nvPr/>
        </p:nvSpPr>
        <p:spPr>
          <a:xfrm>
            <a:off x="10058400" y="395935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3B60"/>
                </a:solidFill>
              </a:rPr>
              <a:t>Workbook build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10058400" y="42976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Code builds, with source notes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3886200" y="5212080"/>
            <a:ext cx="3840480" cy="594360"/>
          </a:xfrm>
          <a:prstGeom prst="rect">
            <a:avLst/>
          </a:prstGeom>
          <a:solidFill>
            <a:srgbClr val="8A97A3"/>
          </a:solidFill>
          <a:ln w="31750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 txBox="1"/>
          <p:nvPr/>
        </p:nvSpPr>
        <p:spPr>
          <a:xfrm>
            <a:off x="4023360" y="52120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Test bench (development only): grades runs against hidden answer keys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16459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3B60"/>
                </a:solidFill>
              </a:rPr>
              <a:t>Onboarding</a:t>
            </a:r>
            <a:endParaRPr lang="en-US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548640" y="1965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7A3"/>
                </a:solidFill>
              </a:rPr>
              <a:t>Once per company</a:t>
            </a:r>
            <a:endParaRPr lang="en-US" sz="1100" dirty="0"/>
          </a:p>
        </p:txBody>
      </p:sp>
      <p:sp>
        <p:nvSpPr>
          <p:cNvPr id="40" name="Text 37"/>
          <p:cNvSpPr txBox="1"/>
          <p:nvPr/>
        </p:nvSpPr>
        <p:spPr>
          <a:xfrm>
            <a:off x="548640" y="39776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3B60"/>
                </a:solidFill>
              </a:rPr>
              <a:t>Each quarter</a:t>
            </a:r>
            <a:endParaRPr lang="en-US" sz="1500" dirty="0"/>
          </a:p>
        </p:txBody>
      </p:sp>
      <p:sp>
        <p:nvSpPr>
          <p:cNvPr id="41" name="Shape 38"/>
          <p:cNvSpPr/>
          <p:nvPr/>
        </p:nvSpPr>
        <p:spPr>
          <a:xfrm>
            <a:off x="3630168" y="2011680"/>
            <a:ext cx="237744" cy="914"/>
          </a:xfrm>
          <a:prstGeom prst="line">
            <a:avLst/>
          </a:prstGeom>
          <a:noFill/>
          <a:ln w="3810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5687568" y="2011680"/>
            <a:ext cx="237744" cy="914"/>
          </a:xfrm>
          <a:prstGeom prst="line">
            <a:avLst/>
          </a:prstGeom>
          <a:noFill/>
          <a:ln w="3810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0"/>
          <p:cNvSpPr/>
          <p:nvPr/>
        </p:nvSpPr>
        <p:spPr>
          <a:xfrm>
            <a:off x="7744968" y="2011680"/>
            <a:ext cx="237744" cy="914"/>
          </a:xfrm>
          <a:prstGeom prst="line">
            <a:avLst/>
          </a:prstGeom>
          <a:noFill/>
          <a:ln w="15875">
            <a:solidFill>
              <a:srgbClr val="8A97A3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>
            <a:off x="9710928" y="2011680"/>
            <a:ext cx="237744" cy="914"/>
          </a:xfrm>
          <a:prstGeom prst="line">
            <a:avLst/>
          </a:prstGeom>
          <a:noFill/>
          <a:ln w="15875">
            <a:solidFill>
              <a:srgbClr val="8A97A3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2"/>
          <p:cNvSpPr/>
          <p:nvPr/>
        </p:nvSpPr>
        <p:spPr>
          <a:xfrm>
            <a:off x="3630168" y="4343400"/>
            <a:ext cx="237744" cy="914"/>
          </a:xfrm>
          <a:prstGeom prst="line">
            <a:avLst/>
          </a:prstGeom>
          <a:noFill/>
          <a:ln w="3810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3"/>
          <p:cNvSpPr/>
          <p:nvPr/>
        </p:nvSpPr>
        <p:spPr>
          <a:xfrm>
            <a:off x="5687568" y="4343400"/>
            <a:ext cx="237744" cy="914"/>
          </a:xfrm>
          <a:prstGeom prst="line">
            <a:avLst/>
          </a:prstGeom>
          <a:noFill/>
          <a:ln w="3810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4"/>
          <p:cNvSpPr/>
          <p:nvPr/>
        </p:nvSpPr>
        <p:spPr>
          <a:xfrm>
            <a:off x="7744968" y="4343400"/>
            <a:ext cx="237744" cy="914"/>
          </a:xfrm>
          <a:prstGeom prst="line">
            <a:avLst/>
          </a:prstGeom>
          <a:noFill/>
          <a:ln w="3810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5"/>
          <p:cNvSpPr/>
          <p:nvPr/>
        </p:nvSpPr>
        <p:spPr>
          <a:xfrm>
            <a:off x="9710928" y="4343400"/>
            <a:ext cx="237744" cy="914"/>
          </a:xfrm>
          <a:prstGeom prst="line">
            <a:avLst/>
          </a:prstGeom>
          <a:noFill/>
          <a:ln w="3810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6"/>
          <p:cNvSpPr/>
          <p:nvPr/>
        </p:nvSpPr>
        <p:spPr>
          <a:xfrm>
            <a:off x="10812780" y="2487168"/>
            <a:ext cx="914" cy="420624"/>
          </a:xfrm>
          <a:prstGeom prst="line">
            <a:avLst/>
          </a:prstGeom>
          <a:noFill/>
          <a:ln w="38100">
            <a:solidFill>
              <a:srgbClr val="66A7A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7"/>
          <p:cNvSpPr/>
          <p:nvPr/>
        </p:nvSpPr>
        <p:spPr>
          <a:xfrm>
            <a:off x="6835140" y="3447288"/>
            <a:ext cx="914" cy="420624"/>
          </a:xfrm>
          <a:prstGeom prst="line">
            <a:avLst/>
          </a:prstGeom>
          <a:noFill/>
          <a:ln w="38100">
            <a:solidFill>
              <a:srgbClr val="66A7A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 txBox="1"/>
          <p:nvPr/>
        </p:nvSpPr>
        <p:spPr>
          <a:xfrm>
            <a:off x="6908292" y="34564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66A7A2"/>
                </a:solidFill>
              </a:rPr>
              <a:t>uses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 flipV="1">
            <a:off x="8846820" y="3447288"/>
            <a:ext cx="914" cy="420624"/>
          </a:xfrm>
          <a:prstGeom prst="line">
            <a:avLst/>
          </a:prstGeom>
          <a:noFill/>
          <a:ln w="38100">
            <a:solidFill>
              <a:srgbClr val="66A7A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0"/>
          <p:cNvSpPr txBox="1"/>
          <p:nvPr/>
        </p:nvSpPr>
        <p:spPr>
          <a:xfrm>
            <a:off x="8919972" y="34564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66A7A2"/>
                </a:solidFill>
              </a:rPr>
              <a:t>updates</a:t>
            </a:r>
            <a:endParaRPr lang="en-US" sz="1100" dirty="0"/>
          </a:p>
        </p:txBody>
      </p:sp>
      <p:sp>
        <p:nvSpPr>
          <p:cNvPr id="54" name="Shape 51"/>
          <p:cNvSpPr/>
          <p:nvPr/>
        </p:nvSpPr>
        <p:spPr>
          <a:xfrm>
            <a:off x="4343400" y="4800600"/>
            <a:ext cx="914" cy="411480"/>
          </a:xfrm>
          <a:prstGeom prst="line">
            <a:avLst/>
          </a:prstGeom>
          <a:noFill/>
          <a:ln w="25400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2"/>
          <p:cNvSpPr/>
          <p:nvPr/>
        </p:nvSpPr>
        <p:spPr>
          <a:xfrm>
            <a:off x="8229600" y="5303520"/>
            <a:ext cx="365760" cy="228600"/>
          </a:xfrm>
          <a:prstGeom prst="rect">
            <a:avLst/>
          </a:prstGeom>
          <a:solidFill>
            <a:srgbClr val="0B3B60"/>
          </a:solidFill>
          <a:ln w="12700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3"/>
          <p:cNvSpPr txBox="1"/>
          <p:nvPr/>
        </p:nvSpPr>
        <p:spPr>
          <a:xfrm>
            <a:off x="8686800" y="52852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Built</a:t>
            </a:r>
            <a:endParaRPr lang="en-US" sz="1100" dirty="0"/>
          </a:p>
        </p:txBody>
      </p:sp>
      <p:sp>
        <p:nvSpPr>
          <p:cNvPr id="57" name="Shape 54"/>
          <p:cNvSpPr/>
          <p:nvPr/>
        </p:nvSpPr>
        <p:spPr>
          <a:xfrm>
            <a:off x="9509760" y="5303520"/>
            <a:ext cx="365760" cy="228600"/>
          </a:xfrm>
          <a:prstGeom prst="rect">
            <a:avLst/>
          </a:prstGeom>
          <a:solidFill>
            <a:srgbClr val="DCE5EE"/>
          </a:solidFill>
          <a:ln w="25400">
            <a:solidFill>
              <a:srgbClr val="0B3B6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5"/>
          <p:cNvSpPr txBox="1"/>
          <p:nvPr/>
        </p:nvSpPr>
        <p:spPr>
          <a:xfrm>
            <a:off x="9966960" y="52852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Planned</a:t>
            </a:r>
            <a:endParaRPr lang="en-US" sz="1100" dirty="0"/>
          </a:p>
        </p:txBody>
      </p:sp>
      <p:sp>
        <p:nvSpPr>
          <p:cNvPr id="59" name="Shape 56"/>
          <p:cNvSpPr/>
          <p:nvPr/>
        </p:nvSpPr>
        <p:spPr>
          <a:xfrm>
            <a:off x="11018520" y="6144768"/>
            <a:ext cx="146304" cy="146304"/>
          </a:xfrm>
          <a:prstGeom prst="rect">
            <a:avLst/>
          </a:prstGeom>
          <a:solidFill>
            <a:srgbClr val="66A7A2"/>
          </a:solidFill>
          <a:ln w="12700">
            <a:solidFill>
              <a:srgbClr val="66A7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7"/>
          <p:cNvSpPr txBox="1"/>
          <p:nvPr/>
        </p:nvSpPr>
        <p:spPr>
          <a:xfrm>
            <a:off x="11219688" y="61081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Memory</a:t>
            </a:r>
            <a:endParaRPr lang="en-US" sz="1000" dirty="0"/>
          </a:p>
        </p:txBody>
      </p:sp>
      <p:sp>
        <p:nvSpPr>
          <p:cNvPr id="61" name="Shape 58"/>
          <p:cNvSpPr/>
          <p:nvPr/>
        </p:nvSpPr>
        <p:spPr>
          <a:xfrm>
            <a:off x="10172700" y="6144768"/>
            <a:ext cx="146304" cy="146304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59"/>
          <p:cNvSpPr txBox="1"/>
          <p:nvPr/>
        </p:nvSpPr>
        <p:spPr>
          <a:xfrm>
            <a:off x="10373868" y="6108192"/>
            <a:ext cx="5257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Analyst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9532620" y="6144768"/>
            <a:ext cx="146304" cy="146304"/>
          </a:xfrm>
          <a:prstGeom prst="rect">
            <a:avLst/>
          </a:prstGeom>
          <a:solidFill>
            <a:srgbClr val="0B3B60"/>
          </a:solidFill>
          <a:ln w="12700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1"/>
          <p:cNvSpPr txBox="1"/>
          <p:nvPr/>
        </p:nvSpPr>
        <p:spPr>
          <a:xfrm>
            <a:off x="9733788" y="610819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Code</a:t>
            </a:r>
            <a:endParaRPr lang="en-US" sz="1000" dirty="0"/>
          </a:p>
        </p:txBody>
      </p:sp>
      <p:sp>
        <p:nvSpPr>
          <p:cNvPr id="65" name="Shape 62"/>
          <p:cNvSpPr/>
          <p:nvPr/>
        </p:nvSpPr>
        <p:spPr>
          <a:xfrm>
            <a:off x="9029700" y="6144768"/>
            <a:ext cx="146304" cy="146304"/>
          </a:xfrm>
          <a:prstGeom prst="rect">
            <a:avLst/>
          </a:prstGeom>
          <a:solidFill>
            <a:srgbClr val="00A7E2"/>
          </a:solidFill>
          <a:ln w="12700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3"/>
          <p:cNvSpPr txBox="1"/>
          <p:nvPr/>
        </p:nvSpPr>
        <p:spPr>
          <a:xfrm>
            <a:off x="9230868" y="610819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AI</a:t>
            </a:r>
            <a:endParaRPr lang="en-US" sz="10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  <p:cxnSp>
        <p:nvCxnSpPr>
          <p:cNvPr id="67" name="Connector 66"/>
          <p:cNvCxnSpPr/>
          <p:nvPr/>
        </p:nvCxnSpPr>
        <p:spPr>
          <a:xfrm flipV="1">
            <a:off x="6835140" y="1344168"/>
            <a:ext cx="0" cy="210312"/>
          </a:xfrm>
          <a:prstGeom prst="line">
            <a:avLst/>
          </a:prstGeom>
          <a:ln w="25400">
            <a:solidFill>
              <a:srgbClr val="0B3B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6835140" y="1344168"/>
            <a:ext cx="3977640" cy="0"/>
          </a:xfrm>
          <a:prstGeom prst="line">
            <a:avLst/>
          </a:prstGeom>
          <a:ln w="25400">
            <a:solidFill>
              <a:srgbClr val="0B3B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10812780" y="1344168"/>
            <a:ext cx="0" cy="210312"/>
          </a:xfrm>
          <a:prstGeom prst="line">
            <a:avLst/>
          </a:prstGeom>
          <a:ln w="25400">
            <a:solidFill>
              <a:srgbClr val="0B3B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  <p:sp>
        <p:nvSpPr>
          <p:cNvPr id="2" name="Text 0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B3B60"/>
                </a:solidFill>
              </a:rPr>
              <a:t>How a Studio agent runs</a:t>
            </a:r>
            <a:endParaRPr lang="en-US" sz="2800" dirty="0"/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943600" cy="4526280"/>
          </a:xfrm>
          <a:prstGeom prst="rect">
            <a:avLst/>
          </a:prstGeom>
          <a:solidFill>
            <a:srgbClr val="F4F7F9"/>
          </a:solidFill>
          <a:ln w="12700">
            <a:solidFill>
              <a:srgbClr val="D9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577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B3B60"/>
                </a:solidFill>
              </a:rPr>
              <a:t>Microsoft's harness: runs the AI and picks which tools to 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74519"/>
            <a:ext cx="5577840" cy="731520"/>
          </a:xfrm>
          <a:prstGeom prst="rect">
            <a:avLst/>
          </a:prstGeom>
          <a:solidFill>
            <a:srgbClr val="00A7E2"/>
          </a:solidFill>
          <a:ln w="19050">
            <a:solidFill>
              <a:srgbClr val="00A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1947672"/>
            <a:ext cx="535838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AI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240279"/>
            <a:ext cx="5358383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Claude Opus 5.5. Reads the files, reasons, proposes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743200"/>
            <a:ext cx="269748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B3B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2816352"/>
            <a:ext cx="24780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F2A33"/>
                </a:solidFill>
              </a:rPr>
              <a:t>Instructions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108960"/>
            <a:ext cx="247802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8A97A3"/>
                </a:solidFill>
              </a:rPr>
              <a:t>What the agent should do, in words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11880" y="2743200"/>
            <a:ext cx="269748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B3B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21608" y="2816352"/>
            <a:ext cx="24780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F2A33"/>
                </a:solidFill>
              </a:rPr>
              <a:t>Knowledge 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1608" y="3108960"/>
            <a:ext cx="247802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8A97A3"/>
                </a:solidFill>
              </a:rPr>
              <a:t>XPV's valuation documents, read whole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794760"/>
            <a:ext cx="2697480" cy="914400"/>
          </a:xfrm>
          <a:prstGeom prst="rect">
            <a:avLst/>
          </a:prstGeom>
          <a:solidFill>
            <a:srgbClr val="0B3B60"/>
          </a:solidFill>
          <a:ln w="19050">
            <a:solidFill>
              <a:srgbClr val="0B3B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8" y="3867912"/>
            <a:ext cx="24780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Skills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4160520"/>
            <a:ext cx="247802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Our tested code. The AI decides when to use 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11880" y="3794760"/>
            <a:ext cx="2697480" cy="914400"/>
          </a:xfrm>
          <a:prstGeom prst="rect">
            <a:avLst/>
          </a:prstGeom>
          <a:solidFill>
            <a:srgbClr val="DCE5EE"/>
          </a:solidFill>
          <a:ln w="19050">
            <a:solidFill>
              <a:srgbClr val="0B3B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721608" y="3867912"/>
            <a:ext cx="24780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F2A33"/>
                </a:solidFill>
              </a:rPr>
              <a:t>Sandbox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21608" y="4160520"/>
            <a:ext cx="247802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1F2A33"/>
                </a:solidFill>
              </a:rPr>
              <a:t>Temporary workspace where code runs. No internet; wiped after each conversation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846320"/>
            <a:ext cx="269748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B3B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8" y="4919472"/>
            <a:ext cx="24780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F2A33"/>
                </a:solidFill>
              </a:rPr>
              <a:t>Tools and connectors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5212080"/>
            <a:ext cx="247802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8A97A3"/>
                </a:solidFill>
              </a:rPr>
              <a:t>The only way out, e.g. saving to SharePoint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11880" y="4846320"/>
            <a:ext cx="269748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B3B6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721608" y="4919472"/>
            <a:ext cx="24780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F2A33"/>
                </a:solidFill>
              </a:rPr>
              <a:t>Hooks (preview)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21608" y="5212080"/>
            <a:ext cx="247802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8A97A3"/>
                </a:solidFill>
              </a:rPr>
              <a:t>Automatic checkpoints, e.g. before the AI runs code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146304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B3B60"/>
                </a:solidFill>
              </a:rPr>
              <a:t>Where the platform has gaps, we add our own guard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181051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D1495B"/>
                </a:solidFill>
              </a:rPr>
              <a:t>Platform gap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600" y="181051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6A7A2"/>
                </a:solidFill>
              </a:rPr>
              <a:t>Our guard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12280" y="2121408"/>
            <a:ext cx="2194560" cy="713232"/>
          </a:xfrm>
          <a:prstGeom prst="rect">
            <a:avLst/>
          </a:prstGeom>
          <a:solidFill>
            <a:srgbClr val="F6DCE0"/>
          </a:solidFill>
          <a:ln w="12700">
            <a:solidFill>
              <a:srgbClr val="D149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922008" y="2121408"/>
            <a:ext cx="1975104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F2A33"/>
                </a:solidFill>
              </a:rPr>
              <a:t>The AI can choose not to use a skill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025128" y="2478024"/>
            <a:ext cx="329184" cy="0"/>
          </a:xfrm>
          <a:prstGeom prst="line">
            <a:avLst/>
          </a:prstGeom>
          <a:ln w="25400">
            <a:solidFill>
              <a:srgbClr val="0B3B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9372600" y="2121408"/>
            <a:ext cx="2286000" cy="713232"/>
          </a:xfrm>
          <a:prstGeom prst="rect">
            <a:avLst/>
          </a:prstGeom>
          <a:solidFill>
            <a:srgbClr val="E0EEEC"/>
          </a:solidFill>
          <a:ln w="12700">
            <a:solidFill>
              <a:srgbClr val="66A7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482328" y="2121408"/>
            <a:ext cx="2066543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F2A33"/>
                </a:solidFill>
              </a:rPr>
              <a:t>Required steps started by a flow, not by the AI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12280" y="2962656"/>
            <a:ext cx="2194560" cy="713232"/>
          </a:xfrm>
          <a:prstGeom prst="rect">
            <a:avLst/>
          </a:prstGeom>
          <a:solidFill>
            <a:srgbClr val="F6DCE0"/>
          </a:solidFill>
          <a:ln w="12700">
            <a:solidFill>
              <a:srgbClr val="D149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922008" y="2962656"/>
            <a:ext cx="1975104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F2A33"/>
                </a:solidFill>
              </a:rPr>
              <a:t>Hooks are a test version and fail open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025128" y="3319272"/>
            <a:ext cx="329184" cy="0"/>
          </a:xfrm>
          <a:prstGeom prst="line">
            <a:avLst/>
          </a:prstGeom>
          <a:ln w="25400">
            <a:solidFill>
              <a:srgbClr val="0B3B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372600" y="2962656"/>
            <a:ext cx="2286000" cy="713232"/>
          </a:xfrm>
          <a:prstGeom prst="rect">
            <a:avLst/>
          </a:prstGeom>
          <a:solidFill>
            <a:srgbClr val="E0EEEC"/>
          </a:solidFill>
          <a:ln w="12700">
            <a:solidFill>
              <a:srgbClr val="66A7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482328" y="2962656"/>
            <a:ext cx="2066543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F2A33"/>
                </a:solidFill>
              </a:rPr>
              <a:t>Final gate: no checking-code report, no result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12280" y="3803904"/>
            <a:ext cx="2194560" cy="713232"/>
          </a:xfrm>
          <a:prstGeom prst="rect">
            <a:avLst/>
          </a:prstGeom>
          <a:solidFill>
            <a:srgbClr val="F6DCE0"/>
          </a:solidFill>
          <a:ln w="12700">
            <a:solidFill>
              <a:srgbClr val="D149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922008" y="3803904"/>
            <a:ext cx="1975104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F2A33"/>
                </a:solidFill>
              </a:rPr>
              <a:t>Sandbox is temporary; nothing is kept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025128" y="4160520"/>
            <a:ext cx="329184" cy="0"/>
          </a:xfrm>
          <a:prstGeom prst="line">
            <a:avLst/>
          </a:prstGeom>
          <a:ln w="25400">
            <a:solidFill>
              <a:srgbClr val="0B3B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9372600" y="3803904"/>
            <a:ext cx="2286000" cy="713232"/>
          </a:xfrm>
          <a:prstGeom prst="rect">
            <a:avLst/>
          </a:prstGeom>
          <a:solidFill>
            <a:srgbClr val="E0EEEC"/>
          </a:solidFill>
          <a:ln w="12700">
            <a:solidFill>
              <a:srgbClr val="66A7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482328" y="3803904"/>
            <a:ext cx="2066543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F2A33"/>
                </a:solidFill>
              </a:rPr>
              <a:t>Memory and outputs saved to SharePoint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812280" y="4645152"/>
            <a:ext cx="2194560" cy="713232"/>
          </a:xfrm>
          <a:prstGeom prst="rect">
            <a:avLst/>
          </a:prstGeom>
          <a:solidFill>
            <a:srgbClr val="F6DCE0"/>
          </a:solidFill>
          <a:ln w="12700">
            <a:solidFill>
              <a:srgbClr val="D149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922008" y="4645152"/>
            <a:ext cx="1975104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F2A33"/>
                </a:solidFill>
              </a:rPr>
              <a:t>The AI can edit Excel files directly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9025128" y="5001768"/>
            <a:ext cx="329184" cy="0"/>
          </a:xfrm>
          <a:prstGeom prst="line">
            <a:avLst/>
          </a:prstGeom>
          <a:ln w="25400">
            <a:solidFill>
              <a:srgbClr val="0B3B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9372600" y="4645152"/>
            <a:ext cx="2286000" cy="713232"/>
          </a:xfrm>
          <a:prstGeom prst="rect">
            <a:avLst/>
          </a:prstGeom>
          <a:solidFill>
            <a:srgbClr val="E0EEEC"/>
          </a:solidFill>
          <a:ln w="12700">
            <a:solidFill>
              <a:srgbClr val="66A7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482328" y="4645152"/>
            <a:ext cx="2066543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F2A33"/>
                </a:solidFill>
              </a:rPr>
              <a:t>Workbook changes only through our tested code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12280" y="5486400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B3B60"/>
                </a:solidFill>
              </a:rPr>
              <a:t>Our final check doesn't depend on Microsoft's.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068812" y="6108192"/>
            <a:ext cx="58978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8A97A3"/>
                </a:solidFill>
              </a:rPr>
              <a:t>Working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867644" y="6144768"/>
            <a:ext cx="146304" cy="146304"/>
          </a:xfrm>
          <a:prstGeom prst="rect">
            <a:avLst/>
          </a:prstGeom>
          <a:solidFill>
            <a:srgbClr val="66A7A2"/>
          </a:solidFill>
          <a:ln w="12700">
            <a:solidFill>
              <a:srgbClr val="66A7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0094976" y="6108192"/>
            <a:ext cx="58978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8A97A3"/>
                </a:solidFill>
              </a:rPr>
              <a:t>Problem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893808" y="6144768"/>
            <a:ext cx="146304" cy="146304"/>
          </a:xfrm>
          <a:prstGeom prst="rect">
            <a:avLst/>
          </a:prstGeom>
          <a:solidFill>
            <a:srgbClr val="D1495B"/>
          </a:solidFill>
          <a:ln w="12700">
            <a:solidFill>
              <a:srgbClr val="D149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326880" y="6108192"/>
            <a:ext cx="38404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8A97A3"/>
                </a:solidFill>
              </a:rPr>
              <a:t>Code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125712" y="6144768"/>
            <a:ext cx="146304" cy="146304"/>
          </a:xfrm>
          <a:prstGeom prst="rect">
            <a:avLst/>
          </a:prstGeom>
          <a:solidFill>
            <a:srgbClr val="0B3B60"/>
          </a:solidFill>
          <a:ln w="12700">
            <a:solidFill>
              <a:srgbClr val="0B3B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695944" y="6108192"/>
            <a:ext cx="24688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8A97A3"/>
                </a:solidFill>
              </a:rPr>
              <a:t>AI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494776" y="6144768"/>
            <a:ext cx="146304" cy="146304"/>
          </a:xfrm>
          <a:prstGeom prst="rect">
            <a:avLst/>
          </a:prstGeom>
          <a:solidFill>
            <a:srgbClr val="00A7E2"/>
          </a:solidFill>
          <a:ln w="12700">
            <a:solidFill>
              <a:srgbClr val="00A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B3B60"/>
                </a:solidFill>
              </a:rPr>
              <a:t>Extraction: tracing the valuation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9546336" y="237744"/>
            <a:ext cx="2167128" cy="978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9889067" y="292608"/>
            <a:ext cx="279400" cy="186813"/>
          </a:xfrm>
          <a:prstGeom prst="rect">
            <a:avLst/>
          </a:prstGeom>
          <a:solidFill>
            <a:srgbClr val="8A97A3"/>
          </a:solidFill>
          <a:ln w="9525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0219267" y="292608"/>
            <a:ext cx="330200" cy="186813"/>
          </a:xfrm>
          <a:prstGeom prst="rect">
            <a:avLst/>
          </a:prstGeom>
          <a:solidFill>
            <a:srgbClr val="00A7E2"/>
          </a:solidFill>
          <a:ln w="31750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0600267" y="292608"/>
            <a:ext cx="330200" cy="186813"/>
          </a:xfrm>
          <a:prstGeom prst="rect">
            <a:avLst/>
          </a:prstGeom>
          <a:solidFill>
            <a:srgbClr val="0B3B60"/>
          </a:solidFill>
          <a:ln w="9525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0981267" y="292608"/>
            <a:ext cx="313267" cy="186813"/>
          </a:xfrm>
          <a:prstGeom prst="rect">
            <a:avLst/>
          </a:prstGeom>
          <a:solidFill>
            <a:srgbClr val="FFFFFF"/>
          </a:solidFill>
          <a:ln w="9525">
            <a:solidFill>
              <a:srgbClr val="8A97A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1345333" y="292608"/>
            <a:ext cx="313267" cy="186813"/>
          </a:xfrm>
          <a:prstGeom prst="rect">
            <a:avLst/>
          </a:prstGeom>
          <a:solidFill>
            <a:srgbClr val="FDEBD3"/>
          </a:solidFill>
          <a:ln w="9525">
            <a:solidFill>
              <a:srgbClr val="F2A5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9889067" y="572827"/>
            <a:ext cx="1769533" cy="102747"/>
          </a:xfrm>
          <a:prstGeom prst="rect">
            <a:avLst/>
          </a:prstGeom>
          <a:solidFill>
            <a:srgbClr val="E0EEEC"/>
          </a:solidFill>
          <a:ln w="9525">
            <a:solidFill>
              <a:srgbClr val="66A7A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9889067" y="768981"/>
            <a:ext cx="279400" cy="186813"/>
          </a:xfrm>
          <a:prstGeom prst="rect">
            <a:avLst/>
          </a:prstGeom>
          <a:solidFill>
            <a:srgbClr val="8A97A3"/>
          </a:solidFill>
          <a:ln w="9525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0219267" y="768981"/>
            <a:ext cx="330200" cy="186813"/>
          </a:xfrm>
          <a:prstGeom prst="rect">
            <a:avLst/>
          </a:prstGeom>
          <a:solidFill>
            <a:srgbClr val="D9F2FB"/>
          </a:solidFill>
          <a:ln w="31750">
            <a:solidFill>
              <a:srgbClr val="D1495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0600267" y="768981"/>
            <a:ext cx="330200" cy="186813"/>
          </a:xfrm>
          <a:prstGeom prst="rect">
            <a:avLst/>
          </a:prstGeom>
          <a:solidFill>
            <a:srgbClr val="DCE5EE"/>
          </a:solidFill>
          <a:ln w="9525">
            <a:solidFill>
              <a:srgbClr val="0B3B6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10981267" y="768981"/>
            <a:ext cx="313267" cy="186813"/>
          </a:xfrm>
          <a:prstGeom prst="rect">
            <a:avLst/>
          </a:prstGeom>
          <a:solidFill>
            <a:srgbClr val="FDEBD3"/>
          </a:solidFill>
          <a:ln w="9525">
            <a:solidFill>
              <a:srgbClr val="F2A5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11345333" y="768981"/>
            <a:ext cx="313267" cy="186813"/>
          </a:xfrm>
          <a:prstGeom prst="rect">
            <a:avLst/>
          </a:prstGeom>
          <a:solidFill>
            <a:srgbClr val="DCE5EE"/>
          </a:solidFill>
          <a:ln w="9525">
            <a:solidFill>
              <a:srgbClr val="0B3B6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10219267" y="1039860"/>
            <a:ext cx="711200" cy="121428"/>
          </a:xfrm>
          <a:prstGeom prst="rect">
            <a:avLst/>
          </a:prstGeom>
          <a:solidFill>
            <a:srgbClr val="8A97A3"/>
          </a:solidFill>
          <a:ln w="9525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9601200" y="123444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D1495B"/>
                </a:solidFill>
              </a:rPr>
              <a:t>You are here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48640" y="1600200"/>
            <a:ext cx="2560320" cy="1097280"/>
          </a:xfrm>
          <a:prstGeom prst="rect">
            <a:avLst/>
          </a:prstGeom>
          <a:solidFill>
            <a:srgbClr val="00A7E2"/>
          </a:solidFill>
          <a:ln w="12700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685800" y="16459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685800" y="202996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Identify each file and the current period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3136392" y="2148840"/>
            <a:ext cx="237744" cy="914"/>
          </a:xfrm>
          <a:prstGeom prst="line">
            <a:avLst/>
          </a:prstGeom>
          <a:noFill/>
          <a:ln w="3810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3401568" y="1600200"/>
            <a:ext cx="2560320" cy="1097280"/>
          </a:xfrm>
          <a:prstGeom prst="rect">
            <a:avLst/>
          </a:prstGeom>
          <a:solidFill>
            <a:srgbClr val="00A7E2"/>
          </a:solidFill>
          <a:ln w="12700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3538728" y="16459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3538728" y="202996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Start at the fund value and trace back to the monthly numbers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989320" y="2148840"/>
            <a:ext cx="237744" cy="914"/>
          </a:xfrm>
          <a:prstGeom prst="line">
            <a:avLst/>
          </a:prstGeom>
          <a:noFill/>
          <a:ln w="3810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6254496" y="1600200"/>
            <a:ext cx="2560320" cy="1097280"/>
          </a:xfrm>
          <a:prstGeom prst="rect">
            <a:avLst/>
          </a:prstGeom>
          <a:solidFill>
            <a:srgbClr val="00A7E2"/>
          </a:solidFill>
          <a:ln w="12700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6391656" y="16459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28" name="Text 25"/>
          <p:cNvSpPr txBox="1"/>
          <p:nvPr/>
        </p:nvSpPr>
        <p:spPr>
          <a:xfrm>
            <a:off x="6391656" y="202996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Confirm each link forward to the fund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8842248" y="2148840"/>
            <a:ext cx="237744" cy="914"/>
          </a:xfrm>
          <a:prstGeom prst="line">
            <a:avLst/>
          </a:prstGeom>
          <a:noFill/>
          <a:ln w="3810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9107424" y="1600200"/>
            <a:ext cx="2560320" cy="1097280"/>
          </a:xfrm>
          <a:prstGeom prst="rect">
            <a:avLst/>
          </a:prstGeom>
          <a:solidFill>
            <a:srgbClr val="00A7E2"/>
          </a:solidFill>
          <a:ln w="12700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 txBox="1"/>
          <p:nvPr/>
        </p:nvSpPr>
        <p:spPr>
          <a:xfrm>
            <a:off x="9244584" y="16459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32" name="Text 29"/>
          <p:cNvSpPr txBox="1"/>
          <p:nvPr/>
        </p:nvSpPr>
        <p:spPr>
          <a:xfrm>
            <a:off x="9244584" y="202996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Flag look-alikes and questions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548640" y="3108960"/>
            <a:ext cx="5486400" cy="2377440"/>
          </a:xfrm>
          <a:prstGeom prst="roundRect">
            <a:avLst>
              <a:gd name="adj" fmla="val 3077"/>
            </a:avLst>
          </a:prstGeom>
          <a:solidFill>
            <a:srgbClr val="FDEBD3"/>
          </a:solidFill>
          <a:ln w="9525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 txBox="1"/>
          <p:nvPr/>
        </p:nvSpPr>
        <p:spPr>
          <a:xfrm>
            <a:off x="731520" y="32004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3B60"/>
                </a:solidFill>
              </a:rPr>
              <a:t>Labels can mislead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731520" y="361188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"Adj. EBITDA" might really mean last-twelve-months earnings, adjusted, on a pro forma basis.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731520" y="438912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The company value cell multiplies the multiple by one specific cell. Following that formula shows which earnings figure is used.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6263640" y="310896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D9F2FB"/>
          </a:solidFill>
          <a:ln w="9525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 txBox="1"/>
          <p:nvPr/>
        </p:nvSpPr>
        <p:spPr>
          <a:xfrm>
            <a:off x="6446520" y="3200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3B60"/>
                </a:solidFill>
              </a:rPr>
              <a:t>Look-alikes it had to tell apart</a:t>
            </a:r>
            <a:endParaRPr lang="en-US" sz="1600" dirty="0"/>
          </a:p>
        </p:txBody>
      </p:sp>
      <p:sp>
        <p:nvSpPr>
          <p:cNvPr id="39" name="Text 36"/>
          <p:cNvSpPr txBox="1"/>
          <p:nvPr/>
        </p:nvSpPr>
        <p:spPr>
          <a:xfrm>
            <a:off x="6446520" y="36576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•  Last quarter's earnings next to this quarter's</a:t>
            </a:r>
            <a:endParaRPr lang="en-US" sz="1300" dirty="0"/>
          </a:p>
        </p:txBody>
      </p:sp>
      <p:sp>
        <p:nvSpPr>
          <p:cNvPr id="40" name="Text 37"/>
          <p:cNvSpPr txBox="1"/>
          <p:nvPr/>
        </p:nvSpPr>
        <p:spPr>
          <a:xfrm>
            <a:off x="6446520" y="4160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•  Earnings before and after adjustments</a:t>
            </a:r>
            <a:endParaRPr lang="en-US" sz="1300" dirty="0"/>
          </a:p>
        </p:txBody>
      </p:sp>
      <p:sp>
        <p:nvSpPr>
          <p:cNvPr id="41" name="Text 38"/>
          <p:cNvSpPr txBox="1"/>
          <p:nvPr/>
        </p:nvSpPr>
        <p:spPr>
          <a:xfrm>
            <a:off x="6446520" y="46634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•  A sheet named for an old period that holds current numbers</a:t>
            </a:r>
            <a:endParaRPr lang="en-US" sz="13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  <p:sp>
        <p:nvSpPr>
          <p:cNvPr id="42" name="TextBox 41"/>
          <p:cNvSpPr txBox="1"/>
          <p:nvPr/>
        </p:nvSpPr>
        <p:spPr>
          <a:xfrm>
            <a:off x="548640" y="5669280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B3B60"/>
                </a:solidFill>
              </a:rPr>
              <a:t>Onboarding mode is built. </a:t>
            </a:r>
            <a:r>
              <a:rPr sz="1200" b="0" i="0">
                <a:solidFill>
                  <a:srgbClr val="1F2A33"/>
                </a:solidFill>
              </a:rPr>
              <a:t>Quarterly mode (only what changed) is planned.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B3B60"/>
                </a:solidFill>
              </a:rPr>
              <a:t>Verification: how code confirms the AI's work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9546336" y="237744"/>
            <a:ext cx="2167128" cy="978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9889067" y="292608"/>
            <a:ext cx="279400" cy="186813"/>
          </a:xfrm>
          <a:prstGeom prst="rect">
            <a:avLst/>
          </a:prstGeom>
          <a:solidFill>
            <a:srgbClr val="8A97A3"/>
          </a:solidFill>
          <a:ln w="9525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0219267" y="292608"/>
            <a:ext cx="330200" cy="186813"/>
          </a:xfrm>
          <a:prstGeom prst="rect">
            <a:avLst/>
          </a:prstGeom>
          <a:solidFill>
            <a:srgbClr val="00A7E2"/>
          </a:solidFill>
          <a:ln w="9525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0600267" y="292608"/>
            <a:ext cx="330200" cy="186813"/>
          </a:xfrm>
          <a:prstGeom prst="rect">
            <a:avLst/>
          </a:prstGeom>
          <a:solidFill>
            <a:srgbClr val="0B3B60"/>
          </a:solidFill>
          <a:ln w="31750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0981267" y="292608"/>
            <a:ext cx="313267" cy="186813"/>
          </a:xfrm>
          <a:prstGeom prst="rect">
            <a:avLst/>
          </a:prstGeom>
          <a:solidFill>
            <a:srgbClr val="FFFFFF"/>
          </a:solidFill>
          <a:ln w="9525">
            <a:solidFill>
              <a:srgbClr val="8A97A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1345333" y="292608"/>
            <a:ext cx="313267" cy="186813"/>
          </a:xfrm>
          <a:prstGeom prst="rect">
            <a:avLst/>
          </a:prstGeom>
          <a:solidFill>
            <a:srgbClr val="FDEBD3"/>
          </a:solidFill>
          <a:ln w="9525">
            <a:solidFill>
              <a:srgbClr val="F2A5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9889067" y="572827"/>
            <a:ext cx="1769533" cy="102747"/>
          </a:xfrm>
          <a:prstGeom prst="rect">
            <a:avLst/>
          </a:prstGeom>
          <a:solidFill>
            <a:srgbClr val="E0EEEC"/>
          </a:solidFill>
          <a:ln w="9525">
            <a:solidFill>
              <a:srgbClr val="66A7A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9889067" y="768981"/>
            <a:ext cx="279400" cy="186813"/>
          </a:xfrm>
          <a:prstGeom prst="rect">
            <a:avLst/>
          </a:prstGeom>
          <a:solidFill>
            <a:srgbClr val="8A97A3"/>
          </a:solidFill>
          <a:ln w="9525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0219267" y="768981"/>
            <a:ext cx="330200" cy="186813"/>
          </a:xfrm>
          <a:prstGeom prst="rect">
            <a:avLst/>
          </a:prstGeom>
          <a:solidFill>
            <a:srgbClr val="D9F2FB"/>
          </a:solidFill>
          <a:ln w="9525">
            <a:solidFill>
              <a:srgbClr val="00A7E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0600267" y="768981"/>
            <a:ext cx="330200" cy="186813"/>
          </a:xfrm>
          <a:prstGeom prst="rect">
            <a:avLst/>
          </a:prstGeom>
          <a:solidFill>
            <a:srgbClr val="DCE5EE"/>
          </a:solidFill>
          <a:ln w="9525">
            <a:solidFill>
              <a:srgbClr val="0B3B6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10981267" y="768981"/>
            <a:ext cx="313267" cy="186813"/>
          </a:xfrm>
          <a:prstGeom prst="rect">
            <a:avLst/>
          </a:prstGeom>
          <a:solidFill>
            <a:srgbClr val="FDEBD3"/>
          </a:solidFill>
          <a:ln w="9525">
            <a:solidFill>
              <a:srgbClr val="F2A5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11345333" y="768981"/>
            <a:ext cx="313267" cy="186813"/>
          </a:xfrm>
          <a:prstGeom prst="rect">
            <a:avLst/>
          </a:prstGeom>
          <a:solidFill>
            <a:srgbClr val="DCE5EE"/>
          </a:solidFill>
          <a:ln w="9525">
            <a:solidFill>
              <a:srgbClr val="0B3B6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10219267" y="1039860"/>
            <a:ext cx="711200" cy="121428"/>
          </a:xfrm>
          <a:prstGeom prst="rect">
            <a:avLst/>
          </a:prstGeom>
          <a:solidFill>
            <a:srgbClr val="8A97A3"/>
          </a:solidFill>
          <a:ln w="9525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9601200" y="123444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D1495B"/>
                </a:solidFill>
              </a:rPr>
              <a:t>You are here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48640" y="1554480"/>
            <a:ext cx="4480560" cy="3291840"/>
          </a:xfrm>
          <a:prstGeom prst="roundRect">
            <a:avLst>
              <a:gd name="adj" fmla="val 2222"/>
            </a:avLst>
          </a:prstGeom>
          <a:solidFill>
            <a:srgbClr val="00A7E2"/>
          </a:solidFill>
          <a:ln w="9525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731520" y="1645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AI claims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731520" y="21488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Cell F12 says "TTM Revenue"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731520" y="27889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It holds 18,400,000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731520" y="34290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Its formula adds 12 monthly cells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731520" y="40690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Those months are July 2025 to June 2026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5120640" y="3200400"/>
            <a:ext cx="594360" cy="914"/>
          </a:xfrm>
          <a:prstGeom prst="line">
            <a:avLst/>
          </a:prstGeom>
          <a:noFill/>
          <a:ln w="4445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5806440" y="1554480"/>
            <a:ext cx="5852160" cy="3291840"/>
          </a:xfrm>
          <a:prstGeom prst="roundRect">
            <a:avLst>
              <a:gd name="adj" fmla="val 2222"/>
            </a:avLst>
          </a:prstGeom>
          <a:solidFill>
            <a:srgbClr val="0B3B60"/>
          </a:solidFill>
          <a:ln w="9525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 txBox="1"/>
          <p:nvPr/>
        </p:nvSpPr>
        <p:spPr>
          <a:xfrm>
            <a:off x="5989320" y="1645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Code opens the file and confirms</a:t>
            </a:r>
            <a:endParaRPr lang="en-US" sz="1700" dirty="0"/>
          </a:p>
        </p:txBody>
      </p:sp>
      <p:sp>
        <p:nvSpPr>
          <p:cNvPr id="27" name="Text 24"/>
          <p:cNvSpPr txBox="1"/>
          <p:nvPr/>
        </p:nvSpPr>
        <p:spPr>
          <a:xfrm>
            <a:off x="5989320" y="2148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✓  F12 really says "TTM Revenue"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989320" y="2660904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✓  The value matches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989320" y="317296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✓  The formula points to those 12 cells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5989320" y="368503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✓  The headers say July to June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5989320" y="4197096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✓  The 12 numbers add up to 18,400,000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48640" y="5120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3B60"/>
                </a:solidFill>
              </a:rPr>
              <a:t>Code proves the AI read the file correctly. The analyst decides whether it's the right number to use.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11155680" y="6144768"/>
            <a:ext cx="146304" cy="146304"/>
          </a:xfrm>
          <a:prstGeom prst="rect">
            <a:avLst/>
          </a:prstGeom>
          <a:solidFill>
            <a:srgbClr val="0B3B60"/>
          </a:solidFill>
          <a:ln w="12700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 txBox="1"/>
          <p:nvPr/>
        </p:nvSpPr>
        <p:spPr>
          <a:xfrm>
            <a:off x="11356848" y="610819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Code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10652760" y="6144768"/>
            <a:ext cx="146304" cy="146304"/>
          </a:xfrm>
          <a:prstGeom prst="rect">
            <a:avLst/>
          </a:prstGeom>
          <a:solidFill>
            <a:srgbClr val="00A7E2"/>
          </a:solidFill>
          <a:ln w="12700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 txBox="1"/>
          <p:nvPr/>
        </p:nvSpPr>
        <p:spPr>
          <a:xfrm>
            <a:off x="10853928" y="610819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AI</a:t>
            </a:r>
            <a:endParaRPr lang="en-US" sz="10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B3B60"/>
                </a:solidFill>
              </a:rPr>
              <a:t>Independent review (optional)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9546336" y="237744"/>
            <a:ext cx="2167128" cy="978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9889067" y="292608"/>
            <a:ext cx="279400" cy="186813"/>
          </a:xfrm>
          <a:prstGeom prst="rect">
            <a:avLst/>
          </a:prstGeom>
          <a:solidFill>
            <a:srgbClr val="8A97A3"/>
          </a:solidFill>
          <a:ln w="9525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0219267" y="292608"/>
            <a:ext cx="330200" cy="186813"/>
          </a:xfrm>
          <a:prstGeom prst="rect">
            <a:avLst/>
          </a:prstGeom>
          <a:solidFill>
            <a:srgbClr val="00A7E2"/>
          </a:solidFill>
          <a:ln w="9525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0600267" y="292608"/>
            <a:ext cx="330200" cy="186813"/>
          </a:xfrm>
          <a:prstGeom prst="rect">
            <a:avLst/>
          </a:prstGeom>
          <a:solidFill>
            <a:srgbClr val="0B3B60"/>
          </a:solidFill>
          <a:ln w="9525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0981267" y="292608"/>
            <a:ext cx="313267" cy="186813"/>
          </a:xfrm>
          <a:prstGeom prst="rect">
            <a:avLst/>
          </a:prstGeom>
          <a:solidFill>
            <a:srgbClr val="FFFFFF"/>
          </a:solidFill>
          <a:ln w="31750">
            <a:solidFill>
              <a:srgbClr val="D1495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1345333" y="292608"/>
            <a:ext cx="313267" cy="186813"/>
          </a:xfrm>
          <a:prstGeom prst="rect">
            <a:avLst/>
          </a:prstGeom>
          <a:solidFill>
            <a:srgbClr val="FDEBD3"/>
          </a:solidFill>
          <a:ln w="9525">
            <a:solidFill>
              <a:srgbClr val="F2A5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9889067" y="572827"/>
            <a:ext cx="1769533" cy="102747"/>
          </a:xfrm>
          <a:prstGeom prst="rect">
            <a:avLst/>
          </a:prstGeom>
          <a:solidFill>
            <a:srgbClr val="E0EEEC"/>
          </a:solidFill>
          <a:ln w="9525">
            <a:solidFill>
              <a:srgbClr val="66A7A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9889067" y="768981"/>
            <a:ext cx="279400" cy="186813"/>
          </a:xfrm>
          <a:prstGeom prst="rect">
            <a:avLst/>
          </a:prstGeom>
          <a:solidFill>
            <a:srgbClr val="8A97A3"/>
          </a:solidFill>
          <a:ln w="9525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0219267" y="768981"/>
            <a:ext cx="330200" cy="186813"/>
          </a:xfrm>
          <a:prstGeom prst="rect">
            <a:avLst/>
          </a:prstGeom>
          <a:solidFill>
            <a:srgbClr val="D9F2FB"/>
          </a:solidFill>
          <a:ln w="9525">
            <a:solidFill>
              <a:srgbClr val="00A7E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0600267" y="768981"/>
            <a:ext cx="330200" cy="186813"/>
          </a:xfrm>
          <a:prstGeom prst="rect">
            <a:avLst/>
          </a:prstGeom>
          <a:solidFill>
            <a:srgbClr val="DCE5EE"/>
          </a:solidFill>
          <a:ln w="9525">
            <a:solidFill>
              <a:srgbClr val="0B3B6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10981267" y="768981"/>
            <a:ext cx="313267" cy="186813"/>
          </a:xfrm>
          <a:prstGeom prst="rect">
            <a:avLst/>
          </a:prstGeom>
          <a:solidFill>
            <a:srgbClr val="FDEBD3"/>
          </a:solidFill>
          <a:ln w="9525">
            <a:solidFill>
              <a:srgbClr val="F2A5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11345333" y="768981"/>
            <a:ext cx="313267" cy="186813"/>
          </a:xfrm>
          <a:prstGeom prst="rect">
            <a:avLst/>
          </a:prstGeom>
          <a:solidFill>
            <a:srgbClr val="DCE5EE"/>
          </a:solidFill>
          <a:ln w="9525">
            <a:solidFill>
              <a:srgbClr val="0B3B6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10219267" y="1039860"/>
            <a:ext cx="711200" cy="121428"/>
          </a:xfrm>
          <a:prstGeom prst="rect">
            <a:avLst/>
          </a:prstGeom>
          <a:solidFill>
            <a:srgbClr val="8A97A3"/>
          </a:solidFill>
          <a:ln w="9525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9601200" y="123444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D1495B"/>
                </a:solidFill>
              </a:rPr>
              <a:t>You are here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16459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66A7A2"/>
                </a:solidFill>
              </a:rPr>
              <a:t>9 of 9</a:t>
            </a:r>
            <a:endParaRPr lang="en-US" sz="54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2606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A33"/>
                </a:solidFill>
              </a:rPr>
              <a:t>core answers agreed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3383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3B60"/>
                </a:solidFill>
              </a:rPr>
              <a:t>Strong enough without it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4206240" y="1600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Differences between the two (mostly wording)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206240" y="1920240"/>
            <a:ext cx="6400800" cy="457200"/>
          </a:xfrm>
          <a:prstGeom prst="rect">
            <a:avLst/>
          </a:prstGeom>
          <a:solidFill>
            <a:srgbClr val="8A97A3"/>
          </a:solidFill>
          <a:ln w="9525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10716768" y="1920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33"/>
                </a:solidFill>
              </a:rPr>
              <a:t>38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4206240" y="2743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Questions sent to the analyst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206240" y="3063240"/>
            <a:ext cx="5727032" cy="457200"/>
          </a:xfrm>
          <a:prstGeom prst="rect">
            <a:avLst/>
          </a:prstGeom>
          <a:solidFill>
            <a:srgbClr val="D1495B"/>
          </a:solidFill>
          <a:ln w="9525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 txBox="1"/>
          <p:nvPr/>
        </p:nvSpPr>
        <p:spPr>
          <a:xfrm>
            <a:off x="10043000" y="3063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1495B"/>
                </a:solidFill>
              </a:rPr>
              <a:t>34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4206240" y="3886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Target: only real decisions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206240" y="4206240"/>
            <a:ext cx="842211" cy="457200"/>
          </a:xfrm>
          <a:prstGeom prst="rect">
            <a:avLst/>
          </a:prstGeom>
          <a:solidFill>
            <a:srgbClr val="E0EEEC"/>
          </a:solidFill>
          <a:ln w="25400">
            <a:solidFill>
              <a:srgbClr val="66A7A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 txBox="1"/>
          <p:nvPr/>
        </p:nvSpPr>
        <p:spPr>
          <a:xfrm>
            <a:off x="5158179" y="4206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6A7A2"/>
                </a:solidFill>
              </a:rPr>
              <a:t>about 5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4206240" y="5120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7A3"/>
                </a:solidFill>
              </a:rPr>
              <a:t>Dashed = target</a:t>
            </a:r>
            <a:endParaRPr lang="en-US" sz="11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B3B60"/>
                </a:solidFill>
              </a:rPr>
              <a:t>Testing and answer keys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9546336" y="237744"/>
            <a:ext cx="2167128" cy="978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9889067" y="292608"/>
            <a:ext cx="279400" cy="186813"/>
          </a:xfrm>
          <a:prstGeom prst="rect">
            <a:avLst/>
          </a:prstGeom>
          <a:solidFill>
            <a:srgbClr val="8A97A3"/>
          </a:solidFill>
          <a:ln w="9525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0219267" y="292608"/>
            <a:ext cx="330200" cy="186813"/>
          </a:xfrm>
          <a:prstGeom prst="rect">
            <a:avLst/>
          </a:prstGeom>
          <a:solidFill>
            <a:srgbClr val="00A7E2"/>
          </a:solidFill>
          <a:ln w="9525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0600267" y="292608"/>
            <a:ext cx="330200" cy="186813"/>
          </a:xfrm>
          <a:prstGeom prst="rect">
            <a:avLst/>
          </a:prstGeom>
          <a:solidFill>
            <a:srgbClr val="0B3B60"/>
          </a:solidFill>
          <a:ln w="9525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0981267" y="292608"/>
            <a:ext cx="313267" cy="186813"/>
          </a:xfrm>
          <a:prstGeom prst="rect">
            <a:avLst/>
          </a:prstGeom>
          <a:solidFill>
            <a:srgbClr val="FFFFFF"/>
          </a:solidFill>
          <a:ln w="9525">
            <a:solidFill>
              <a:srgbClr val="8A97A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1345333" y="292608"/>
            <a:ext cx="313267" cy="186813"/>
          </a:xfrm>
          <a:prstGeom prst="rect">
            <a:avLst/>
          </a:prstGeom>
          <a:solidFill>
            <a:srgbClr val="FDEBD3"/>
          </a:solidFill>
          <a:ln w="9525">
            <a:solidFill>
              <a:srgbClr val="F2A5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9889067" y="572827"/>
            <a:ext cx="1769533" cy="102747"/>
          </a:xfrm>
          <a:prstGeom prst="rect">
            <a:avLst/>
          </a:prstGeom>
          <a:solidFill>
            <a:srgbClr val="E0EEEC"/>
          </a:solidFill>
          <a:ln w="9525">
            <a:solidFill>
              <a:srgbClr val="66A7A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9889067" y="768981"/>
            <a:ext cx="279400" cy="186813"/>
          </a:xfrm>
          <a:prstGeom prst="rect">
            <a:avLst/>
          </a:prstGeom>
          <a:solidFill>
            <a:srgbClr val="8A97A3"/>
          </a:solidFill>
          <a:ln w="9525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0219267" y="768981"/>
            <a:ext cx="330200" cy="186813"/>
          </a:xfrm>
          <a:prstGeom prst="rect">
            <a:avLst/>
          </a:prstGeom>
          <a:solidFill>
            <a:srgbClr val="D9F2FB"/>
          </a:solidFill>
          <a:ln w="9525">
            <a:solidFill>
              <a:srgbClr val="00A7E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0600267" y="768981"/>
            <a:ext cx="330200" cy="186813"/>
          </a:xfrm>
          <a:prstGeom prst="rect">
            <a:avLst/>
          </a:prstGeom>
          <a:solidFill>
            <a:srgbClr val="DCE5EE"/>
          </a:solidFill>
          <a:ln w="9525">
            <a:solidFill>
              <a:srgbClr val="0B3B6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10981267" y="768981"/>
            <a:ext cx="313267" cy="186813"/>
          </a:xfrm>
          <a:prstGeom prst="rect">
            <a:avLst/>
          </a:prstGeom>
          <a:solidFill>
            <a:srgbClr val="FDEBD3"/>
          </a:solidFill>
          <a:ln w="9525">
            <a:solidFill>
              <a:srgbClr val="F2A5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11345333" y="768981"/>
            <a:ext cx="313267" cy="186813"/>
          </a:xfrm>
          <a:prstGeom prst="rect">
            <a:avLst/>
          </a:prstGeom>
          <a:solidFill>
            <a:srgbClr val="DCE5EE"/>
          </a:solidFill>
          <a:ln w="9525">
            <a:solidFill>
              <a:srgbClr val="0B3B6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10219267" y="1039860"/>
            <a:ext cx="711200" cy="121428"/>
          </a:xfrm>
          <a:prstGeom prst="rect">
            <a:avLst/>
          </a:prstGeom>
          <a:solidFill>
            <a:srgbClr val="8A97A3"/>
          </a:solidFill>
          <a:ln w="31750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9601200" y="123444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D1495B"/>
                </a:solidFill>
              </a:rPr>
              <a:t>You are here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48640" y="1600200"/>
            <a:ext cx="3611880" cy="2468880"/>
          </a:xfrm>
          <a:prstGeom prst="roundRect">
            <a:avLst>
              <a:gd name="adj" fmla="val 2963"/>
            </a:avLst>
          </a:prstGeom>
          <a:solidFill>
            <a:srgbClr val="0B3B60"/>
          </a:solidFill>
          <a:ln w="9525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731520" y="17373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253</a:t>
            </a:r>
            <a:endParaRPr lang="en-US" sz="4000" dirty="0"/>
          </a:p>
        </p:txBody>
      </p:sp>
      <p:sp>
        <p:nvSpPr>
          <p:cNvPr id="20" name="Text 17"/>
          <p:cNvSpPr txBox="1"/>
          <p:nvPr/>
        </p:nvSpPr>
        <p:spPr>
          <a:xfrm>
            <a:off x="731520" y="2560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tests passing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731520" y="301752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Code tests: invented workbooks with planted mistakes, all caught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297680" y="1600200"/>
            <a:ext cx="3611880" cy="2468880"/>
          </a:xfrm>
          <a:prstGeom prst="roundRect">
            <a:avLst>
              <a:gd name="adj" fmla="val 2963"/>
            </a:avLst>
          </a:prstGeom>
          <a:solidFill>
            <a:srgbClr val="66A7A2"/>
          </a:solidFill>
          <a:ln w="9525">
            <a:solidFill>
              <a:srgbClr val="66A7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4480560" y="17373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Hidden</a:t>
            </a:r>
            <a:endParaRPr lang="en-US" sz="4000" dirty="0"/>
          </a:p>
        </p:txBody>
      </p:sp>
      <p:sp>
        <p:nvSpPr>
          <p:cNvPr id="24" name="Text 21"/>
          <p:cNvSpPr txBox="1"/>
          <p:nvPr/>
        </p:nvSpPr>
        <p:spPr>
          <a:xfrm>
            <a:off x="4480560" y="2560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answer keys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4480560" y="301752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Written by a person before any run; never shown to the AI. Analyst review planned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8046720" y="1600200"/>
            <a:ext cx="3611880" cy="2468880"/>
          </a:xfrm>
          <a:prstGeom prst="roundRect">
            <a:avLst>
              <a:gd name="adj" fmla="val 2963"/>
            </a:avLst>
          </a:prstGeom>
          <a:solidFill>
            <a:srgbClr val="8A97A3"/>
          </a:solidFill>
          <a:ln w="9525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8229600" y="17373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Same files</a:t>
            </a:r>
            <a:endParaRPr lang="en-US" sz="4000" dirty="0"/>
          </a:p>
        </p:txBody>
      </p:sp>
      <p:sp>
        <p:nvSpPr>
          <p:cNvPr id="28" name="Text 25"/>
          <p:cNvSpPr txBox="1"/>
          <p:nvPr/>
        </p:nvSpPr>
        <p:spPr>
          <a:xfrm>
            <a:off x="8229600" y="2560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every run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8229600" y="301752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Each file gets a digital fingerprint when the AI reads it; grading only runs if the files are identical</a:t>
            </a:r>
            <a:endParaRPr lang="en-US" sz="13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548640" y="457200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B3B60"/>
                </a:solidFill>
              </a:rPr>
              <a:t>Examples the tests catch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864608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F2A33"/>
                </a:solidFill>
              </a:rPr>
              <a:t>A pasted number claimed as a formula link  ·  11 months added up instead of 12  ·  last quarter's numbers used as a decoy  ·  company value forced to match the fund  ·  hidden sheets  ·  a different set of files in the same run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486400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B3B60"/>
                </a:solidFill>
              </a:rPr>
              <a:t>Every run: </a:t>
            </a:r>
            <a:r>
              <a:rPr sz="1100" b="0" i="0">
                <a:solidFill>
                  <a:srgbClr val="1F2A33"/>
                </a:solidFill>
              </a:rPr>
              <a:t>AI ⇄ code checks, until every claim is proven or sent to the analyst.   </a:t>
            </a:r>
            <a:r>
              <a:rPr sz="1100" b="1" i="0">
                <a:solidFill>
                  <a:srgbClr val="0B3B60"/>
                </a:solidFill>
              </a:rPr>
              <a:t>Development only: </a:t>
            </a:r>
            <a:r>
              <a:rPr sz="1100" b="0" i="0">
                <a:solidFill>
                  <a:srgbClr val="1F2A33"/>
                </a:solidFill>
              </a:rPr>
              <a:t>test bench grades → I improve the skills → run again.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B3B60"/>
                </a:solidFill>
              </a:rPr>
              <a:t>Workbook build (planned)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9546336" y="237744"/>
            <a:ext cx="2167128" cy="978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9889067" y="292608"/>
            <a:ext cx="279400" cy="186813"/>
          </a:xfrm>
          <a:prstGeom prst="rect">
            <a:avLst/>
          </a:prstGeom>
          <a:solidFill>
            <a:srgbClr val="8A97A3"/>
          </a:solidFill>
          <a:ln w="9525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0219267" y="292608"/>
            <a:ext cx="330200" cy="186813"/>
          </a:xfrm>
          <a:prstGeom prst="rect">
            <a:avLst/>
          </a:prstGeom>
          <a:solidFill>
            <a:srgbClr val="00A7E2"/>
          </a:solidFill>
          <a:ln w="9525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0600267" y="292608"/>
            <a:ext cx="330200" cy="186813"/>
          </a:xfrm>
          <a:prstGeom prst="rect">
            <a:avLst/>
          </a:prstGeom>
          <a:solidFill>
            <a:srgbClr val="0B3B60"/>
          </a:solidFill>
          <a:ln w="9525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0981267" y="292608"/>
            <a:ext cx="313267" cy="186813"/>
          </a:xfrm>
          <a:prstGeom prst="rect">
            <a:avLst/>
          </a:prstGeom>
          <a:solidFill>
            <a:srgbClr val="FFFFFF"/>
          </a:solidFill>
          <a:ln w="9525">
            <a:solidFill>
              <a:srgbClr val="8A97A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1345333" y="292608"/>
            <a:ext cx="313267" cy="186813"/>
          </a:xfrm>
          <a:prstGeom prst="rect">
            <a:avLst/>
          </a:prstGeom>
          <a:solidFill>
            <a:srgbClr val="FDEBD3"/>
          </a:solidFill>
          <a:ln w="9525">
            <a:solidFill>
              <a:srgbClr val="F2A5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9889067" y="572827"/>
            <a:ext cx="1769533" cy="102747"/>
          </a:xfrm>
          <a:prstGeom prst="rect">
            <a:avLst/>
          </a:prstGeom>
          <a:solidFill>
            <a:srgbClr val="E0EEEC"/>
          </a:solidFill>
          <a:ln w="9525">
            <a:solidFill>
              <a:srgbClr val="66A7A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9889067" y="768981"/>
            <a:ext cx="279400" cy="186813"/>
          </a:xfrm>
          <a:prstGeom prst="rect">
            <a:avLst/>
          </a:prstGeom>
          <a:solidFill>
            <a:srgbClr val="8A97A3"/>
          </a:solidFill>
          <a:ln w="9525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0219267" y="768981"/>
            <a:ext cx="330200" cy="186813"/>
          </a:xfrm>
          <a:prstGeom prst="rect">
            <a:avLst/>
          </a:prstGeom>
          <a:solidFill>
            <a:srgbClr val="D9F2FB"/>
          </a:solidFill>
          <a:ln w="9525">
            <a:solidFill>
              <a:srgbClr val="00A7E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0600267" y="768981"/>
            <a:ext cx="330200" cy="186813"/>
          </a:xfrm>
          <a:prstGeom prst="rect">
            <a:avLst/>
          </a:prstGeom>
          <a:solidFill>
            <a:srgbClr val="DCE5EE"/>
          </a:solidFill>
          <a:ln w="9525">
            <a:solidFill>
              <a:srgbClr val="0B3B6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10981267" y="768981"/>
            <a:ext cx="313267" cy="186813"/>
          </a:xfrm>
          <a:prstGeom prst="rect">
            <a:avLst/>
          </a:prstGeom>
          <a:solidFill>
            <a:srgbClr val="FDEBD3"/>
          </a:solidFill>
          <a:ln w="9525">
            <a:solidFill>
              <a:srgbClr val="F2A5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11345333" y="768981"/>
            <a:ext cx="313267" cy="186813"/>
          </a:xfrm>
          <a:prstGeom prst="rect">
            <a:avLst/>
          </a:prstGeom>
          <a:solidFill>
            <a:srgbClr val="DCE5EE"/>
          </a:solidFill>
          <a:ln w="31750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10219267" y="1039860"/>
            <a:ext cx="711200" cy="121428"/>
          </a:xfrm>
          <a:prstGeom prst="rect">
            <a:avLst/>
          </a:prstGeom>
          <a:solidFill>
            <a:srgbClr val="8A97A3"/>
          </a:solidFill>
          <a:ln w="9525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9601200" y="123444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D1495B"/>
                </a:solidFill>
              </a:rPr>
              <a:t>You are here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48640" y="1737360"/>
            <a:ext cx="1691640" cy="1280160"/>
          </a:xfrm>
          <a:prstGeom prst="rect">
            <a:avLst/>
          </a:prstGeom>
          <a:solidFill>
            <a:srgbClr val="8A97A3"/>
          </a:solidFill>
          <a:ln w="12700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640080" y="180136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Inputs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23317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Latest workbook + new monthlies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2258568" y="2377440"/>
            <a:ext cx="155448" cy="914"/>
          </a:xfrm>
          <a:prstGeom prst="line">
            <a:avLst/>
          </a:prstGeom>
          <a:noFill/>
          <a:ln w="3810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2432304" y="1737360"/>
            <a:ext cx="1691640" cy="1280160"/>
          </a:xfrm>
          <a:prstGeom prst="rect">
            <a:avLst/>
          </a:prstGeom>
          <a:solidFill>
            <a:srgbClr val="00A7E2"/>
          </a:solidFill>
          <a:ln w="12700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2523744" y="180136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proposes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2523744" y="23317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Each change: value, source cell, target cell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142232" y="2377440"/>
            <a:ext cx="155448" cy="914"/>
          </a:xfrm>
          <a:prstGeom prst="line">
            <a:avLst/>
          </a:prstGeom>
          <a:noFill/>
          <a:ln w="3810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4315968" y="1737360"/>
            <a:ext cx="1691640" cy="1280160"/>
          </a:xfrm>
          <a:prstGeom prst="rect">
            <a:avLst/>
          </a:prstGeom>
          <a:solidFill>
            <a:srgbClr val="0B3B60"/>
          </a:solidFill>
          <a:ln w="12700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4407408" y="180136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Code checks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4407408" y="23317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Each proposal, against files and memory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025896" y="2377440"/>
            <a:ext cx="155448" cy="914"/>
          </a:xfrm>
          <a:prstGeom prst="line">
            <a:avLst/>
          </a:prstGeom>
          <a:noFill/>
          <a:ln w="3810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6199632" y="1737360"/>
            <a:ext cx="1691640" cy="1280160"/>
          </a:xfrm>
          <a:prstGeom prst="rect">
            <a:avLst/>
          </a:prstGeom>
          <a:solidFill>
            <a:srgbClr val="0B3B60"/>
          </a:solidFill>
          <a:ln w="12700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 txBox="1"/>
          <p:nvPr/>
        </p:nvSpPr>
        <p:spPr>
          <a:xfrm>
            <a:off x="6291072" y="180136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Code sorts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6291072" y="23317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Pass, to the analyst, or stop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7909560" y="2377440"/>
            <a:ext cx="155448" cy="914"/>
          </a:xfrm>
          <a:prstGeom prst="line">
            <a:avLst/>
          </a:prstGeom>
          <a:noFill/>
          <a:ln w="3810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8083296" y="1737360"/>
            <a:ext cx="1691640" cy="1280160"/>
          </a:xfrm>
          <a:prstGeom prst="rect">
            <a:avLst/>
          </a:prstGeom>
          <a:solidFill>
            <a:srgbClr val="0B3B60"/>
          </a:solidFill>
          <a:ln w="12700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 txBox="1"/>
          <p:nvPr/>
        </p:nvSpPr>
        <p:spPr>
          <a:xfrm>
            <a:off x="8174736" y="180136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Code changes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8174736" y="23317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Standard actions only, with a source note on every typed number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9793224" y="2377440"/>
            <a:ext cx="155448" cy="914"/>
          </a:xfrm>
          <a:prstGeom prst="line">
            <a:avLst/>
          </a:prstGeom>
          <a:noFill/>
          <a:ln w="3810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9966960" y="1737360"/>
            <a:ext cx="1691640" cy="1280160"/>
          </a:xfrm>
          <a:prstGeom prst="rect">
            <a:avLst/>
          </a:prstGeom>
          <a:solidFill>
            <a:srgbClr val="0B3B60"/>
          </a:solidFill>
          <a:ln w="12700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 txBox="1"/>
          <p:nvPr/>
        </p:nvSpPr>
        <p:spPr>
          <a:xfrm>
            <a:off x="10058400" y="180136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Code checks all</a:t>
            </a:r>
            <a:endParaRPr lang="en-US" sz="1400" dirty="0"/>
          </a:p>
        </p:txBody>
      </p:sp>
      <p:sp>
        <p:nvSpPr>
          <p:cNvPr id="40" name="Text 37"/>
          <p:cNvSpPr txBox="1"/>
          <p:nvPr/>
        </p:nvSpPr>
        <p:spPr>
          <a:xfrm>
            <a:off x="10058400" y="23317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Whole workbook, before vs after. Out: new workbook + change log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7045452" y="3035808"/>
            <a:ext cx="914" cy="667512"/>
          </a:xfrm>
          <a:prstGeom prst="line">
            <a:avLst/>
          </a:prstGeom>
          <a:noFill/>
          <a:ln w="38100">
            <a:solidFill>
              <a:srgbClr val="F2A54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5673852" y="374904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2A541"/>
          </a:solidFill>
          <a:ln w="9525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 txBox="1"/>
          <p:nvPr/>
        </p:nvSpPr>
        <p:spPr>
          <a:xfrm>
            <a:off x="5811012" y="379476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33"/>
                </a:solidFill>
              </a:rPr>
              <a:t>Not confident? To the analyst</a:t>
            </a:r>
            <a:endParaRPr lang="en-US" sz="1300" dirty="0"/>
          </a:p>
        </p:txBody>
      </p:sp>
      <p:sp>
        <p:nvSpPr>
          <p:cNvPr id="44" name="Shape 41"/>
          <p:cNvSpPr/>
          <p:nvPr/>
        </p:nvSpPr>
        <p:spPr>
          <a:xfrm>
            <a:off x="548640" y="3749040"/>
            <a:ext cx="4846320" cy="914400"/>
          </a:xfrm>
          <a:prstGeom prst="roundRect">
            <a:avLst>
              <a:gd name="adj" fmla="val 8000"/>
            </a:avLst>
          </a:prstGeom>
          <a:solidFill>
            <a:srgbClr val="FDEBD3"/>
          </a:solidFill>
          <a:ln w="9525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 txBox="1"/>
          <p:nvPr/>
        </p:nvSpPr>
        <p:spPr>
          <a:xfrm>
            <a:off x="685800" y="37490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33"/>
                </a:solidFill>
              </a:rPr>
              <a:t>Open question: fill in a highlighted suggestion, or leave it blank?</a:t>
            </a:r>
            <a:endParaRPr lang="en-US" sz="1300" dirty="0"/>
          </a:p>
        </p:txBody>
      </p:sp>
      <p:sp>
        <p:nvSpPr>
          <p:cNvPr id="47" name="Shape 44"/>
          <p:cNvSpPr/>
          <p:nvPr/>
        </p:nvSpPr>
        <p:spPr>
          <a:xfrm>
            <a:off x="10949940" y="6144768"/>
            <a:ext cx="146304" cy="146304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 txBox="1"/>
          <p:nvPr/>
        </p:nvSpPr>
        <p:spPr>
          <a:xfrm>
            <a:off x="11151108" y="6108192"/>
            <a:ext cx="5257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Analyst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10309860" y="6144768"/>
            <a:ext cx="146304" cy="146304"/>
          </a:xfrm>
          <a:prstGeom prst="rect">
            <a:avLst/>
          </a:prstGeom>
          <a:solidFill>
            <a:srgbClr val="0B3B60"/>
          </a:solidFill>
          <a:ln w="12700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 txBox="1"/>
          <p:nvPr/>
        </p:nvSpPr>
        <p:spPr>
          <a:xfrm>
            <a:off x="10511028" y="610819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Code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9806940" y="6144768"/>
            <a:ext cx="146304" cy="146304"/>
          </a:xfrm>
          <a:prstGeom prst="rect">
            <a:avLst/>
          </a:prstGeom>
          <a:solidFill>
            <a:srgbClr val="00A7E2"/>
          </a:solidFill>
          <a:ln w="12700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9"/>
          <p:cNvSpPr txBox="1"/>
          <p:nvPr/>
        </p:nvSpPr>
        <p:spPr>
          <a:xfrm>
            <a:off x="10008108" y="610819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AI</a:t>
            </a:r>
            <a:endParaRPr lang="en-US" sz="10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  <p:sp>
        <p:nvSpPr>
          <p:cNvPr id="53" name="TextBox 52"/>
          <p:cNvSpPr txBox="1"/>
          <p:nvPr/>
        </p:nvSpPr>
        <p:spPr>
          <a:xfrm>
            <a:off x="548640" y="544068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B3B60"/>
                </a:solidFill>
              </a:rPr>
              <a:t>Change log: </a:t>
            </a:r>
            <a:r>
              <a:rPr sz="1200" b="0" i="0">
                <a:solidFill>
                  <a:srgbClr val="1F2A33"/>
                </a:solidFill>
              </a:rPr>
              <a:t>"this quarter only" (a one-off adjustment) or "permanent, saved to memory" (for example an acquisition, with new rows approved once).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4846320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B3B60"/>
                </a:solidFill>
              </a:rPr>
              <a:t>Confidence: </a:t>
            </a:r>
            <a:r>
              <a:rPr sz="1200" b="0" i="0">
                <a:solidFill>
                  <a:srgbClr val="1F2A33"/>
                </a:solidFill>
              </a:rPr>
              <a:t>only when every check passes, it matches memory exactly, no sources disagree, and the change from last quarter is in a normal range. Code decides this, not the AI.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  <p:sp>
        <p:nvSpPr>
          <p:cNvPr id="2" name="Text 0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B3B60"/>
                </a:solidFill>
              </a:rPr>
              <a:t>Caveats and known weaknesses</a:t>
            </a:r>
            <a:endParaRPr lang="en-US" sz="2800" dirty="0"/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3566160" cy="3931920"/>
          </a:xfrm>
          <a:prstGeom prst="rect">
            <a:avLst/>
          </a:prstGeom>
          <a:solidFill>
            <a:srgbClr val="F6DCE0"/>
          </a:solidFill>
          <a:ln w="12700">
            <a:solidFill>
              <a:srgbClr val="D149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B3B60"/>
                </a:solidFill>
              </a:rPr>
              <a:t>Caveats on today's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3200400" cy="3749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28600" algn="l">
              <a:spcAft>
                <a:spcPts val="600"/>
              </a:spcAft>
              <a:buChar char="•"/>
            </a:pPr>
            <a:r>
              <a:rPr sz="1200" b="0" i="0">
                <a:solidFill>
                  <a:srgbClr val="1F2A33"/>
                </a:solidFill>
              </a:rPr>
              <a:t>Two companies, one run each</a:t>
            </a:r>
          </a:p>
          <a:p>
            <a:pPr marL="228600" indent="-228600" algn="l">
              <a:spcAft>
                <a:spcPts val="600"/>
              </a:spcAft>
              <a:buChar char="•"/>
            </a:pPr>
            <a:r>
              <a:rPr sz="1200" b="0" i="0">
                <a:solidFill>
                  <a:srgbClr val="1F2A33"/>
                </a:solidFill>
              </a:rPr>
              <a:t>Answer keys written by me; analyst review planned</a:t>
            </a:r>
          </a:p>
          <a:p>
            <a:pPr marL="228600" indent="-228600" algn="l">
              <a:spcAft>
                <a:spcPts val="600"/>
              </a:spcAft>
              <a:buChar char="•"/>
            </a:pPr>
            <a:r>
              <a:rPr sz="1200" b="0" i="0">
                <a:solidFill>
                  <a:srgbClr val="1F2A33"/>
                </a:solidFill>
              </a:rPr>
              <a:t>9 metrics is a small sample: one miss is 89%</a:t>
            </a:r>
          </a:p>
          <a:p>
            <a:pPr marL="228600" indent="-228600" algn="l">
              <a:spcAft>
                <a:spcPts val="600"/>
              </a:spcAft>
              <a:buChar char="•"/>
            </a:pPr>
            <a:r>
              <a:rPr sz="1200" b="0" i="0">
                <a:solidFill>
                  <a:srgbClr val="1F2A33"/>
                </a:solidFill>
              </a:rPr>
              <a:t>A third, differently built company is the real test</a:t>
            </a:r>
          </a:p>
          <a:p>
            <a:pPr marL="228600" indent="-228600" algn="l">
              <a:spcAft>
                <a:spcPts val="600"/>
              </a:spcAft>
              <a:buChar char="•"/>
            </a:pPr>
            <a:r>
              <a:rPr sz="1200" b="0" i="0">
                <a:solidFill>
                  <a:srgbClr val="1F2A33"/>
                </a:solidFill>
              </a:rPr>
              <a:t>One right period proven from numbers, not date headers</a:t>
            </a:r>
          </a:p>
          <a:p>
            <a:pPr marL="228600" indent="-228600" algn="l">
              <a:spcAft>
                <a:spcPts val="600"/>
              </a:spcAft>
              <a:buChar char="•"/>
            </a:pPr>
            <a:r>
              <a:rPr sz="1200" b="0" i="0">
                <a:solidFill>
                  <a:srgbClr val="1F2A33"/>
                </a:solidFill>
              </a:rPr>
              <a:t>12 extra checks on Opus not yet graded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79" y="1417320"/>
            <a:ext cx="3566160" cy="3931920"/>
          </a:xfrm>
          <a:prstGeom prst="rect">
            <a:avLst/>
          </a:prstGeom>
          <a:solidFill>
            <a:srgbClr val="F4F7F9"/>
          </a:solidFill>
          <a:ln w="12700">
            <a:solidFill>
              <a:srgbClr val="8A97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80559" y="155448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B3B60"/>
                </a:solidFill>
              </a:rPr>
              <a:t>Known weaknesses, even in the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59" y="2057400"/>
            <a:ext cx="3200400" cy="3749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28600" algn="l">
              <a:spcAft>
                <a:spcPts val="600"/>
              </a:spcAft>
              <a:buChar char="•"/>
            </a:pPr>
            <a:r>
              <a:rPr sz="1200" b="0" i="0">
                <a:solidFill>
                  <a:srgbClr val="1F2A33"/>
                </a:solidFill>
              </a:rPr>
              <a:t>An approved mistake repeats every quarter</a:t>
            </a:r>
          </a:p>
          <a:p>
            <a:pPr marL="228600" indent="-228600" algn="l">
              <a:spcAft>
                <a:spcPts val="600"/>
              </a:spcAft>
              <a:buChar char="•"/>
            </a:pPr>
            <a:r>
              <a:rPr sz="1200" b="0" i="0">
                <a:solidFill>
                  <a:srgbClr val="1F2A33"/>
                </a:solidFill>
              </a:rPr>
              <a:t>Pasted numbers can be matched, not traced to a source</a:t>
            </a:r>
          </a:p>
          <a:p>
            <a:pPr marL="228600" indent="-228600" algn="l">
              <a:spcAft>
                <a:spcPts val="600"/>
              </a:spcAft>
              <a:buChar char="•"/>
            </a:pPr>
            <a:r>
              <a:rPr sz="1200" b="0" i="0">
                <a:solidFill>
                  <a:srgbClr val="1F2A33"/>
                </a:solidFill>
              </a:rPr>
              <a:t>New sheets or acquisitions always go to the analyst</a:t>
            </a:r>
          </a:p>
          <a:p>
            <a:pPr marL="228600" indent="-228600" algn="l">
              <a:spcAft>
                <a:spcPts val="600"/>
              </a:spcAft>
              <a:buChar char="•"/>
            </a:pPr>
            <a:r>
              <a:rPr sz="1200" b="0" i="0">
                <a:solidFill>
                  <a:srgbClr val="1F2A33"/>
                </a:solidFill>
              </a:rPr>
              <a:t>The analyst may wave items through</a:t>
            </a:r>
          </a:p>
          <a:p>
            <a:pPr marL="228600" indent="-228600" algn="l">
              <a:spcAft>
                <a:spcPts val="600"/>
              </a:spcAft>
              <a:buChar char="•"/>
            </a:pPr>
            <a:r>
              <a:rPr sz="1200" b="0" i="0">
                <a:solidFill>
                  <a:srgbClr val="1F2A33"/>
                </a:solidFill>
              </a:rPr>
              <a:t>The AI may skip its tools, and Microsoft's checkpoints can fail open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19" y="1417320"/>
            <a:ext cx="3566160" cy="3931920"/>
          </a:xfrm>
          <a:prstGeom prst="rect">
            <a:avLst/>
          </a:prstGeom>
          <a:solidFill>
            <a:srgbClr val="E0EEEC"/>
          </a:solidFill>
          <a:ln w="12700">
            <a:solidFill>
              <a:srgbClr val="66A7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599" y="155448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B3B60"/>
                </a:solidFill>
              </a:rPr>
              <a:t>What we're doing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9" y="2057400"/>
            <a:ext cx="3200400" cy="3749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28600" algn="l">
              <a:spcAft>
                <a:spcPts val="600"/>
              </a:spcAft>
              <a:buChar char="•"/>
            </a:pPr>
            <a:r>
              <a:rPr sz="1200" b="0" i="0">
                <a:solidFill>
                  <a:srgbClr val="1F2A33"/>
                </a:solidFill>
              </a:rPr>
              <a:t>A third, differently built company next</a:t>
            </a:r>
          </a:p>
          <a:p>
            <a:pPr marL="228600" indent="-228600" algn="l">
              <a:spcAft>
                <a:spcPts val="600"/>
              </a:spcAft>
              <a:buChar char="•"/>
            </a:pPr>
            <a:r>
              <a:rPr sz="1200" b="0" i="0">
                <a:solidFill>
                  <a:srgbClr val="1F2A33"/>
                </a:solidFill>
              </a:rPr>
              <a:t>Three repeat runs per company</a:t>
            </a:r>
          </a:p>
          <a:p>
            <a:pPr marL="228600" indent="-228600" algn="l">
              <a:spcAft>
                <a:spcPts val="600"/>
              </a:spcAft>
              <a:buChar char="•"/>
            </a:pPr>
            <a:r>
              <a:rPr sz="1200" b="0" i="0">
                <a:solidFill>
                  <a:srgbClr val="1F2A33"/>
                </a:solidFill>
              </a:rPr>
              <a:t>Analysts review the answer keys</a:t>
            </a:r>
          </a:p>
          <a:p>
            <a:pPr marL="228600" indent="-228600" algn="l">
              <a:spcAft>
                <a:spcPts val="600"/>
              </a:spcAft>
              <a:buChar char="•"/>
            </a:pPr>
            <a:r>
              <a:rPr sz="1200" b="0" i="0">
                <a:solidFill>
                  <a:srgbClr val="1F2A33"/>
                </a:solidFill>
              </a:rPr>
              <a:t>Quarter-on-quarter checks flag unusual changes</a:t>
            </a:r>
          </a:p>
          <a:p>
            <a:pPr marL="228600" indent="-228600" algn="l">
              <a:spcAft>
                <a:spcPts val="600"/>
              </a:spcAft>
              <a:buChar char="•"/>
            </a:pPr>
            <a:r>
              <a:rPr sz="1200" b="0" i="0">
                <a:solidFill>
                  <a:srgbClr val="1F2A33"/>
                </a:solidFill>
              </a:rPr>
              <a:t>Our own final gate: report plus fingerprints</a:t>
            </a:r>
          </a:p>
          <a:p>
            <a:pPr marL="228600" indent="-228600" algn="l">
              <a:spcAft>
                <a:spcPts val="600"/>
              </a:spcAft>
              <a:buChar char="•"/>
            </a:pPr>
            <a:r>
              <a:rPr sz="1200" b="0" i="0">
                <a:solidFill>
                  <a:srgbClr val="1F2A33"/>
                </a:solidFill>
              </a:rPr>
              <a:t>One design for every company; company details live only in memory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8812" y="6108192"/>
            <a:ext cx="58978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8A97A3"/>
                </a:solidFill>
              </a:rPr>
              <a:t>Working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867644" y="6144768"/>
            <a:ext cx="146304" cy="146304"/>
          </a:xfrm>
          <a:prstGeom prst="rect">
            <a:avLst/>
          </a:prstGeom>
          <a:solidFill>
            <a:srgbClr val="66A7A2"/>
          </a:solidFill>
          <a:ln w="12700">
            <a:solidFill>
              <a:srgbClr val="66A7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94976" y="6108192"/>
            <a:ext cx="58978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8A97A3"/>
                </a:solidFill>
              </a:rPr>
              <a:t>Problem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93808" y="6144768"/>
            <a:ext cx="146304" cy="146304"/>
          </a:xfrm>
          <a:prstGeom prst="rect">
            <a:avLst/>
          </a:prstGeom>
          <a:solidFill>
            <a:srgbClr val="D1495B"/>
          </a:solidFill>
          <a:ln w="12700">
            <a:solidFill>
              <a:srgbClr val="D149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B3B60"/>
                </a:solidFill>
              </a:rPr>
              <a:t>Glossary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11109960" cy="420624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731520" y="141732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B60"/>
                </a:solidFill>
              </a:rPr>
              <a:t>Roll-forward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3566160" y="141732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Updating last quarter's workbook with the new quarter's numbers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874520"/>
            <a:ext cx="11109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731520" y="187452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B60"/>
                </a:solidFill>
              </a:rPr>
              <a:t>Studio build (today)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3566160" y="187452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The Copilot Studio agents built so far: extractor, optional reviewer, test bench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331720"/>
            <a:ext cx="11109960" cy="420624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731520" y="233172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B60"/>
                </a:solidFill>
              </a:rPr>
              <a:t>Knowledge base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3566160" y="233172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XPV's documentation of how valuations are built, including add-backs and categories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2788920"/>
            <a:ext cx="11109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731520" y="278892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B60"/>
                </a:solidFill>
              </a:rPr>
              <a:t>Trace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3566160" y="278892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Follow formulas from one cell back to where its numbers come from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3246120"/>
            <a:ext cx="11109960" cy="420624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731520" y="324612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B60"/>
                </a:solidFill>
              </a:rPr>
              <a:t>Answer key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3566160" y="324612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Correct answers written before any run, hidden from the AI, used only to grade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48640" y="3703320"/>
            <a:ext cx="11109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731520" y="370332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B60"/>
                </a:solidFill>
              </a:rPr>
              <a:t>Company memory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3566160" y="370332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What the analyst approved for a company, reused each quarter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48640" y="4160520"/>
            <a:ext cx="11109960" cy="420624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731520" y="416052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B60"/>
                </a:solidFill>
              </a:rPr>
              <a:t>Backtest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3566160" y="416052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A test on past quarters where we already know the right answer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48640" y="4617720"/>
            <a:ext cx="11109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 txBox="1"/>
          <p:nvPr/>
        </p:nvSpPr>
        <p:spPr>
          <a:xfrm>
            <a:off x="731520" y="461772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B60"/>
                </a:solidFill>
              </a:rPr>
              <a:t>Multiple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3566160" y="461772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The number the analyst picks to turn earnings into a company value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548640" y="5074920"/>
            <a:ext cx="11109960" cy="420624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 txBox="1"/>
          <p:nvPr/>
        </p:nvSpPr>
        <p:spPr>
          <a:xfrm>
            <a:off x="731520" y="507492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B60"/>
                </a:solidFill>
              </a:rPr>
              <a:t>Look-alike number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3566160" y="507492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A real number that seems right but isn't the one to use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548640" y="5532120"/>
            <a:ext cx="11109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 txBox="1"/>
          <p:nvPr/>
        </p:nvSpPr>
        <p:spPr>
          <a:xfrm>
            <a:off x="731520" y="553212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B60"/>
                </a:solidFill>
              </a:rPr>
              <a:t>Investor report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3566160" y="553212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What XPV reports to its investors</a:t>
            </a:r>
            <a:endParaRPr lang="en-US" sz="13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  <p:sp>
        <p:nvSpPr>
          <p:cNvPr id="2" name="Text 0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B3B60"/>
                </a:solidFill>
              </a:rPr>
              <a:t>Glossary (continued)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11109960" cy="420624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731520" y="141732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B60"/>
                </a:solidFill>
              </a:rPr>
              <a:t>Studio build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3566160" y="141732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The streamlined target: extractor, checking code, workbook builder, company memory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874520"/>
            <a:ext cx="11109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731520" y="187452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B60"/>
                </a:solidFill>
              </a:rPr>
              <a:t>Extractor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3566160" y="187452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The AI agent that traces how a company's value is built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331720"/>
            <a:ext cx="11109960" cy="420624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731520" y="233172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B60"/>
                </a:solidFill>
              </a:rPr>
              <a:t>Test bench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3566160" y="233172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Grades runs against hidden answer keys; development only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2788920"/>
            <a:ext cx="11109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731520" y="278892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B60"/>
                </a:solidFill>
              </a:rPr>
              <a:t>Harness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3566160" y="278892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Microsoft's engine that runs the AI and picks which tools it uses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3246120"/>
            <a:ext cx="11109960" cy="420624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731520" y="324612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B60"/>
                </a:solidFill>
              </a:rPr>
              <a:t>Skill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3566160" y="324612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A packaged set of instructions and tested code the AI can use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48640" y="3703320"/>
            <a:ext cx="11109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731520" y="370332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B60"/>
                </a:solidFill>
              </a:rPr>
              <a:t>Sandbox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3566160" y="370332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A temporary workspace where code runs; wiped after each conversation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48640" y="4160520"/>
            <a:ext cx="11109960" cy="420624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731520" y="416052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B60"/>
                </a:solidFill>
              </a:rPr>
              <a:t>Hook (preview)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3566160" y="416052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An automatic checkpoint the platform runs at set moments; still a test version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48640" y="4617720"/>
            <a:ext cx="11109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 txBox="1"/>
          <p:nvPr/>
        </p:nvSpPr>
        <p:spPr>
          <a:xfrm>
            <a:off x="731520" y="461772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B60"/>
                </a:solidFill>
              </a:rPr>
              <a:t>Fails open / fails closed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3566160" y="461772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If a check breaks: "open" lets things through, "closed" stops them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548640" y="5074920"/>
            <a:ext cx="11109960" cy="420624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 txBox="1"/>
          <p:nvPr/>
        </p:nvSpPr>
        <p:spPr>
          <a:xfrm>
            <a:off x="731520" y="507492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B60"/>
                </a:solidFill>
              </a:rPr>
              <a:t>Fingerprint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3566160" y="507492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A digital code for a file; any change to the file changes the code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548640" y="5532120"/>
            <a:ext cx="11109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 txBox="1"/>
          <p:nvPr/>
        </p:nvSpPr>
        <p:spPr>
          <a:xfrm>
            <a:off x="731520" y="553212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B60"/>
                </a:solidFill>
              </a:rPr>
              <a:t>Connector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3566160" y="553212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A configured link to another system, such as SharePoint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22</a:t>
            </a:fld>
            <a:endParaRPr lang="en-US"/>
          </a:p>
        </p:txBody>
      </p:sp>
      <p:sp>
        <p:nvSpPr>
          <p:cNvPr id="2" name="Text 0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B3B60"/>
                </a:solidFill>
              </a:rPr>
              <a:t>Sources</a:t>
            </a:r>
            <a:endParaRPr lang="en-US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B3B60"/>
                </a:solidFill>
                <a:hlinkClick r:id="rId3"/>
              </a:rPr>
              <a:t>Vals AI, Excel Modeling Benchmark (updated October 12, 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8A97A3"/>
                </a:solidFill>
              </a:rPr>
              <a:t>Best AI scores on Excel finance models; formulas vs numbers; long chains score lowest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29967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B3B60"/>
                </a:solidFill>
                <a:hlinkClick r:id="rId4"/>
              </a:rPr>
              <a:t>Microsoft, GitHub Copilot harness, agent skills and richer context (2026)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04287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8A97A3"/>
                </a:solidFill>
              </a:rPr>
              <a:t>What the harness is; skills; each task runs in a sandbox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88336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B3B60"/>
                </a:solidFill>
                <a:hlinkClick r:id="rId5"/>
              </a:rPr>
              <a:t>Microsoft Copilot Studio team, The New Copilot Studio Agent Sandbox (2026)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62656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8A97A3"/>
                </a:solidFill>
              </a:rPr>
              <a:t>The AI decides whether to use a skill; no internet; nothing kept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46704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B3B60"/>
                </a:solidFill>
                <a:hlinkClick r:id="rId6"/>
              </a:rPr>
              <a:t>Microsoft Copilot Studio team, Hooks in Copilot Studio (October 12, 2026)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621024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8A97A3"/>
                </a:solidFill>
              </a:rPr>
              <a:t>Automatic checkpoints; preview; fail open, so essential checks must be enforced separately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05072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B3B60"/>
                </a:solidFill>
                <a:hlinkClick r:id="rId7"/>
              </a:rPr>
              <a:t>OpenAI, Why language models hallucinate (September 2025)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79392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8A97A3"/>
                </a:solidFill>
              </a:rPr>
              <a:t>AI is rewarded for guessing over admitting doubt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6344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B3B60"/>
                </a:solidFill>
                <a:hlinkClick r:id="rId8"/>
              </a:rPr>
              <a:t>METR, Recent frontier models are reward hacking (June 2025)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937759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8A97A3"/>
                </a:solidFill>
              </a:rPr>
              <a:t>Top models take shortcuts while aware it isn't what users want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321808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B3B60"/>
                </a:solidFill>
                <a:hlinkClick r:id="rId9"/>
              </a:rPr>
              <a:t>Cursor, Reward hacking is swamping model intelligence gains (June 2026)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596128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8A97A3"/>
                </a:solidFill>
              </a:rPr>
              <a:t>Shortcuts are more common in newer models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4518</Words>
  <Application>Microsoft Office PowerPoint</Application>
  <PresentationFormat>Widescreen</PresentationFormat>
  <Paragraphs>577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XPV Valuation Automation - CEO Briefing v5</dc:title>
  <dc:subject>PptxGenJS Presentation</dc:subject>
  <dc:creator>PptxGenJS</dc:creator>
  <cp:lastModifiedBy>Aria Druker</cp:lastModifiedBy>
  <cp:revision>1</cp:revision>
  <dcterms:created xsi:type="dcterms:W3CDTF">2026-10-15T01:54:12Z</dcterms:created>
  <dcterms:modified xsi:type="dcterms:W3CDTF">2026-10-15T21:52:31Z</dcterms:modified>
</cp:coreProperties>
</file>