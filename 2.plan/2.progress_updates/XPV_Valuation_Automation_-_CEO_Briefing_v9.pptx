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77" r:id="rId7"/>
    <p:sldId id="263" r:id="rId8"/>
    <p:sldId id="264" r:id="rId9"/>
    <p:sldId id="259" r:id="rId10"/>
    <p:sldId id="271" r:id="rId11"/>
    <p:sldId id="265" r:id="rId12"/>
    <p:sldId id="266" r:id="rId13"/>
    <p:sldId id="267" r:id="rId14"/>
    <p:sldId id="268" r:id="rId15"/>
    <p:sldId id="270" r:id="rId16"/>
    <p:sldId id="269" r:id="rId17"/>
    <p:sldId id="272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24AF5-817A-41B1-BD17-60EE454C914F}" v="6" dt="2026-10-15T14:02:34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022" autoAdjust="0"/>
  </p:normalViewPr>
  <p:slideViewPr>
    <p:cSldViewPr snapToGrid="0" snapToObjects="1">
      <p:cViewPr varScale="1">
        <p:scale>
          <a:sx n="44" d="100"/>
          <a:sy n="44" d="100"/>
        </p:scale>
        <p:origin x="1011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 Druker" userId="4df1af69-80de-47bc-b057-d5185b09c5fc" providerId="ADAL" clId="{F3C205D8-FD4F-45E7-B3B5-44D147A799DB}"/>
    <pc:docChg chg="undo custSel modSld">
      <pc:chgData name="Aria Druker" userId="4df1af69-80de-47bc-b057-d5185b09c5fc" providerId="ADAL" clId="{F3C205D8-FD4F-45E7-B3B5-44D147A799DB}" dt="2026-10-16T13:58:16.237" v="488" actId="20577"/>
      <pc:docMkLst>
        <pc:docMk/>
      </pc:docMkLst>
      <pc:sldChg chg="modSp mod">
        <pc:chgData name="Aria Druker" userId="4df1af69-80de-47bc-b057-d5185b09c5fc" providerId="ADAL" clId="{F3C205D8-FD4F-45E7-B3B5-44D147A799DB}" dt="2026-10-15T14:10:13.085" v="297" actId="20577"/>
        <pc:sldMkLst>
          <pc:docMk/>
          <pc:sldMk cId="0" sldId="256"/>
        </pc:sldMkLst>
        <pc:spChg chg="mod">
          <ac:chgData name="Aria Druker" userId="4df1af69-80de-47bc-b057-d5185b09c5fc" providerId="ADAL" clId="{F3C205D8-FD4F-45E7-B3B5-44D147A799DB}" dt="2026-10-15T14:10:13.085" v="297" actId="20577"/>
          <ac:spMkLst>
            <pc:docMk/>
            <pc:sldMk cId="0" sldId="256"/>
            <ac:spMk id="3" creationId="{00000000-0000-0000-0000-000000000000}"/>
          </ac:spMkLst>
        </pc:spChg>
      </pc:sldChg>
      <pc:sldChg chg="modNotesTx">
        <pc:chgData name="Aria Druker" userId="4df1af69-80de-47bc-b057-d5185b09c5fc" providerId="ADAL" clId="{F3C205D8-FD4F-45E7-B3B5-44D147A799DB}" dt="2026-10-16T13:58:16.237" v="488" actId="20577"/>
        <pc:sldMkLst>
          <pc:docMk/>
          <pc:sldMk cId="0" sldId="258"/>
        </pc:sldMkLst>
      </pc:sldChg>
      <pc:sldChg chg="delSp modSp mod modNotesTx">
        <pc:chgData name="Aria Druker" userId="4df1af69-80de-47bc-b057-d5185b09c5fc" providerId="ADAL" clId="{F3C205D8-FD4F-45E7-B3B5-44D147A799DB}" dt="2026-10-15T14:12:53.402" v="358" actId="20577"/>
        <pc:sldMkLst>
          <pc:docMk/>
          <pc:sldMk cId="0" sldId="259"/>
        </pc:sldMkLst>
        <pc:spChg chg="mod">
          <ac:chgData name="Aria Druker" userId="4df1af69-80de-47bc-b057-d5185b09c5fc" providerId="ADAL" clId="{F3C205D8-FD4F-45E7-B3B5-44D147A799DB}" dt="2026-10-15T13:33:54.185" v="13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7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33:35.053" v="1" actId="478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16:06.040" v="377" actId="20577"/>
        <pc:sldMkLst>
          <pc:docMk/>
          <pc:sldMk cId="0" sldId="260"/>
        </pc:sldMkLst>
        <pc:spChg chg="mod">
          <ac:chgData name="Aria Druker" userId="4df1af69-80de-47bc-b057-d5185b09c5fc" providerId="ADAL" clId="{F3C205D8-FD4F-45E7-B3B5-44D147A799DB}" dt="2026-10-15T14:16:06.040" v="377" actId="20577"/>
          <ac:spMkLst>
            <pc:docMk/>
            <pc:sldMk cId="0" sldId="260"/>
            <ac:spMk id="3" creationId="{00000000-0000-0000-0000-000000000000}"/>
          </ac:spMkLst>
        </pc:spChg>
        <pc:graphicFrameChg chg="mod modGraphic">
          <ac:chgData name="Aria Druker" userId="4df1af69-80de-47bc-b057-d5185b09c5fc" providerId="ADAL" clId="{F3C205D8-FD4F-45E7-B3B5-44D147A799DB}" dt="2026-10-15T13:37:48.149" v="51" actId="14100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delSp modSp mod">
        <pc:chgData name="Aria Druker" userId="4df1af69-80de-47bc-b057-d5185b09c5fc" providerId="ADAL" clId="{F3C205D8-FD4F-45E7-B3B5-44D147A799DB}" dt="2026-10-15T14:17:45.389" v="380" actId="14100"/>
        <pc:sldMkLst>
          <pc:docMk/>
          <pc:sldMk cId="0" sldId="261"/>
        </pc:sldMkLst>
        <pc:spChg chg="mod">
          <ac:chgData name="Aria Druker" userId="4df1af69-80de-47bc-b057-d5185b09c5fc" providerId="ADAL" clId="{F3C205D8-FD4F-45E7-B3B5-44D147A799DB}" dt="2026-10-15T13:41:30.777" v="72" actId="20577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44:46.358" v="74" actId="47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45.389" v="380" actId="14100"/>
          <ac:spMkLst>
            <pc:docMk/>
            <pc:sldMk cId="0" sldId="261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36.441" v="379" actId="20577"/>
          <ac:spMkLst>
            <pc:docMk/>
            <pc:sldMk cId="0" sldId="261"/>
            <ac:spMk id="5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00:02.421" v="79" actId="20577"/>
        <pc:sldMkLst>
          <pc:docMk/>
          <pc:sldMk cId="0" sldId="262"/>
        </pc:sldMkLst>
        <pc:spChg chg="mod">
          <ac:chgData name="Aria Druker" userId="4df1af69-80de-47bc-b057-d5185b09c5fc" providerId="ADAL" clId="{F3C205D8-FD4F-45E7-B3B5-44D147A799DB}" dt="2026-10-15T14:00:02.421" v="79" actId="20577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18:42.107" v="394" actId="1038"/>
        <pc:sldMkLst>
          <pc:docMk/>
          <pc:sldMk cId="0" sldId="263"/>
        </pc:sldMkLst>
        <pc:spChg chg="mod">
          <ac:chgData name="Aria Druker" userId="4df1af69-80de-47bc-b057-d5185b09c5fc" providerId="ADAL" clId="{F3C205D8-FD4F-45E7-B3B5-44D147A799DB}" dt="2026-10-15T14:01:16.706" v="127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21.411" v="13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4.638" v="8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8.281" v="90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35.885" v="91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48.940" v="147" actId="579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59.382" v="148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03.844" v="149" actId="1410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3.774" v="150" actId="14100"/>
          <ac:spMkLst>
            <pc:docMk/>
            <pc:sldMk cId="0" sldId="263"/>
            <ac:spMk id="3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7.401" v="151" actId="14100"/>
          <ac:spMkLst>
            <pc:docMk/>
            <pc:sldMk cId="0" sldId="263"/>
            <ac:spMk id="4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29.250" v="383" actId="20577"/>
          <ac:spMkLst>
            <pc:docMk/>
            <pc:sldMk cId="0" sldId="263"/>
            <ac:spMk id="5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24.984" v="166" actId="1076"/>
          <ac:spMkLst>
            <pc:docMk/>
            <pc:sldMk cId="0" sldId="263"/>
            <ac:spMk id="60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22:09:41.295" v="395" actId="14100"/>
        <pc:sldMkLst>
          <pc:docMk/>
          <pc:sldMk cId="0" sldId="267"/>
        </pc:sldMkLst>
        <pc:spChg chg="mod">
          <ac:chgData name="Aria Druker" userId="4df1af69-80de-47bc-b057-d5185b09c5fc" providerId="ADAL" clId="{F3C205D8-FD4F-45E7-B3B5-44D147A799DB}" dt="2026-10-15T22:09:41.295" v="395" actId="14100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22:10:26.965" v="397" actId="14100"/>
        <pc:sldMkLst>
          <pc:docMk/>
          <pc:sldMk cId="0" sldId="270"/>
        </pc:sldMkLst>
        <pc:spChg chg="mod">
          <ac:chgData name="Aria Druker" userId="4df1af69-80de-47bc-b057-d5185b09c5fc" providerId="ADAL" clId="{F3C205D8-FD4F-45E7-B3B5-44D147A799DB}" dt="2026-10-15T22:10:26.965" v="397" actId="14100"/>
          <ac:spMkLst>
            <pc:docMk/>
            <pc:sldMk cId="0" sldId="270"/>
            <ac:spMk id="4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F2A33"/>
                </a:solidFill>
              </a:rPr>
              <a:t>Best, most expensive AI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 passed</c:v>
                </c:pt>
              </c:strCache>
            </c:strRef>
          </c:tx>
          <c:spPr>
            <a:solidFill>
              <a:srgbClr val="66A7A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C2-4580-AF1A-B85A22EAE88E}"/>
              </c:ext>
            </c:extLst>
          </c:dPt>
          <c:dPt>
            <c:idx val="1"/>
            <c:invertIfNegative val="0"/>
            <c:bubble3D val="0"/>
            <c:spPr>
              <a:solidFill>
                <a:srgbClr val="00A7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C2-4580-AF1A-B85A22EAE88E}"/>
              </c:ext>
            </c:extLst>
          </c:dPt>
          <c:dPt>
            <c:idx val="2"/>
            <c:invertIfNegative val="0"/>
            <c:bubble3D val="0"/>
            <c:spPr>
              <a:solidFill>
                <a:srgbClr val="D149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C2-4580-AF1A-B85A22EAE88E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Formulas</c:v>
                </c:pt>
                <c:pt idx="1">
                  <c:v>Presentation</c:v>
                </c:pt>
                <c:pt idx="2">
                  <c:v>Numbers</c:v>
                </c:pt>
              </c:strCache>
            </c:strRef>
          </c:cat>
          <c:val>
            <c:numRef>
              <c:f>Sheet1!$B$2:$B$4</c:f>
              <c:numCache>
                <c:formatCode>0"%"</c:formatCode>
                <c:ptCount val="3"/>
                <c:pt idx="0">
                  <c:v>89</c:v>
                </c:pt>
                <c:pt idx="1">
                  <c:v>82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C2-4580-AF1A-B85A22EAE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7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where we are, where we're going, what I need.</a:t>
            </a:r>
          </a:p>
          <a:p>
            <a:r>
              <a:t>- Colours: blue AI, navy code, yellow analyst, green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every quarter, by hand, mistakes travel.</a:t>
            </a:r>
          </a:p>
          <a:p>
            <a:r>
              <a:t>- Each step is copied, linked and checked by people.</a:t>
            </a:r>
          </a:p>
          <a:p>
            <a:r>
              <a:t>- Hours per company: waiting on 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- Takeaway: AI finds, code checks, the analyst approves once.</a:t>
            </a:r>
          </a:p>
          <a:p>
            <a:r>
              <a:rPr dirty="0"/>
              <a:t>- Solid is built today. Dashed is still to build.</a:t>
            </a:r>
          </a:p>
          <a:p>
            <a:r>
              <a:rPr dirty="0"/>
              <a:t>- Memory means each quarter only new things need review.</a:t>
            </a:r>
            <a:endParaRPr lang="en-US" dirty="0"/>
          </a:p>
          <a:p>
            <a:r>
              <a:rPr lang="en-US" dirty="0"/>
              <a:t>- 5 points of updates to cover in the financial &amp; strategic update for </a:t>
            </a:r>
            <a:r>
              <a:rPr lang="en-US"/>
              <a:t>LP report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AI alone varies every run; ours is right every time.</a:t>
            </a:r>
          </a:p>
          <a:p>
            <a:r>
              <a:t>- Same files and answer keys for both. A fair test.</a:t>
            </a:r>
          </a:p>
          <a:p>
            <a:r>
              <a:t>- Python checks every number, so results stay steady.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next, prove it on more companies, then build.</a:t>
            </a:r>
          </a:p>
          <a:p>
            <a:r>
              <a:t>- An analyst checks our answer keys, so the tests are trusted.</a:t>
            </a:r>
          </a:p>
          <a:p>
            <a:r>
              <a:t>- The workbook builder is the hardest part; longest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two decisions I need from you today.</a:t>
            </a:r>
          </a:p>
          <a:p>
            <a:r>
              <a:t>- More review is safer but saves less time.</a:t>
            </a:r>
          </a:p>
          <a:p>
            <a:r>
              <a:t>- I lean towards blank: guesses get waved through.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approvals now flow automatically, with reminders.</a:t>
            </a:r>
          </a:p>
          <a:p>
            <a:r>
              <a:t>- Adam is testing it; Jim is setting up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Backup slides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too rigid breaks; too much AI hides mistakes.</a:t>
            </a:r>
          </a:p>
          <a:p>
            <a:r>
              <a:t>- The middle: AI proposes, code checks and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even top AI gets 1 in 4 wrong.</a:t>
            </a:r>
          </a:p>
          <a:p>
            <a:r>
              <a:t>- Our fix: code proves every number; analyst sees doubts.</a:t>
            </a:r>
          </a:p>
          <a:p>
            <a:r>
              <a:t>- Sources: Vals AI 2026, METR, Cursor, OpenAI (Sources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same flow, real component names.</a:t>
            </a:r>
          </a:p>
          <a:p>
            <a:r>
              <a:t>- Reviewer not needed: extractor alone got 9 of 9.</a:t>
            </a:r>
          </a:p>
          <a:p>
            <a:r>
              <a:t>- Next slides zoom in,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- Takeaway: AI starts at the fund value, traces back.</a:t>
            </a:r>
          </a:p>
          <a:p>
            <a:r>
              <a:rPr dirty="0"/>
              <a:t>- Then confirms each link forward. Quarterly mode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code proves the AI read correctly.</a:t>
            </a:r>
          </a:p>
          <a:p>
            <a:r>
              <a:t>- The analyst decides if it's the right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a second AI agreed, but wasn't needed.</a:t>
            </a:r>
          </a:p>
          <a:p>
            <a:r>
              <a:t>- Kept on the shelf for unusual companies.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AI proposes, code checks and writes everything.</a:t>
            </a:r>
          </a:p>
          <a:p>
            <a:r>
              <a:t>- Unsure items go to the analyst.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Takeaway: hidden answer keys grade every run.</a:t>
            </a:r>
          </a:p>
          <a:p>
            <a:r>
              <a:t>- 253 code tests prove the checks catch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Plain-language terms used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More terms, for the Studio platform.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Every title links to its source.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XPV Valuation Automation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metr.org/blog/2025-06-05-recent-reward-hacking/" TargetMode="External"/><Relationship Id="rId3" Type="http://schemas.openxmlformats.org/officeDocument/2006/relationships/hyperlink" Target="https://www.vals.ai/benchmarks/emb" TargetMode="External"/><Relationship Id="rId7" Type="http://schemas.openxmlformats.org/officeDocument/2006/relationships/hyperlink" Target="https://openai.com/index/why-language-models-hallucinate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rosoft.github.io/mcscatblog/posts/hooks-in-copilot-studio/" TargetMode="External"/><Relationship Id="rId5" Type="http://schemas.openxmlformats.org/officeDocument/2006/relationships/hyperlink" Target="https://microsoft.github.io/mcscatblog/posts/copilot-studio-agent-sandbox/" TargetMode="External"/><Relationship Id="rId4" Type="http://schemas.openxmlformats.org/officeDocument/2006/relationships/hyperlink" Target="https://www.microsoft.com/en-us/copilot/blog/copilot-studio/new-and-improved-github-copilot-harness-agent-skills-and-richer-context/" TargetMode="External"/><Relationship Id="rId9" Type="http://schemas.openxmlformats.org/officeDocument/2006/relationships/hyperlink" Target="https://cursor.com/blog/reward-hacking-coding-benchmar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Automating the quarterly valuation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Aria, AI Intern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0"/>
            <a:ext cx="201168" cy="201168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5760720"/>
            <a:ext cx="201168" cy="201168"/>
          </a:xfrm>
          <a:prstGeom prst="rect">
            <a:avLst/>
          </a:prstGeom>
          <a:solidFill>
            <a:srgbClr val="0B3B60"/>
          </a:solidFill>
          <a:ln w="12700">
            <a:solidFill>
              <a:srgbClr val="5C8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28600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5760720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6616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Analyst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5760720"/>
            <a:ext cx="201168" cy="201168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Working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5760720"/>
            <a:ext cx="201168" cy="201168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Problem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CD1"/>
                </a:solidFill>
              </a:rPr>
              <a:t>Colour key, used on every slide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Today: numbers move through a chain of workbooks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8580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Incoming financials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Each company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38728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675888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Monthly summaries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675888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Monthly 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33288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28816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665976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Quarterly valuation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6597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Company value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18904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56064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Fund and investor reports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9656064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Investor report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386584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96312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Copy and extend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118104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376672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0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08192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36676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476488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098280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986016" y="32461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095744" y="3319272"/>
            <a:ext cx="1014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Judgment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52628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31520" y="4526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All by hand. One early mistake reaches the investor report.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Judgment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035540" y="6144768"/>
            <a:ext cx="146304" cy="146304"/>
          </a:xfrm>
          <a:prstGeom prst="rect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102367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By hand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Where we're going</a:t>
            </a:r>
            <a:endParaRPr lang="en-US" sz="2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3B60"/>
                </a:solidFill>
              </a:rPr>
              <a:t>Set up a company
(once)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3B60"/>
                </a:solidFill>
              </a:rPr>
              <a:t>Every quarter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600200"/>
            <a:ext cx="2011680" cy="868680"/>
          </a:xfrm>
          <a:prstGeom prst="rect">
            <a:avLst/>
          </a:prstGeom>
          <a:solidFill>
            <a:srgbClr val="00A7E2"/>
          </a:solidFill>
          <a:ln w="19050">
            <a:solidFill>
              <a:srgbClr val="00A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60020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reads the 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600200"/>
            <a:ext cx="2011680" cy="868680"/>
          </a:xfrm>
          <a:prstGeom prst="rect">
            <a:avLst/>
          </a:prstGeom>
          <a:solidFill>
            <a:srgbClr val="0B3B60"/>
          </a:solidFill>
          <a:ln w="1905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160020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Code checks every number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81728" y="2034540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15200" y="1600200"/>
            <a:ext cx="2011680" cy="868680"/>
          </a:xfrm>
          <a:prstGeom prst="rect">
            <a:avLst/>
          </a:prstGeom>
          <a:solidFill>
            <a:srgbClr val="FEF6E6"/>
          </a:solidFill>
          <a:ln w="19050">
            <a:solidFill>
              <a:srgbClr val="F2A5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60020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Analyst approves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13448" y="2034540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651760" y="3931920"/>
            <a:ext cx="2011680" cy="868680"/>
          </a:xfrm>
          <a:prstGeom prst="rect">
            <a:avLst/>
          </a:prstGeom>
          <a:solidFill>
            <a:srgbClr val="D9F2FB"/>
          </a:solidFill>
          <a:ln w="19050">
            <a:solidFill>
              <a:srgbClr val="00A7E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AI spots what 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3931920"/>
            <a:ext cx="2011680" cy="868680"/>
          </a:xfrm>
          <a:prstGeom prst="rect">
            <a:avLst/>
          </a:prstGeom>
          <a:solidFill>
            <a:srgbClr val="DCE5EE"/>
          </a:solidFill>
          <a:ln w="19050">
            <a:solidFill>
              <a:srgbClr val="0B3B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Code checks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81728" y="4366259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15200" y="3931920"/>
            <a:ext cx="2011680" cy="868680"/>
          </a:xfrm>
          <a:prstGeom prst="rect">
            <a:avLst/>
          </a:prstGeom>
          <a:solidFill>
            <a:srgbClr val="FEF6E6"/>
          </a:solidFill>
          <a:ln w="19050">
            <a:solidFill>
              <a:srgbClr val="F2A5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Analyst reviews what's new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13448" y="4366259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646920" y="3931920"/>
            <a:ext cx="2011680" cy="868680"/>
          </a:xfrm>
          <a:prstGeom prst="rect">
            <a:avLst/>
          </a:prstGeom>
          <a:solidFill>
            <a:srgbClr val="DCE5EE"/>
          </a:solidFill>
          <a:ln w="19050">
            <a:solidFill>
              <a:srgbClr val="0B3B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Code builds the workbook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45168" y="4366259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651760" y="2971800"/>
            <a:ext cx="9006840" cy="548640"/>
          </a:xfrm>
          <a:prstGeom prst="rect">
            <a:avLst/>
          </a:prstGeom>
          <a:solidFill>
            <a:srgbClr val="E0EEEC"/>
          </a:solidFill>
          <a:ln w="19050">
            <a:solidFill>
              <a:srgbClr val="66A7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40" y="29718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Company memory: approvals saved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2487168"/>
            <a:ext cx="0" cy="466344"/>
          </a:xfrm>
          <a:prstGeom prst="line">
            <a:avLst/>
          </a:prstGeom>
          <a:ln w="25400">
            <a:solidFill>
              <a:srgbClr val="66A7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3538728"/>
            <a:ext cx="0" cy="374904"/>
          </a:xfrm>
          <a:prstGeom prst="line">
            <a:avLst/>
          </a:prstGeom>
          <a:ln w="25400">
            <a:solidFill>
              <a:srgbClr val="66A7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49039" y="3566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uses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321040" y="3538728"/>
            <a:ext cx="0" cy="374904"/>
          </a:xfrm>
          <a:prstGeom prst="line">
            <a:avLst/>
          </a:prstGeom>
          <a:ln w="25400">
            <a:solidFill>
              <a:srgbClr val="66A7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0" y="3566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B60"/>
                </a:solidFill>
              </a:rPr>
              <a:t>Result: the new quarter's workbook, then the investor report.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6108192"/>
            <a:ext cx="12070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Dashed = 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50424" y="614476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46336" y="6108192"/>
            <a:ext cx="5212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Memory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7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72500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Analyst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1331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04404" y="6108192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3236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73468" y="6108192"/>
            <a:ext cx="246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7230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 works today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108960" y="132588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A97A3"/>
                </a:solidFill>
              </a:rPr>
              <a:t>Core valuation metrics right, out of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78308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33"/>
                </a:solidFill>
              </a:rPr>
              <a:t>AI-first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1671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A97A3"/>
                </a:solidFill>
              </a:rPr>
              <a:t>6 runs, 2 companies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1737360"/>
            <a:ext cx="5852160" cy="777240"/>
          </a:xfrm>
          <a:prstGeom prst="rect">
            <a:avLst/>
          </a:prstGeom>
          <a:noFill/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08960" y="1783080"/>
            <a:ext cx="591312" cy="6858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55136" y="1783080"/>
            <a:ext cx="591312" cy="6858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01312" y="1783080"/>
            <a:ext cx="591312" cy="6858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47488" y="1783080"/>
            <a:ext cx="591312" cy="685800"/>
          </a:xfrm>
          <a:prstGeom prst="rect">
            <a:avLst/>
          </a:prstGeom>
          <a:solidFill>
            <a:srgbClr val="D1495B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693664" y="1783080"/>
            <a:ext cx="591312" cy="685800"/>
          </a:xfrm>
          <a:prstGeom prst="rect">
            <a:avLst/>
          </a:prstGeom>
          <a:solidFill>
            <a:srgbClr val="D1495B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39840" y="1783080"/>
            <a:ext cx="591312" cy="685800"/>
          </a:xfrm>
          <a:prstGeom prst="rect">
            <a:avLst/>
          </a:prstGeom>
          <a:solidFill>
            <a:srgbClr val="D1495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178308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D1495B"/>
                </a:solidFill>
              </a:rPr>
              <a:t>3–6 of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06324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33"/>
                </a:solidFill>
              </a:rPr>
              <a:t>Studio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4728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A97A3"/>
                </a:solidFill>
              </a:rPr>
              <a:t>OceanSight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017520"/>
            <a:ext cx="5852160" cy="777240"/>
          </a:xfrm>
          <a:prstGeom prst="rect">
            <a:avLst/>
          </a:prstGeom>
          <a:noFill/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108960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755136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401312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47488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93664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39840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986016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632192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78368" y="306324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98280" y="306324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66A7A2"/>
                </a:solidFill>
              </a:rPr>
              <a:t>9 of 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02336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33"/>
                </a:solidFill>
              </a:rPr>
              <a:t>Studio build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40740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A97A3"/>
                </a:solidFill>
              </a:rPr>
              <a:t>Opus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63240" y="3977640"/>
            <a:ext cx="5852160" cy="777240"/>
          </a:xfrm>
          <a:prstGeom prst="rect">
            <a:avLst/>
          </a:prstGeom>
          <a:noFill/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108960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755136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401312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47488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693664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39840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986016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32192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278368" y="4023360"/>
            <a:ext cx="591312" cy="685800"/>
          </a:xfrm>
          <a:prstGeom prst="rect">
            <a:avLst/>
          </a:prstGeom>
          <a:solidFill>
            <a:srgbClr val="66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98280" y="402336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66A7A2"/>
                </a:solidFill>
              </a:rPr>
              <a:t>9 of 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3240" y="5029200"/>
            <a:ext cx="2834640" cy="777240"/>
          </a:xfrm>
          <a:prstGeom prst="rect">
            <a:avLst/>
          </a:prstGeom>
          <a:solidFill>
            <a:srgbClr val="E0EEEC"/>
          </a:solidFill>
          <a:ln w="12700">
            <a:solidFill>
              <a:srgbClr val="E0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46120" y="5029200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B3B60"/>
                </a:solidFill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77639" y="50292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wrong answers let through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5029200"/>
            <a:ext cx="2834640" cy="777240"/>
          </a:xfrm>
          <a:prstGeom prst="rect">
            <a:avLst/>
          </a:prstGeom>
          <a:solidFill>
            <a:srgbClr val="E0EEEC"/>
          </a:solidFill>
          <a:ln w="12700">
            <a:solidFill>
              <a:srgbClr val="E0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0" y="5029200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B3B60"/>
                </a:solidFill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50292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missed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Same files, same answer keys. Fading = runs that got that far.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8812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Working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67644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094976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Problem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93808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How we got here, and the next nine weeks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How we got here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5836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Map the process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Workbooks, steps, answer keys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</a:rPr>
              <a:t>Know what "right" looks like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9300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code end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Fixed rules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Too rigid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0760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32764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AI end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AI-first builds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2764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Answers vary: 3–6 of 9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84224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05256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16228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Build the Studio agents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6228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 reads, code checks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9 of 9 on two companies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Next nine weeks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4290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19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9573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26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4856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139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9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54228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16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0706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5989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30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1272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7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6555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14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366760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B60"/>
                </a:solidFill>
              </a:rPr>
              <a:t>What we'll know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3200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Fewer questions + memory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3429000" y="327355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429000" y="3273552"/>
            <a:ext cx="84531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366760" y="32004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The analyst answers only real questions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9867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Backtest: a company with two past quarters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429000" y="4059936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957320" y="4059936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366760" y="39867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How much passes, zero wrong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3799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Workbook builder (hardest part)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3429000" y="4453128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3957320" y="4453128"/>
            <a:ext cx="243027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366760" y="43799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Matches the analyst's, cell by cell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773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Live: first company's next quarter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429000" y="4846320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013960" y="4846320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8366760" y="4773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on new data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Third company + repeat runs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3429000" y="523951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542280" y="5239512"/>
            <a:ext cx="1584960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8366760" y="5166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on any company, every time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55595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Handover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429000" y="5632704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7127240" y="5632704"/>
            <a:ext cx="898144" cy="27432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8366760" y="55595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runs without me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Handover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 txBox="1"/>
          <p:nvPr/>
        </p:nvSpPr>
        <p:spPr>
          <a:xfrm>
            <a:off x="104424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Test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53262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 txBox="1"/>
          <p:nvPr/>
        </p:nvSpPr>
        <p:spPr>
          <a:xfrm>
            <a:off x="973378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Build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4" name="Text 37"/>
          <p:cNvSpPr txBox="1"/>
          <p:nvPr/>
        </p:nvSpPr>
        <p:spPr>
          <a:xfrm>
            <a:off x="548640" y="35935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Analyst checks answer keys</a:t>
            </a:r>
            <a:endParaRPr lang="en-US" sz="1200" dirty="0"/>
          </a:p>
        </p:txBody>
      </p:sp>
      <p:sp>
        <p:nvSpPr>
          <p:cNvPr id="66" name="Shape 38"/>
          <p:cNvSpPr/>
          <p:nvPr/>
        </p:nvSpPr>
        <p:spPr>
          <a:xfrm>
            <a:off x="3429000" y="3666744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39"/>
          <p:cNvSpPr/>
          <p:nvPr/>
        </p:nvSpPr>
        <p:spPr>
          <a:xfrm>
            <a:off x="3959352" y="3666744"/>
            <a:ext cx="832104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40"/>
          <p:cNvSpPr txBox="1"/>
          <p:nvPr/>
        </p:nvSpPr>
        <p:spPr>
          <a:xfrm>
            <a:off x="8366760" y="35935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The tests are trustworthy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Risks and decisions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495B"/>
                </a:solidFill>
              </a:rPr>
              <a:t>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4937760" cy="91440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A33"/>
                </a:solidFill>
              </a:rPr>
              <a:t>Only two companies so far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4937760" cy="91440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A33"/>
                </a:solidFill>
              </a:rPr>
              <a:t>Workbook builder is the hardest 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69080"/>
            <a:ext cx="4937760" cy="91440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A33"/>
                </a:solidFill>
              </a:rPr>
              <a:t>Analysts may approve without checking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25880"/>
            <a:ext cx="5715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B7791F"/>
                </a:solidFill>
              </a:rPr>
              <a:t>Decisions for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783080"/>
            <a:ext cx="5715000" cy="1965960"/>
          </a:xfrm>
          <a:prstGeom prst="rect">
            <a:avLst/>
          </a:prstGeom>
          <a:solidFill>
            <a:srgbClr val="FEF6E6"/>
          </a:solidFill>
          <a:ln w="12700">
            <a:solidFill>
              <a:srgbClr val="FEF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87451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33"/>
                </a:solidFill>
              </a:rPr>
              <a:t>1. How much should an analyst review?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3774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Every number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432304"/>
            <a:ext cx="3703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26679" y="2432304"/>
            <a:ext cx="3703320" cy="219456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28163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Only 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871216"/>
            <a:ext cx="3703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26679" y="2871216"/>
            <a:ext cx="1481328" cy="219456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25526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Spot checks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3310128"/>
            <a:ext cx="3703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3310128"/>
            <a:ext cx="444398" cy="219456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3931920"/>
            <a:ext cx="5715000" cy="1783080"/>
          </a:xfrm>
          <a:prstGeom prst="rect">
            <a:avLst/>
          </a:prstGeom>
          <a:solidFill>
            <a:srgbClr val="FEF6E6"/>
          </a:solidFill>
          <a:ln w="12700">
            <a:solidFill>
              <a:srgbClr val="FEF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33"/>
                </a:solidFill>
              </a:rPr>
              <a:t>2. When unsure: fill in, or leave blank?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52628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45902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Fill in a suggestion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83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Faster, easier to miss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452628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45902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Leave it blank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983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Slower, safer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8812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Analyst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67644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94976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Problem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Also built: engagement letter approvals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017520" cy="3792932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13232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Form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Company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" y="20939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6384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Co.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Role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" y="259689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6384" y="2596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Chief Financial Officer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Search firm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" y="309981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86384" y="3099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Search Ltd.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383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Currency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360273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6384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CAD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Approvers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" y="410565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86384" y="4105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Names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Agreement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" y="46085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86384" y="4608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Uploaded to SharePoint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7A3"/>
                </a:solidFill>
              </a:rPr>
              <a:t>more fields…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11880" y="1965960"/>
            <a:ext cx="338328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977640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06908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1  CEO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0690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69864" y="1965960"/>
            <a:ext cx="182880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977640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087368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986784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096512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61888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053328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2  Deal flow lead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053328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754112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961888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6071616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71032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6080760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46136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037576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3  Hiring manager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037576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738360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7946136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055864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955280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8065008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930384" y="1463040"/>
            <a:ext cx="1857756" cy="1005840"/>
          </a:xfrm>
          <a:prstGeom prst="roundRect">
            <a:avLst>
              <a:gd name="adj" fmla="val 7273"/>
            </a:avLst>
          </a:prstGeom>
          <a:solidFill>
            <a:srgbClr val="E0EEEC"/>
          </a:solidFill>
          <a:ln w="1905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10021823" y="1508760"/>
            <a:ext cx="1667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Done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0021823" y="1920240"/>
            <a:ext cx="16672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Adam notified; Approval logs and comments attached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187952" y="5192383"/>
            <a:ext cx="2045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Approvals can be made from: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26297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637270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Teams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72601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 txBox="1"/>
          <p:nvPr/>
        </p:nvSpPr>
        <p:spPr>
          <a:xfrm>
            <a:off x="783574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Outlook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18905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929878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Browser link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4187952" y="5741023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Every step logged · agreement attached to every email · status: test flow, in review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Done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1044244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Rejected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966520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People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Why this design  ·  Known weaknesses  ·  Studio build, step by step  ·  Glossary  ·  Sources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 we learned: too rigid or too much AI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00200"/>
            <a:ext cx="10698480" cy="914"/>
          </a:xfrm>
          <a:prstGeom prst="line">
            <a:avLst/>
          </a:prstGeom>
          <a:noFill/>
          <a:ln w="25400">
            <a:solidFill>
              <a:srgbClr val="8A97A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Code decides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7A3"/>
                </a:solidFill>
              </a:rPr>
              <a:t>AI decides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3502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Fixed rules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Exact-match rules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1417320"/>
            <a:ext cx="365760" cy="365760"/>
          </a:xfrm>
          <a:prstGeom prst="ellipse">
            <a:avLst/>
          </a:prstGeom>
          <a:solidFill>
            <a:srgbClr val="66A7A2"/>
          </a:solidFill>
          <a:ln w="254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3035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Target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AI proposes; code changes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52944" y="1472184"/>
            <a:ext cx="256032" cy="256032"/>
          </a:xfrm>
          <a:prstGeom prst="ellipse">
            <a:avLst/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9037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checking code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Can't skip checks; AI still edits the file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988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5496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helper code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Tools it could skip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7990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1498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One AI, one prompt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1498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Instructions only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rigid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45573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"Temp staffing" ≠ "Temporary labour"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32441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459873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New rules for every company.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6908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25196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6A7A2"/>
                </a:solidFill>
              </a:rPr>
              <a:t>Target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251960" y="350145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AI reads and proposes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251960" y="406838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Code checks and makes every change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251960" y="463531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Analyst approves once; approvals are saved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589520" y="2892432"/>
            <a:ext cx="406908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772400" y="304425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much AI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345573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Picked real cells with the wrong meaning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378491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Different answers on the same files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11410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Invented a number so totals matched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444328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Said "done" when it wasn't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0" y="482733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Looks finished, so mistakes hide.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Target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1051102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Close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96652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Known weaknesses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Excel finance tasks: formulas, layout, final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495B"/>
                </a:solidFill>
              </a:rPr>
              <a:t>~70%</a:t>
            </a:r>
            <a:r>
              <a:rPr sz="1200" b="0" i="0">
                <a:solidFill>
                  <a:srgbClr val="1F2A33"/>
                </a:solidFill>
              </a:rPr>
              <a:t> on long linked models, like valuations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173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1495B"/>
                </a:solidFill>
              </a:rPr>
              <a:t>AI, even the newest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A97A3"/>
                </a:solidFill>
              </a:rPr>
              <a:t>Ours,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874519"/>
            <a:ext cx="3017520" cy="77724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1874519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Final numbers weakest: 64% right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874519"/>
            <a:ext cx="3017520" cy="77724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1874519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Only two companies so far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788920"/>
            <a:ext cx="3017520" cy="77724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120" y="27889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Takes shortcuts to look finished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2788920"/>
            <a:ext cx="3017520" cy="77724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27889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Approved mistakes repeat each quarter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3703320"/>
            <a:ext cx="3017520" cy="77724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32120" y="37033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Guesses instead of "I don't know"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3703320"/>
            <a:ext cx="3017520" cy="77724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37033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Analysts may wave items through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617720"/>
            <a:ext cx="3017520" cy="77724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2120" y="46177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Different answers each run: 3–6 of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4617720"/>
            <a:ext cx="3017520" cy="77724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46177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</a:rPr>
              <a:t>Answer keys still being checked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8812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67644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Studio build: built and planned</a:t>
            </a:r>
            <a:endParaRPr lang="en-US" sz="2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3B60"/>
                </a:solidFill>
              </a:rPr>
              <a:t>Set up
(once)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3B60"/>
                </a:solidFill>
              </a:rPr>
              <a:t>Each quarter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600200"/>
            <a:ext cx="2011680" cy="868680"/>
          </a:xfrm>
          <a:prstGeom prst="rect">
            <a:avLst/>
          </a:prstGeom>
          <a:solidFill>
            <a:srgbClr val="00A7E2"/>
          </a:solidFill>
          <a:ln w="19050">
            <a:solidFill>
              <a:srgbClr val="00A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60020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600200"/>
            <a:ext cx="2011680" cy="868680"/>
          </a:xfrm>
          <a:prstGeom prst="rect">
            <a:avLst/>
          </a:prstGeom>
          <a:solidFill>
            <a:srgbClr val="0B3B60"/>
          </a:solidFill>
          <a:ln w="1905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160020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Code checks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81728" y="2034540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15200" y="1600200"/>
            <a:ext cx="2011680" cy="868680"/>
          </a:xfrm>
          <a:prstGeom prst="rect">
            <a:avLst/>
          </a:prstGeom>
          <a:solidFill>
            <a:srgbClr val="FEF6E6"/>
          </a:solidFill>
          <a:ln w="19050">
            <a:solidFill>
              <a:srgbClr val="F2A5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60020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Analyst approves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13448" y="2034540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651760" y="3931920"/>
            <a:ext cx="2011680" cy="868680"/>
          </a:xfrm>
          <a:prstGeom prst="rect">
            <a:avLst/>
          </a:prstGeom>
          <a:solidFill>
            <a:srgbClr val="D9F2FB"/>
          </a:solidFill>
          <a:ln w="19050">
            <a:solidFill>
              <a:srgbClr val="00A7E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Extraction (quarterly)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3931920"/>
            <a:ext cx="2011680" cy="868680"/>
          </a:xfrm>
          <a:prstGeom prst="rect">
            <a:avLst/>
          </a:prstGeom>
          <a:solidFill>
            <a:srgbClr val="DCE5EE"/>
          </a:solidFill>
          <a:ln w="19050">
            <a:solidFill>
              <a:srgbClr val="0B3B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Code checks vs memory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81728" y="4366259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15200" y="3931920"/>
            <a:ext cx="2011680" cy="868680"/>
          </a:xfrm>
          <a:prstGeom prst="rect">
            <a:avLst/>
          </a:prstGeom>
          <a:solidFill>
            <a:srgbClr val="FEF6E6"/>
          </a:solidFill>
          <a:ln w="19050">
            <a:solidFill>
              <a:srgbClr val="F2A5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Analyst decides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13448" y="4366259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646920" y="3931920"/>
            <a:ext cx="2011680" cy="868680"/>
          </a:xfrm>
          <a:prstGeom prst="rect">
            <a:avLst/>
          </a:prstGeom>
          <a:solidFill>
            <a:srgbClr val="DCE5EE"/>
          </a:solidFill>
          <a:ln w="19050">
            <a:solidFill>
              <a:srgbClr val="0B3B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393192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Workbook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45168" y="4366259"/>
            <a:ext cx="274320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651760" y="2971800"/>
            <a:ext cx="9006840" cy="548640"/>
          </a:xfrm>
          <a:prstGeom prst="rect">
            <a:avLst/>
          </a:prstGeom>
          <a:solidFill>
            <a:srgbClr val="E0EEEC"/>
          </a:solidFill>
          <a:ln w="19050">
            <a:solidFill>
              <a:srgbClr val="66A7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40" y="29718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33"/>
                </a:solidFill>
              </a:rPr>
              <a:t>Company memory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2487168"/>
            <a:ext cx="0" cy="466344"/>
          </a:xfrm>
          <a:prstGeom prst="line">
            <a:avLst/>
          </a:prstGeom>
          <a:ln w="25400">
            <a:solidFill>
              <a:srgbClr val="66A7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3538728"/>
            <a:ext cx="0" cy="374904"/>
          </a:xfrm>
          <a:prstGeom prst="line">
            <a:avLst/>
          </a:prstGeom>
          <a:ln w="25400">
            <a:solidFill>
              <a:srgbClr val="66A7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49039" y="3566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uses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321040" y="3538728"/>
            <a:ext cx="0" cy="374904"/>
          </a:xfrm>
          <a:prstGeom prst="line">
            <a:avLst/>
          </a:prstGeom>
          <a:ln w="25400">
            <a:solidFill>
              <a:srgbClr val="66A7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0" y="3566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1592" y="6108192"/>
            <a:ext cx="12070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Dashed = planned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50424" y="614476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46336" y="6108192"/>
            <a:ext cx="5212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Memory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45167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72500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Analyst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1331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04404" y="6108192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Code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03236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73468" y="6108192"/>
            <a:ext cx="246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7230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51760" y="5074920"/>
            <a:ext cx="4343400" cy="548640"/>
          </a:xfrm>
          <a:prstGeom prst="rect">
            <a:avLst/>
          </a:prstGeom>
          <a:solidFill>
            <a:srgbClr val="F4F7F9"/>
          </a:solidFill>
          <a:ln w="19050">
            <a:solidFill>
              <a:srgbClr val="8A97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8920" y="5074920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3"/>
                </a:solidFill>
              </a:rPr>
              <a:t>Review: optional, off the main path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074920"/>
            <a:ext cx="4343400" cy="548640"/>
          </a:xfrm>
          <a:prstGeom prst="rect">
            <a:avLst/>
          </a:prstGeom>
          <a:solidFill>
            <a:srgbClr val="8A97A3"/>
          </a:solidFill>
          <a:ln w="19050">
            <a:solidFill>
              <a:srgbClr val="8A97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52360" y="5074920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bench: development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Extraction: tracing the valuation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858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 each file and the current period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136392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401568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53872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3538728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 at the fund value and trace back to the monthly numbers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54496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391656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391656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Confirm each link forward to the fund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842248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107424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244584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244584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 look-alikes and questions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31089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73152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Labels can mislead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3611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"Adj. EBITDA" might really mean last-twelve-months earnings, adjusted, on a pro forma basis.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company value cell multiplies the multiple by one specific cell. Following that formula shows which earnings figure is used.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63640" y="31089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D9F2FB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Look-alikes it had to tell apart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44652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Last quarter's earnings next to this quarter's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Earnings before and after adjustments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44652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A sheet named for an old period that holds current numbers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Onboarding mode is built. </a:t>
            </a:r>
            <a:r>
              <a:rPr sz="1200" b="0" i="0">
                <a:solidFill>
                  <a:srgbClr val="1F2A33"/>
                </a:solidFill>
              </a:rPr>
              <a:t>Quarterly mode (only what changed) is planned.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72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8A97A3"/>
                </a:solidFill>
              </a:rPr>
              <a:t>1 of 5 · Extraction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Verification: how code confirms the AI's work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AI claims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Cell F12 says "TTM Revenue"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 holds 18,400,000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Its formula adds 12 monthly cells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Those months are July 2025 to June 2026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20640" y="3200400"/>
            <a:ext cx="594360" cy="0"/>
          </a:xfrm>
          <a:prstGeom prst="line">
            <a:avLst/>
          </a:prstGeom>
          <a:noFill/>
          <a:ln w="444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806440" y="1554480"/>
            <a:ext cx="5852160" cy="3291840"/>
          </a:xfrm>
          <a:prstGeom prst="roundRect">
            <a:avLst>
              <a:gd name="adj" fmla="val 2222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Code opens the file and confirms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F12 really says "TTM Revenue"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989320" y="26609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value matches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989320" y="31729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formula points to those 12 cells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3685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headers say July to June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989320" y="4197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12 numbers add up to 18,400,000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Code proves the AI read the file correctly. The analyst decides whether it's the right number to use.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65276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1085392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229600" y="4572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8A97A3"/>
                </a:solidFill>
              </a:rPr>
              <a:t>2 of 5 · Code checks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Independent review (optional)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66A7A2"/>
                </a:solidFill>
              </a:rPr>
              <a:t>9 of 9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core answers agreed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Strong enough without it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Differences between the two (mostly wording)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06240" y="1920240"/>
            <a:ext cx="6400800" cy="457200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0716768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</a:rPr>
              <a:t>38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Questions sent to the analyst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06240" y="3063240"/>
            <a:ext cx="5727032" cy="457200"/>
          </a:xfrm>
          <a:prstGeom prst="rect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0430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495B"/>
                </a:solidFill>
              </a:rPr>
              <a:t>34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20624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Target: only real decisions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06240" y="4206240"/>
            <a:ext cx="842211" cy="457200"/>
          </a:xfrm>
          <a:prstGeom prst="rect">
            <a:avLst/>
          </a:prstGeom>
          <a:solidFill>
            <a:srgbClr val="E0EEEC"/>
          </a:solidFill>
          <a:ln w="25400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158179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A7A2"/>
                </a:solidFill>
              </a:rPr>
              <a:t>about 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2062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Dashed = target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29600" y="4572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8A97A3"/>
                </a:solidFill>
              </a:rPr>
              <a:t>3 of 5 · Review (optional)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Workbook build (planned)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1737360"/>
            <a:ext cx="1691640" cy="1280160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008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Latest workbook + new monthlies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58568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432304" y="1737360"/>
            <a:ext cx="1691640" cy="128016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2523744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proposes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Each change: value, source cell, target cell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42232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315968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407408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407408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Each proposal, against files and memory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25896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199632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291072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sorts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291072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Pass, to the analyst, or stop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09560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083296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8174736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changes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174736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Standard actions only, with a source note on every typed number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793224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966960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1005840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 all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05840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Whole workbook, before vs after. Out: new workbook + change log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045452" y="3035808"/>
            <a:ext cx="0" cy="667512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673852" y="3749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5811012" y="3794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Not confident? To the analyst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8640" y="37490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8580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Open question: fill in a highlighted suggestion, or leave it blank?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09499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111511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1051102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80694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1000810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8229600" y="4572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8A97A3"/>
                </a:solidFill>
              </a:rPr>
              <a:t>4 of 5 · Workbook build (planned)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B60"/>
                </a:solidFill>
              </a:rPr>
              <a:t>Confident</a:t>
            </a:r>
            <a:r>
              <a:rPr sz="1300" b="0" i="0">
                <a:solidFill>
                  <a:srgbClr val="1F2A33"/>
                </a:solidFill>
              </a:rPr>
              <a:t> only if every check passes. Code decides, not the 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Testing and answer keys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253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tests passing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Code tests: invented workbooks with planted mistakes, all caught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66A7A2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48056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Hidden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 keys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Written by a person before any run; never shown to the AI. Analyst review planned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04672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22960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Same files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 run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Each file gets a digital fingerprint when the AI reads it; grading only runs if the files are identical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229600" y="4572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8A97A3"/>
                </a:solidFill>
              </a:rPr>
              <a:t>5 of 5 · Testing (development only)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Glossary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Roll-forward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Updating last quarter's workbook with the new quarter's numbers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Studio build (today)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74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Copilot Studio agents built so far: extractor, optional reviewer, test bench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331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Knowledge base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31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XPV's documentation of how valuations are built, including add-backs and categories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788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Trace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788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Follow formulas from one cell back to where its numbers come from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3246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Answer key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246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Correct answers written before any run, hidden from the AI, used only to grade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31520" y="3703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Company memory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703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the analyst approved for a company, reused each quarter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4160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Backtest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4160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test on past quarters where we already know the right answer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17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Multiple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617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number the analyst picks to turn earnings into a company value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31520" y="5074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Look-alike number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074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real number that seems right but isn't the one to use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5321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532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Investor report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532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XPV reports to its investors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Glossary (continued)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Studio build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streamlined target: extractor, checking code, workbook builder, company memory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Extractor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74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AI agent that traces how a company's value is built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331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Test bench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31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Grades runs against hidden answer keys; development only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788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Harness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788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Microsoft's engine that runs the AI and picks which tools it uses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3246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Skill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246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packaged set of instructions and tested code the AI can use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31520" y="3703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Sandbox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703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temporary workspace where code runs; wiped after each conversation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4160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Hook (preview)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4160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An automatic checkpoint the platform runs at set moments; still a test version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17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Fails open / fails closed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617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If a check breaks: "open" lets things through, "closed" stops them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31520" y="5074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Fingerprint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074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digital code for a file; any change to the file changes the code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5321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532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Connector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532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configured link to another system, such as SharePoint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Sources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3"/>
              </a:rPr>
              <a:t>Vals AI, Excel Modeling Benchmark (updated October 12,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Best AI scores on Excel finance models; formulas vs numbers; long chains score lowest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29967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4"/>
              </a:rPr>
              <a:t>Microsoft, GitHub Copilot harness, agent skills and richer context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7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What the harness is; skills; each task runs in a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5"/>
              </a:rPr>
              <a:t>Microsoft Copilot Studio team, The New Copilot Studio Agent Sandbox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6265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The AI decides whether to use a skill; no internet; nothing kept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6"/>
              </a:rPr>
              <a:t>Microsoft Copilot Studio team, Hooks in Copilot Studio (October 12,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2102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Automatic checkpoints; preview; fail open, so essential checks must be enforced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7"/>
              </a:rPr>
              <a:t>OpenAI, Why language models hallucinate (September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939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AI is rewarded for guessing over admitting doubt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8"/>
              </a:rPr>
              <a:t>METR, Recent frontier models are reward hacking (June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59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Top models take shortcuts while aware it isn't what users want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2180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9"/>
              </a:rPr>
              <a:t>Cursor, Reward hacking is swamping model intelligence gains (June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961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Shortcuts are more common in newer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2309</Words>
  <Application>Microsoft Office PowerPoint</Application>
  <PresentationFormat>Widescreen</PresentationFormat>
  <Paragraphs>433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XPV Valuation Automation - CEO Briefing v5</dc:title>
  <dc:subject>PptxGenJS Presentation</dc:subject>
  <dc:creator>PptxGenJS</dc:creator>
  <cp:lastModifiedBy>Aria Druker</cp:lastModifiedBy>
  <cp:revision>1</cp:revision>
  <dcterms:created xsi:type="dcterms:W3CDTF">2026-10-15T01:54:12Z</dcterms:created>
  <dcterms:modified xsi:type="dcterms:W3CDTF">2026-10-16T13:58:24Z</dcterms:modified>
</cp:coreProperties>
</file>