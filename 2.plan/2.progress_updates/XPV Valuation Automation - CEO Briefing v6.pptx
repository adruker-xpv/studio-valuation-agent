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24AF5-817A-41B1-BD17-60EE454C914F}" v="6" dt="2026-10-15T14:02:34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683" autoAdjust="0"/>
  </p:normalViewPr>
  <p:slideViewPr>
    <p:cSldViewPr snapToGrid="0" snapToObjects="1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 Druker" userId="4df1af69-80de-47bc-b057-d5185b09c5fc" providerId="ADAL" clId="{F3C205D8-FD4F-45E7-B3B5-44D147A799DB}"/>
    <pc:docChg chg="undo custSel modSld">
      <pc:chgData name="Aria Druker" userId="4df1af69-80de-47bc-b057-d5185b09c5fc" providerId="ADAL" clId="{F3C205D8-FD4F-45E7-B3B5-44D147A799DB}" dt="2026-10-15T14:18:42.107" v="394" actId="1038"/>
      <pc:docMkLst>
        <pc:docMk/>
      </pc:docMkLst>
      <pc:sldChg chg="modSp mod">
        <pc:chgData name="Aria Druker" userId="4df1af69-80de-47bc-b057-d5185b09c5fc" providerId="ADAL" clId="{F3C205D8-FD4F-45E7-B3B5-44D147A799DB}" dt="2026-10-15T14:10:13.085" v="297" actId="20577"/>
        <pc:sldMkLst>
          <pc:docMk/>
          <pc:sldMk cId="0" sldId="256"/>
        </pc:sldMkLst>
        <pc:spChg chg="mod">
          <ac:chgData name="Aria Druker" userId="4df1af69-80de-47bc-b057-d5185b09c5fc" providerId="ADAL" clId="{F3C205D8-FD4F-45E7-B3B5-44D147A799DB}" dt="2026-10-15T14:10:13.085" v="297" actId="20577"/>
          <ac:spMkLst>
            <pc:docMk/>
            <pc:sldMk cId="0" sldId="256"/>
            <ac:spMk id="3" creationId="{00000000-0000-0000-0000-000000000000}"/>
          </ac:spMkLst>
        </pc:spChg>
      </pc:sldChg>
      <pc:sldChg chg="delSp modSp mod modNotesTx">
        <pc:chgData name="Aria Druker" userId="4df1af69-80de-47bc-b057-d5185b09c5fc" providerId="ADAL" clId="{F3C205D8-FD4F-45E7-B3B5-44D147A799DB}" dt="2026-10-15T14:12:53.402" v="358" actId="20577"/>
        <pc:sldMkLst>
          <pc:docMk/>
          <pc:sldMk cId="0" sldId="259"/>
        </pc:sldMkLst>
        <pc:spChg chg="mod">
          <ac:chgData name="Aria Druker" userId="4df1af69-80de-47bc-b057-d5185b09c5fc" providerId="ADAL" clId="{F3C205D8-FD4F-45E7-B3B5-44D147A799DB}" dt="2026-10-15T13:33:54.185" v="13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47.176" v="12" actId="103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3:33:59.885" v="25" actId="1036"/>
          <ac:spMkLst>
            <pc:docMk/>
            <pc:sldMk cId="0" sldId="259"/>
            <ac:spMk id="37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33:35.053" v="1" actId="478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6:06.040" v="377" actId="20577"/>
        <pc:sldMkLst>
          <pc:docMk/>
          <pc:sldMk cId="0" sldId="260"/>
        </pc:sldMkLst>
        <pc:spChg chg="mod">
          <ac:chgData name="Aria Druker" userId="4df1af69-80de-47bc-b057-d5185b09c5fc" providerId="ADAL" clId="{F3C205D8-FD4F-45E7-B3B5-44D147A799DB}" dt="2026-10-15T14:16:06.040" v="377" actId="20577"/>
          <ac:spMkLst>
            <pc:docMk/>
            <pc:sldMk cId="0" sldId="260"/>
            <ac:spMk id="3" creationId="{00000000-0000-0000-0000-000000000000}"/>
          </ac:spMkLst>
        </pc:spChg>
        <pc:graphicFrameChg chg="mod modGraphic">
          <ac:chgData name="Aria Druker" userId="4df1af69-80de-47bc-b057-d5185b09c5fc" providerId="ADAL" clId="{F3C205D8-FD4F-45E7-B3B5-44D147A799DB}" dt="2026-10-15T13:37:48.149" v="51" actId="14100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delSp modSp mod">
        <pc:chgData name="Aria Druker" userId="4df1af69-80de-47bc-b057-d5185b09c5fc" providerId="ADAL" clId="{F3C205D8-FD4F-45E7-B3B5-44D147A799DB}" dt="2026-10-15T14:17:45.389" v="380" actId="14100"/>
        <pc:sldMkLst>
          <pc:docMk/>
          <pc:sldMk cId="0" sldId="261"/>
        </pc:sldMkLst>
        <pc:spChg chg="mod">
          <ac:chgData name="Aria Druker" userId="4df1af69-80de-47bc-b057-d5185b09c5fc" providerId="ADAL" clId="{F3C205D8-FD4F-45E7-B3B5-44D147A799DB}" dt="2026-10-15T13:41:30.777" v="72" actId="20577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Aria Druker" userId="4df1af69-80de-47bc-b057-d5185b09c5fc" providerId="ADAL" clId="{F3C205D8-FD4F-45E7-B3B5-44D147A799DB}" dt="2026-10-15T13:44:46.358" v="74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45.389" v="380" actId="14100"/>
          <ac:spMkLst>
            <pc:docMk/>
            <pc:sldMk cId="0" sldId="261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7:36.441" v="379" actId="20577"/>
          <ac:spMkLst>
            <pc:docMk/>
            <pc:sldMk cId="0" sldId="261"/>
            <ac:spMk id="59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00:02.421" v="79" actId="20577"/>
        <pc:sldMkLst>
          <pc:docMk/>
          <pc:sldMk cId="0" sldId="262"/>
        </pc:sldMkLst>
        <pc:spChg chg="mod">
          <ac:chgData name="Aria Druker" userId="4df1af69-80de-47bc-b057-d5185b09c5fc" providerId="ADAL" clId="{F3C205D8-FD4F-45E7-B3B5-44D147A799DB}" dt="2026-10-15T14:00:02.421" v="79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Aria Druker" userId="4df1af69-80de-47bc-b057-d5185b09c5fc" providerId="ADAL" clId="{F3C205D8-FD4F-45E7-B3B5-44D147A799DB}" dt="2026-10-15T14:18:42.107" v="394" actId="1038"/>
        <pc:sldMkLst>
          <pc:docMk/>
          <pc:sldMk cId="0" sldId="263"/>
        </pc:sldMkLst>
        <pc:spChg chg="mod">
          <ac:chgData name="Aria Druker" userId="4df1af69-80de-47bc-b057-d5185b09c5fc" providerId="ADAL" clId="{F3C205D8-FD4F-45E7-B3B5-44D147A799DB}" dt="2026-10-15T14:01:16.706" v="12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21.411" v="13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4.638" v="8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28.281" v="90" actId="2057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0:35.885" v="91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48.940" v="147" actId="579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1:59.382" v="148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03.844" v="149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3.774" v="150" actId="1410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17.401" v="151" actId="14100"/>
          <ac:spMkLst>
            <pc:docMk/>
            <pc:sldMk cId="0" sldId="263"/>
            <ac:spMk id="4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2:49.616" v="162" actId="1410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07.516" v="165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6:23.738" v="289" actId="14100"/>
          <ac:spMkLst>
            <pc:docMk/>
            <pc:sldMk cId="0" sldId="263"/>
            <ac:spMk id="52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29.250" v="383" actId="20577"/>
          <ac:spMkLst>
            <pc:docMk/>
            <pc:sldMk cId="0" sldId="263"/>
            <ac:spMk id="53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4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5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6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7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8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18:42.107" v="394" actId="1038"/>
          <ac:spMkLst>
            <pc:docMk/>
            <pc:sldMk cId="0" sldId="263"/>
            <ac:spMk id="59" creationId="{00000000-0000-0000-0000-000000000000}"/>
          </ac:spMkLst>
        </pc:spChg>
        <pc:spChg chg="mod">
          <ac:chgData name="Aria Druker" userId="4df1af69-80de-47bc-b057-d5185b09c5fc" providerId="ADAL" clId="{F3C205D8-FD4F-45E7-B3B5-44D147A799DB}" dt="2026-10-15T14:03:24.984" v="166" actId="1076"/>
          <ac:spMkLst>
            <pc:docMk/>
            <pc:sldMk cId="0" sldId="263"/>
            <ac:spMk id="6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B6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3B60"/>
                </a:solidFill>
                <a:latin typeface="+mn-lt"/>
              </a:rPr>
              <a:t>Core answers right, out of 10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AI-first (closest build)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AI-first, run 1</c:v>
                </c:pt>
                <c:pt idx="1">
                  <c:v>AI-first, run 2</c:v>
                </c:pt>
                <c:pt idx="2">
                  <c:v>AI-first, run 3</c:v>
                </c:pt>
                <c:pt idx="3">
                  <c:v>Foundation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40-420A-946A-5A2AFC8663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Foundation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Lbls>
            <c:numFmt formatCode="0;\-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AI-first, run 1</c:v>
                </c:pt>
                <c:pt idx="1">
                  <c:v>AI-first, run 2</c:v>
                </c:pt>
                <c:pt idx="2">
                  <c:v>AI-first, run 3</c:v>
                </c:pt>
                <c:pt idx="3">
                  <c:v>Foundation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40-420A-946A-5A2AFC8663F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t"/>
        <c:majorGridlines>
          <c:spPr>
            <a:ln w="6350" cap="flat">
              <a:solidFill>
                <a:srgbClr val="E6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7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B6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B60"/>
                </a:solidFill>
                <a:latin typeface="+mn-lt"/>
              </a:rPr>
              <a:t>Best AI building Excel finance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 passed</c:v>
                </c:pt>
              </c:strCache>
            </c:strRef>
          </c:tx>
          <c:spPr>
            <a:solidFill>
              <a:srgbClr val="66A7A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6A7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C2-4580-AF1A-B85A22EAE88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C2-4580-AF1A-B85A22EAE88E}"/>
              </c:ext>
            </c:extLst>
          </c:dPt>
          <c:dPt>
            <c:idx val="2"/>
            <c:invertIfNegative val="0"/>
            <c:bubble3D val="0"/>
            <c:spPr>
              <a:solidFill>
                <a:srgbClr val="D149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C2-4580-AF1A-B85A22EAE88E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Formulas</c:v>
                </c:pt>
                <c:pt idx="1">
                  <c:v>Layout</c:v>
                </c:pt>
                <c:pt idx="2">
                  <c:v>Final numbers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74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C2-4580-AF1A-B85A22EAE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7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Today, where we're going, what we learned, what's built, timeline, two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quarter, for each company.
- Each hand-off is done by hand, then checked by hand.
- A mistake early flows through to the investor report.
- Time per company: waiting on 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Onboarding, once per company: AI traces, code checks, analyst approves, saved as memory.
- Each quarter: AI suggests from the latest workbook and new monthly files; code checks against memory; analyst decides only changes; code builds the workbook.
- Every decision updates the memory.
- Analyst always enters judgment numbers, like the multiple.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Fixed rules only match exact words; every new layout breaks them.
- AI-first: the AI changed the file itself, so mistakes looked finished.
- Not bad prompting: research shows even top models take shortcuts (appendix).
- AI + checking code was closest, but AI still edited the file and nothing was remembered.
- Target: AI makes the decisions and directs the code makes every change; approvals are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Foundation in Copilot Studio, still in development.
- Same answer key, written by me before any run.
- AI-first build saw 1 workbook; the foundation saw all 5, so not a perfect like-for-like.
- One real company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Past: mapped the process, tried both ends, built the foundation.
- Backtest: past data where we already know the right answer.
- Live: new data we haven't seen.
- Workbook builder is the hardest part, so it has the longest bar and a fallback.
- Dates are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Q1: more review means fewer mistakes get through, but less time saved.
- Q2: filling in saves time but can be waved through; leaving blank is safer but slower.
- Both stay open until the backtest gives us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Talent-search engagement letters, in Power Automate.
- Adam fills in one form; details drop into every email.
- Approve in Teams, Outlook or a browser link.
- Reminder every 3 days (adjustable); Adam told after 14 days of no answer.
- Test flow: Adam reviewing, Jim setting up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Solid boxes: built. Dashed: planned.
- Blue is AI, navy is code, amber is the analyst.
- Onboarding is built up to the analyst step; the quarterly lane is planned.
- Testing is for development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Follows formulas, not labels, to find which number is actually used.
- Saves after each stage; code checks each claim before moving on.
- A value pasted with no formula link becomes a question for the analyst.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AI copies labels exactly as written; code checks the exact text, no fuzzy matching.
- Meaning is the AI's claim; the analyst approves it once.
- A failed check goes back to the AI to fix.
- Known gap: headers far from the numbers. Fix planned.
- Example values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second AI works forward from the monthly numbers without seeing the first answer, then compares.
- Most of the 38 differences were the same thing written differently.
- The first AI was strong enough alone; keep this for new or unusual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Answer keys written before any run; the AI never sees them.
- 242 tests prove the checks catch planted mistakes; they don't measure the AI.
- Real accuracy comes from grading real runs against the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Always starts from the latest version of last quarter's workbook; it may have been revised.
- Changes: paste the new monthly sheet, add each new month as a column copying the previous month's formulas, update links.
- Every typed number gets a note: source file, sheet, cell, date. For auditors.
- Not yet tested on a real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Formulas: did it set up the right calculations? Strong.
- Final numbers: did the values come out right? Weakest, because one early mistake carries through linked models.
- Each limit has a known industry fix; our design uses the same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Plain-language terms used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XPV Valuation Automation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Automating the quarterly valuation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Aria, AI Intern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5760720"/>
            <a:ext cx="201168" cy="201168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0B3B60"/>
          </a:solidFill>
          <a:ln w="12700">
            <a:solidFill>
              <a:srgbClr val="5C8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28600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5760720"/>
            <a:ext cx="201168" cy="20116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6616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Person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5760720"/>
            <a:ext cx="201168" cy="201168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Working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5760720"/>
            <a:ext cx="201168" cy="20116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26480" y="5733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EF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CD1"/>
                </a:solidFill>
              </a:rPr>
              <a:t>Colour key, used on every slide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Today: numbers move through a chain of workbooks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85800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Incoming financials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From each company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538728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675888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Monthly summaries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75888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monthly view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33288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28816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665976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Quarterly valuation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65976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company is worth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3376" y="2350008"/>
            <a:ext cx="749808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18904" y="17373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56064" y="18288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Fund and investor reports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9656064" y="2487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we report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86584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96312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Drop in new sheets, extend formulas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18104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76672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0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and update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08192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667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9E0E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476488" y="3319272"/>
            <a:ext cx="1243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Link to the fund and investor files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098280" y="2514600"/>
            <a:ext cx="914" cy="713232"/>
          </a:xfrm>
          <a:prstGeom prst="line">
            <a:avLst/>
          </a:prstGeom>
          <a:noFill/>
          <a:ln w="12700">
            <a:solidFill>
              <a:srgbClr val="8A97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986016" y="324612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095744" y="3319272"/>
            <a:ext cx="1014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3"/>
                </a:solidFill>
              </a:rPr>
              <a:t>Judgment: multiple, adjustments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52628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31520" y="4526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Every hand-off is done by hand, then checked by hand. A mistake early on flows all the way to the investor report.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Judgment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35540" y="6144768"/>
            <a:ext cx="146304" cy="146304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02367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By hand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Where we're going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Onboarding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60604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606040" y="141732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715768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traces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715768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How the value is built, cell by cell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01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01768" y="141732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111496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11496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Every cell the AI points 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32320" y="196596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9749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97496" y="141732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507224" y="141732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07224" y="1874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606040" y="2880360"/>
            <a:ext cx="9290304" cy="502920"/>
          </a:xfrm>
          <a:prstGeom prst="roundRect">
            <a:avLst>
              <a:gd name="adj" fmla="val 14545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78892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memory: what the analyst approved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49056" y="2487168"/>
            <a:ext cx="914" cy="37490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864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3B60"/>
                </a:solidFill>
              </a:rPr>
              <a:t>Every quarter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114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In: latest version of last quarter's workbook + new monthly financials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06040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9F2FB"/>
          </a:solidFill>
          <a:ln w="190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606040" y="3749040"/>
            <a:ext cx="2103120" cy="4114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715768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suggests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715768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Where each new number goes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36592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01768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01768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111496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111496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Against the memory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132320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97496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397496" y="3749040"/>
            <a:ext cx="2103120" cy="4114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507224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3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507224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Only what changed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528048" y="4297680"/>
            <a:ext cx="237744" cy="914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793224" y="37490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DCE5EE"/>
          </a:solidFill>
          <a:ln w="190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793224" y="3749040"/>
            <a:ext cx="2103120" cy="41148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9902952" y="374904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builds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902952" y="420624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</a:rPr>
              <a:t>The new workbook, with source notes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53328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12648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 flipV="1">
            <a:off x="8449056" y="3401568"/>
            <a:ext cx="914" cy="329184"/>
          </a:xfrm>
          <a:prstGeom prst="line">
            <a:avLst/>
          </a:prstGeom>
          <a:noFill/>
          <a:ln w="3175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522208" y="3429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Delivers the new quarter's valuation workbook. Extension: investor report and quarter-on-quarter changes.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44244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960120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980236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09828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929944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 we learned: too rigid or too much AI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10698480" cy="914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Code decides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7A3"/>
                </a:solidFill>
              </a:rPr>
              <a:t>AI decides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3502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Fixed rules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Exact-match rules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1417320"/>
            <a:ext cx="365760" cy="365760"/>
          </a:xfrm>
          <a:prstGeom prst="ellipse">
            <a:avLst/>
          </a:prstGeom>
          <a:solidFill>
            <a:srgbClr val="66A7A2"/>
          </a:solidFill>
          <a:ln w="254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3035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Code edits; approvals saved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52944" y="1472184"/>
            <a:ext cx="256032" cy="256032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9037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checking code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Can't skip checks; AI still edits the 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988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5496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AI + helper code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Tools it could skip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799064" y="1472184"/>
            <a:ext cx="256032" cy="256032"/>
          </a:xfrm>
          <a:prstGeom prst="ellipse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1498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One AI, one prompt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49840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3"/>
                </a:solidFill>
              </a:rPr>
              <a:t>Instructions only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rigid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45573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"Temp staffing" ≠ "Temporary labour", so the number is missed.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32441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59873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</a:rPr>
              <a:t>Every company needs its own rules, rewritten whenever a workbook changes.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69080" y="2892432"/>
            <a:ext cx="3291840" cy="2614270"/>
          </a:xfrm>
          <a:prstGeom prst="roundRect">
            <a:avLst>
              <a:gd name="adj" fmla="val 2353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251960" y="304425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6A7A2"/>
                </a:solidFill>
              </a:rPr>
              <a:t>Target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251960" y="350145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AI reads and suggests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251960" y="406838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Code checks and makes every change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251960" y="463531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Analyst approves once; memory keeps it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589520" y="2892432"/>
            <a:ext cx="4069080" cy="2614270"/>
          </a:xfrm>
          <a:prstGeom prst="roundRect">
            <a:avLst>
              <a:gd name="adj" fmla="val 2353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772400" y="304425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1495B"/>
                </a:solidFill>
              </a:rPr>
              <a:t>Too much AI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345573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Put real numbers in the wrong rows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78491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Invented a balancing number so totals matched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772400" y="411410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Turned costs into income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44328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✗  Wrote 0 where a number was missing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482733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Why it matters: the file looks finished, so mistakes are hidden.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Target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1051102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Close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96652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What's built: AI now traces a real valuation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937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50338"/>
              </p:ext>
            </p:extLst>
          </p:nvPr>
        </p:nvGraphicFramePr>
        <p:xfrm>
          <a:off x="5995358" y="1463039"/>
          <a:ext cx="5528114" cy="4178634"/>
        </p:xfrm>
        <a:graphic>
          <a:graphicData uri="http://schemas.openxmlformats.org/drawingml/2006/table">
            <a:tbl>
              <a:tblPr/>
              <a:tblGrid>
                <a:gridCol w="85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6A7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answers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reading is right (One company; key written by me</a:t>
                      </a: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6A7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/ 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confirmed / contradicted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invented about the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for a 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Knows what it can't prove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vs fund differences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force numbers to agree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4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checks not yet graded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look-alikes and judgment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Same answer key for all runs. AI-first build saw 1 workbook; foundation saw 5.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>
            <a:off x="1074420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 txBox="1"/>
          <p:nvPr/>
        </p:nvSpPr>
        <p:spPr>
          <a:xfrm>
            <a:off x="10945368" y="6108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982980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 txBox="1"/>
          <p:nvPr/>
        </p:nvSpPr>
        <p:spPr>
          <a:xfrm>
            <a:off x="1003096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AI-first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How we got here, and the next nine weeks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How we got here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5836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Map the process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Workbooks, steps, answer keys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2A33"/>
                </a:solidFill>
              </a:rPr>
              <a:t>Know what "right" looks like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8328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49300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code end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Fixed rules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Too rigid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0760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32764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Try the AI end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2764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AI-first builds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2764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1495B"/>
                </a:solidFill>
              </a:rPr>
              <a:t>Shortcuts; 50-60% core values ID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42248" y="2121408"/>
            <a:ext cx="192024" cy="914"/>
          </a:xfrm>
          <a:prstGeom prst="line">
            <a:avLst/>
          </a:prstGeom>
          <a:noFill/>
          <a:ln w="190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052560" y="1645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0EEEC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162288" y="1691640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Build the foundation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62288" y="199339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AI reads, code checks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62288" y="22677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10 of 10 on a real company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A97A3"/>
                </a:solidFill>
              </a:rPr>
              <a:t>Next nine weeks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19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9573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Oct 26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4856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139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54228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07060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23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659892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Nov 30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12724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7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655560" y="2971800"/>
            <a:ext cx="52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7A3"/>
                </a:solidFill>
              </a:rPr>
              <a:t>Dec 14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366760" y="2971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3B60"/>
                </a:solidFill>
              </a:rPr>
              <a:t>What we'll know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Fewer, better questions + company memory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429000" y="3319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429000" y="3319272"/>
            <a:ext cx="84531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366760" y="3246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An analyst approves a company in a few decisions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Backtest: a company with two past quarters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429000" y="37764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957320" y="37764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366760" y="3703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How much passes without review, with zero wrong numbers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Workbook builder (hardest part)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3429000" y="42336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3957320" y="4233672"/>
            <a:ext cx="2430272" cy="274320"/>
          </a:xfrm>
          <a:prstGeom prst="roundRect">
            <a:avLst>
              <a:gd name="adj" fmla="val 16667"/>
            </a:avLst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366760" y="41605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Our workbook matches the analyst's, cell by cell. Fallback: checked numbers + list of changes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Live: first company's next quarter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3429000" y="46908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13960" y="4690872"/>
            <a:ext cx="1373632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8366760" y="46177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on new data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More companies, different structures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429000" y="51480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5542280" y="5148072"/>
            <a:ext cx="1584960" cy="274320"/>
          </a:xfrm>
          <a:prstGeom prst="roundRect">
            <a:avLst>
              <a:gd name="adj" fmla="val 16667"/>
            </a:avLst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8366760" y="5074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works beyond one company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48640" y="5532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Handover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3429000" y="5605272"/>
            <a:ext cx="475488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7127240" y="5605272"/>
            <a:ext cx="898144" cy="27432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8366760" y="55321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It runs without me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1088136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1108252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Handover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 txBox="1"/>
          <p:nvPr/>
        </p:nvSpPr>
        <p:spPr>
          <a:xfrm>
            <a:off x="104424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Test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 txBox="1"/>
          <p:nvPr/>
        </p:nvSpPr>
        <p:spPr>
          <a:xfrm>
            <a:off x="9733788" y="610819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Build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Two questions for you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1. How much should a person review?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Every number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Most review, least time saved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Only new or changed items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Everything else matches past approvals exactly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2048256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Spot checks only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07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A97A3"/>
                </a:solidFill>
              </a:rPr>
              <a:t>Least review, more risk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846320"/>
            <a:ext cx="5120640" cy="274320"/>
          </a:xfrm>
          <a:prstGeom prst="rect">
            <a:avLst/>
          </a:prstGeom>
          <a:solidFill>
            <a:srgbClr val="F4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614477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4864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Amber: share a person reviews (illustrative)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B60"/>
                </a:solidFill>
              </a:rPr>
              <a:t>2. When the agent isn't confident about a cell…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446520" y="2057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Fill in its best suggestion, highlighted for review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Faster. Risk: a highlighted cell gets waved through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3611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44652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</a:rPr>
              <a:t>Leave it blank for the analyst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Safer. Slower, and the analyst finishes the workbook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5384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739628" y="6108192"/>
            <a:ext cx="937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 suggestion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76122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9623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Also built: engagement letter approvals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017520" cy="3792932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13232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Form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" y="20939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6384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Co.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259689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" y="2596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Chief Financial Officer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Search firm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" y="309981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6384" y="3099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Example Search Ltd.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Currency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360273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6384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CAD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Approvers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410565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6384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Names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Agreement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4608576"/>
            <a:ext cx="2697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6384" y="4608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Uploaded to SharePoint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97A3"/>
                </a:solidFill>
              </a:rPr>
              <a:t>more fields…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11880" y="1965960"/>
            <a:ext cx="338328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977640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069080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1  CEO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769864" y="1965960"/>
            <a:ext cx="182880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977640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4087368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986784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096512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961888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053328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2  Deal flow lead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053328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7754112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961888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6071616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71032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6080760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46136" y="14630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BD3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037576" y="1508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3  Hiring manager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03757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Approve to continue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738360" y="1965960"/>
            <a:ext cx="192024" cy="0"/>
          </a:xfrm>
          <a:prstGeom prst="line">
            <a:avLst/>
          </a:prstGeom>
          <a:noFill/>
          <a:ln w="254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7946136" y="2697480"/>
            <a:ext cx="1783080" cy="548640"/>
          </a:xfrm>
          <a:prstGeom prst="roundRect">
            <a:avLst>
              <a:gd name="adj" fmla="val 9412"/>
            </a:avLst>
          </a:prstGeom>
          <a:solidFill>
            <a:srgbClr val="F4F7F9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055864" y="2770632"/>
            <a:ext cx="1563624" cy="445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F2A33"/>
                </a:solidFill>
              </a:rPr>
              <a:t>No answer: reminder every 3 days; Adam notified after 14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955280" y="3419174"/>
            <a:ext cx="1783080" cy="510496"/>
          </a:xfrm>
          <a:prstGeom prst="roundRect">
            <a:avLst>
              <a:gd name="adj" fmla="val 11429"/>
            </a:avLst>
          </a:prstGeom>
          <a:solidFill>
            <a:srgbClr val="F6DCE0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8065008" y="3492326"/>
            <a:ext cx="1563624" cy="39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3"/>
                </a:solidFill>
              </a:rPr>
              <a:t>Rejected: Adam gets the comments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930384" y="1463040"/>
            <a:ext cx="1857756" cy="1005840"/>
          </a:xfrm>
          <a:prstGeom prst="roundRect">
            <a:avLst>
              <a:gd name="adj" fmla="val 7273"/>
            </a:avLst>
          </a:prstGeom>
          <a:solidFill>
            <a:srgbClr val="E0EEEC"/>
          </a:solidFill>
          <a:ln w="1905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10021823" y="1508760"/>
            <a:ext cx="16672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Done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10021823" y="1920240"/>
            <a:ext cx="16672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Adam notified; Approval logs and comments attached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4187952" y="5192383"/>
            <a:ext cx="2045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Approvals can be made from: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26297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637270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Teams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772601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 txBox="1"/>
          <p:nvPr/>
        </p:nvSpPr>
        <p:spPr>
          <a:xfrm>
            <a:off x="783574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Outlook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189057" y="5190859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E5EE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9298785" y="5264011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B60"/>
                </a:solidFill>
              </a:rPr>
              <a:t>Browser link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4187952" y="5741023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Every step logged · agreement attached to every email · status: test flow, in review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Done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10241280" y="6144768"/>
            <a:ext cx="146304" cy="146304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10442448" y="6108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Rejected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4640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66520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Person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3EF"/>
                </a:solidFill>
              </a:rPr>
              <a:t>Foundation overview  ·  Each part up close  ·  Research  ·  Glossary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Foundation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103120" y="155448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2194560" y="16276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Company files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One quarter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86200" y="1554480"/>
            <a:ext cx="178308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9776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traces the value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1783080" cy="914400"/>
          </a:xfrm>
          <a:prstGeom prst="rect">
            <a:avLst/>
          </a:prstGeom>
          <a:solidFill>
            <a:srgbClr val="0B3B60"/>
          </a:solidFill>
          <a:ln w="3175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03504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Verification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Code confirms every claim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01000" y="1554480"/>
            <a:ext cx="169164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09244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 (optional)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Second AI, independent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966960" y="155448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058400" y="1627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approves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0" y="1965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real decisions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03120" y="2926080"/>
            <a:ext cx="9555480" cy="502920"/>
          </a:xfrm>
          <a:prstGeom prst="rect">
            <a:avLst/>
          </a:prstGeom>
          <a:solidFill>
            <a:srgbClr val="E0EEEC"/>
          </a:solidFill>
          <a:ln w="3175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240280" y="2926080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memory: what the analyst approved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103120" y="3886200"/>
            <a:ext cx="1508760" cy="91440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194560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files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86200" y="3886200"/>
            <a:ext cx="1783080" cy="914400"/>
          </a:xfrm>
          <a:prstGeom prst="rect">
            <a:avLst/>
          </a:prstGeom>
          <a:solidFill>
            <a:srgbClr val="00A7E2"/>
          </a:solidFill>
          <a:ln w="3175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39776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9776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suggests changes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43600" y="3886200"/>
            <a:ext cx="178308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035040" y="39593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Comparison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checks against memory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01000" y="3886200"/>
            <a:ext cx="1691640" cy="914400"/>
          </a:xfrm>
          <a:prstGeom prst="rect">
            <a:avLst/>
          </a:prstGeom>
          <a:solidFill>
            <a:srgbClr val="FDEBD3"/>
          </a:solidFill>
          <a:ln w="31750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09244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Analyst decides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09244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Only what changed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966960" y="3886200"/>
            <a:ext cx="1691640" cy="914400"/>
          </a:xfrm>
          <a:prstGeom prst="rect">
            <a:avLst/>
          </a:prstGeom>
          <a:solidFill>
            <a:srgbClr val="DCE5EE"/>
          </a:solidFill>
          <a:ln w="3175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0058400" y="39593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B60"/>
                </a:solidFill>
              </a:rPr>
              <a:t>Workbook build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1005840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Code builds, with source notes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886200" y="5212080"/>
            <a:ext cx="3840480" cy="594360"/>
          </a:xfrm>
          <a:prstGeom prst="rect">
            <a:avLst/>
          </a:prstGeom>
          <a:solidFill>
            <a:srgbClr val="8A97A3"/>
          </a:solidFill>
          <a:ln w="317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4023360" y="5212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Testing: grades extraction against hidden answer keys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Onboarding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Once per company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Each quarter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36301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6875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74496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710928" y="201168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36301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6875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74496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710928" y="434340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812780" y="248716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83514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6908292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uses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 flipV="1">
            <a:off x="8846820" y="3447288"/>
            <a:ext cx="914" cy="420624"/>
          </a:xfrm>
          <a:prstGeom prst="line">
            <a:avLst/>
          </a:prstGeom>
          <a:noFill/>
          <a:ln w="38100">
            <a:solidFill>
              <a:srgbClr val="66A7A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8919972" y="3456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A7A2"/>
                </a:solidFill>
              </a:rPr>
              <a:t>updates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343400" y="4800600"/>
            <a:ext cx="914" cy="411480"/>
          </a:xfrm>
          <a:prstGeom prst="line">
            <a:avLst/>
          </a:prstGeom>
          <a:noFill/>
          <a:ln w="254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8229600" y="5303520"/>
            <a:ext cx="365760" cy="22860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8686800" y="5285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Built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509760" y="5303520"/>
            <a:ext cx="365760" cy="228600"/>
          </a:xfrm>
          <a:prstGeom prst="rect">
            <a:avLst/>
          </a:prstGeom>
          <a:solidFill>
            <a:srgbClr val="DCE5EE"/>
          </a:solidFill>
          <a:ln w="25400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 txBox="1"/>
          <p:nvPr/>
        </p:nvSpPr>
        <p:spPr>
          <a:xfrm>
            <a:off x="9966960" y="5285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Planned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11018520" y="6144768"/>
            <a:ext cx="146304" cy="146304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 txBox="1"/>
          <p:nvPr/>
        </p:nvSpPr>
        <p:spPr>
          <a:xfrm>
            <a:off x="11219688" y="6108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Memory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017270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1037386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53262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973378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02970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923086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Extraction: tracing the valuation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858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 each file and the current period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36392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401568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538728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538728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 the value back to the monthly numbers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54496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391656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391656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 forward to the fund's files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42248" y="2148840"/>
            <a:ext cx="237744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07424" y="1600200"/>
            <a:ext cx="2560320" cy="10972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244584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9244584" y="20299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Flag look-alikes and questions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31089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73152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Labels can mislead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3611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"Adj. EBITDA" might really mean last-twelve-months earnings, adjusted, on a pro forma basis.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company value cell multiplies the multiple by one specific cell. Following that formula shows which earnings figure is used.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63640" y="31089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D9F2FB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Look-alikes it had to tell apart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44652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Last quarter's earnings next to this quarter's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Earnings before and after adjustments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44652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•  A sheet named for an old period that holds current numbers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Verification: how code confirms the AI's work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55448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claims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Cell F12 says "TTM Revenue"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2788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 holds 18,400,000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Its formula adds 12 monthly cells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Those months are July 2025 to June 2026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120640" y="3200400"/>
            <a:ext cx="594360" cy="914"/>
          </a:xfrm>
          <a:prstGeom prst="line">
            <a:avLst/>
          </a:prstGeom>
          <a:noFill/>
          <a:ln w="444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806440" y="1554480"/>
            <a:ext cx="5852160" cy="3291840"/>
          </a:xfrm>
          <a:prstGeom prst="roundRect">
            <a:avLst>
              <a:gd name="adj" fmla="val 2222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Code opens the file and confirms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F12 really says "TTM Revenue"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26609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value matches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989320" y="31729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formula points to those 12 cells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989320" y="3685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headers say July to June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4197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✓  The 12 numbers add up to 18,400,000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3B60"/>
                </a:solidFill>
              </a:rPr>
              <a:t>Code proves the AI read the file correctly. The analyst decides whether it's the right number to use.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115568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1135684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65276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1085392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Independent review (optional)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66A7A2"/>
                </a:solidFill>
              </a:rPr>
              <a:t>9 of 9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3"/>
                </a:solidFill>
              </a:rPr>
              <a:t>core answers agreed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60"/>
                </a:solidFill>
              </a:rPr>
              <a:t>Strong enough without it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Differences between the two (mostly wording)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06240" y="1920240"/>
            <a:ext cx="6400800" cy="457200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716768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</a:rPr>
              <a:t>38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Questions sent to the analyst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06240" y="3063240"/>
            <a:ext cx="5727032" cy="457200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0430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1495B"/>
                </a:solidFill>
              </a:rPr>
              <a:t>34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2062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Target: only real decisions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06240" y="4206240"/>
            <a:ext cx="842211" cy="457200"/>
          </a:xfrm>
          <a:prstGeom prst="rect">
            <a:avLst/>
          </a:prstGeom>
          <a:solidFill>
            <a:srgbClr val="E0EEEC"/>
          </a:solidFill>
          <a:ln w="25400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158179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A7A2"/>
                </a:solidFill>
              </a:rPr>
              <a:t>about 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7A3"/>
                </a:solidFill>
              </a:rPr>
              <a:t>Dashed = target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Testing and answer keys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3152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242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tests passing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Planted mistakes in invented workbooks are all caught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66A7A2"/>
          </a:solidFill>
          <a:ln w="9525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4805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Hidden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answer keys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Written before any run; never shown to the AI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46720" y="160020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Same files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run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017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Fingerprints confirm nothing changed mid-test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Workbook build (planned)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546336" y="237744"/>
            <a:ext cx="2167128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889067" y="292608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219267" y="292608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00267" y="292608"/>
            <a:ext cx="330200" cy="186813"/>
          </a:xfrm>
          <a:prstGeom prst="rect">
            <a:avLst/>
          </a:prstGeom>
          <a:solidFill>
            <a:srgbClr val="0B3B60"/>
          </a:solidFill>
          <a:ln w="9525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81267" y="292608"/>
            <a:ext cx="313267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345333" y="292608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889067" y="572827"/>
            <a:ext cx="1769533" cy="102747"/>
          </a:xfrm>
          <a:prstGeom prst="rect">
            <a:avLst/>
          </a:prstGeom>
          <a:solidFill>
            <a:srgbClr val="E0EEEC"/>
          </a:solidFill>
          <a:ln w="9525">
            <a:solidFill>
              <a:srgbClr val="66A7A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889067" y="768981"/>
            <a:ext cx="279400" cy="186813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19267" y="768981"/>
            <a:ext cx="330200" cy="186813"/>
          </a:xfrm>
          <a:prstGeom prst="rect">
            <a:avLst/>
          </a:prstGeom>
          <a:solidFill>
            <a:srgbClr val="00A7E2"/>
          </a:solidFill>
          <a:ln w="9525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600267" y="768981"/>
            <a:ext cx="330200" cy="186813"/>
          </a:xfrm>
          <a:prstGeom prst="rect">
            <a:avLst/>
          </a:prstGeom>
          <a:solidFill>
            <a:srgbClr val="DCE5EE"/>
          </a:solidFill>
          <a:ln w="9525">
            <a:solidFill>
              <a:srgbClr val="0B3B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981267" y="768981"/>
            <a:ext cx="313267" cy="186813"/>
          </a:xfrm>
          <a:prstGeom prst="rect">
            <a:avLst/>
          </a:prstGeom>
          <a:solidFill>
            <a:srgbClr val="FDEBD3"/>
          </a:solidFill>
          <a:ln w="9525">
            <a:solidFill>
              <a:srgbClr val="F2A5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345333" y="768981"/>
            <a:ext cx="313267" cy="186813"/>
          </a:xfrm>
          <a:prstGeom prst="rect">
            <a:avLst/>
          </a:prstGeom>
          <a:solidFill>
            <a:srgbClr val="DCE5EE"/>
          </a:solidFill>
          <a:ln w="3175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219267" y="1039860"/>
            <a:ext cx="711200" cy="121428"/>
          </a:xfrm>
          <a:prstGeom prst="rect">
            <a:avLst/>
          </a:prstGeom>
          <a:solidFill>
            <a:srgbClr val="8A97A3"/>
          </a:solidFill>
          <a:ln w="9525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12344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D1495B"/>
                </a:solidFill>
              </a:rPr>
              <a:t>You are here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1737360"/>
            <a:ext cx="1691640" cy="1280160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Latest workbook + new monthlies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58568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432304" y="1737360"/>
            <a:ext cx="1691640" cy="128016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23744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lists changes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Where each number goes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42232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315968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4407408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makes changes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407408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Only standard actions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25896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99632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291072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adds notes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291072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Source of every typed number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909560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083296" y="1737360"/>
            <a:ext cx="1691640" cy="1280160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174736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checks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174736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Before vs after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793224" y="2377440"/>
            <a:ext cx="155448" cy="914"/>
          </a:xfrm>
          <a:prstGeom prst="line">
            <a:avLst/>
          </a:prstGeom>
          <a:noFill/>
          <a:ln w="3810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966960" y="1737360"/>
            <a:ext cx="1691640" cy="1280160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1005840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workbook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10058400" y="2331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Plus a change log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959852" y="3035808"/>
            <a:ext cx="914" cy="667512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954012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091172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Not confident? To the analyst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37490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DEBD3"/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685800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3"/>
                </a:solidFill>
              </a:rPr>
              <a:t>Open question: fill in a highlighted suggestion, or leave it blank?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A97A3"/>
                </a:solidFill>
              </a:rPr>
              <a:t>Fallback if a full build isn't reliable yet: checked numbers plus a list of changes for the analyst.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10949940" y="6144768"/>
            <a:ext cx="146304" cy="146304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11151108" y="6108192"/>
            <a:ext cx="525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Analyst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309860" y="6144768"/>
            <a:ext cx="146304" cy="146304"/>
          </a:xfrm>
          <a:prstGeom prst="rect">
            <a:avLst/>
          </a:prstGeom>
          <a:solidFill>
            <a:srgbClr val="0B3B60"/>
          </a:solidFill>
          <a:ln w="12700">
            <a:solidFill>
              <a:srgbClr val="0B3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10511028" y="61081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Code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806940" y="6144768"/>
            <a:ext cx="146304" cy="146304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10008108" y="6108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97A3"/>
                </a:solidFill>
              </a:rPr>
              <a:t>AI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AI capabilities and limits: 2026 research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94360" y="4462272"/>
            <a:ext cx="182880" cy="182880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868680" y="4389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Formulas:  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2011680" y="4389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Set up the right calculations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" y="4846320"/>
            <a:ext cx="182880" cy="182880"/>
          </a:xfrm>
          <a:prstGeom prst="rect">
            <a:avLst/>
          </a:prstGeom>
          <a:solidFill>
            <a:srgbClr val="00A7E2"/>
          </a:solidFill>
          <a:ln w="12700">
            <a:solidFill>
              <a:srgbClr val="00A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68680" y="4773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Layout:  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011680" y="4773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Formatting and structure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" y="5230368"/>
            <a:ext cx="182880" cy="18288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68680" y="5157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</a:rPr>
              <a:t>Final numbers:  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5157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3"/>
                </a:solidFill>
              </a:rPr>
              <a:t>Values come out right; early errors carry through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1495B"/>
                </a:solidFill>
              </a:rPr>
              <a:t>Limit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A97A3"/>
                </a:solidFill>
              </a:rPr>
              <a:t>How leaders handle it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646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7A2"/>
                </a:solidFill>
              </a:rPr>
              <a:t>How we handle it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74920" y="169164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66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numbers drift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0488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15200" y="169164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40664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Microsoft: keep calculations in Excel formulas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345168" y="209397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9646920" y="169164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9738360" y="1691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extends formulas; notes on typed numbers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74920" y="265176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66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Shortcuts to look finished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10488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315200" y="265176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740664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Replit, Cursor: AI can't touch the live file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345168" y="305409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9646920" y="265176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9738360" y="2651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never edits the workbook or sees the answers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74920" y="361188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5166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Guesses instead of "I don't know"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10488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315200" y="361188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740664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OpenAI: reward admitting doubt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9345168" y="401421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646920" y="361188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9738360" y="3611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hands unprovable items to a person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074920" y="4572000"/>
            <a:ext cx="2011680" cy="804672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166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agent 57% vs people 71% on real tasks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710488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7315200" y="4572000"/>
            <a:ext cx="2011680" cy="804672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740664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Microsoft: make every step checkable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9345168" y="4974336"/>
            <a:ext cx="192024" cy="914"/>
          </a:xfrm>
          <a:prstGeom prst="line">
            <a:avLst/>
          </a:prstGeom>
          <a:noFill/>
          <a:ln w="31750">
            <a:solidFill>
              <a:srgbClr val="0B3B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9646920" y="4572000"/>
            <a:ext cx="2011680" cy="804672"/>
          </a:xfrm>
          <a:prstGeom prst="rect">
            <a:avLst/>
          </a:prstGeom>
          <a:solidFill>
            <a:srgbClr val="66A7A2"/>
          </a:solidFill>
          <a:ln w="12700">
            <a:solidFill>
              <a:srgbClr val="66A7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 txBox="1"/>
          <p:nvPr/>
        </p:nvSpPr>
        <p:spPr>
          <a:xfrm>
            <a:off x="9738360" y="4572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verifies every AI claim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7A3"/>
                </a:solidFill>
              </a:rPr>
              <a:t>Sources: Vals AI Excel Modeling Benchmark (2026) · Microsoft Excel blog (2025) · OpenAI (2025) · METR (2025) · Cursor (June 2026) · eWEEK on Replit (2025)</a:t>
            </a:r>
            <a:endParaRPr lang="en-US" sz="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B60"/>
                </a:solidFill>
              </a:rPr>
              <a:t>Glossary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Roll-forward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417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Updating last quarter's workbook with the new quarter's numbers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31520" y="1874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74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Copilot Studio build in development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2331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Knowledge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31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XPV's documentation of how valuations are built, including add-backs and categories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Trace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788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Follow formulas from one cell back to where its numbers come from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246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Answer key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246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Correct answers written before any run, hidden from the AI, used only to grade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31520" y="3703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Company memory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7033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the analyst approved for a company, reused each quarter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605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" y="4160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Backtest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1605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test on past quarters where we already know the right answer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6177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31520" y="46177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Multiple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6177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The number the analyst picks to turn earnings into a company value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5074920"/>
            <a:ext cx="11109960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31520" y="5074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Look-alike number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50749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A real number that seems right but isn't the one to use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532120"/>
            <a:ext cx="11109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31520" y="5532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60"/>
                </a:solidFill>
              </a:rPr>
              <a:t>Investor (LP) report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53212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3"/>
                </a:solidFill>
              </a:rPr>
              <a:t>What XPV reports to its investors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7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2528</Words>
  <Application>Microsoft Office PowerPoint</Application>
  <PresentationFormat>Widescreen</PresentationFormat>
  <Paragraphs>402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XPV Valuation Automation - CEO Briefing v5</dc:title>
  <dc:subject>PptxGenJS Presentation</dc:subject>
  <dc:creator>PptxGenJS</dc:creator>
  <cp:lastModifiedBy>Aria Druker</cp:lastModifiedBy>
  <cp:revision>1</cp:revision>
  <dcterms:created xsi:type="dcterms:W3CDTF">2026-10-15T01:54:12Z</dcterms:created>
  <dcterms:modified xsi:type="dcterms:W3CDTF">2026-10-15T14:47:00Z</dcterms:modified>
</cp:coreProperties>
</file>