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deck" id="{09b276dc-e5d9-9f79-a78c-808bc95835f4}">
          <p14:sldIdLst>
            <p14:sldId id="256"/>
            <p14:sldId id="257"/>
            <p14:sldId id="258"/>
            <p14:sldId id="259"/>
            <p14:sldId id="260"/>
            <p14:sldId id="261"/>
            <p14:sldId id="262"/>
            <p14:sldId id="263"/>
            <p14:sldId id="264"/>
          </p14:sldIdLst>
        </p14:section>
        <p14:section name="Appendix" id="{da3f36f0-63d2-13b8-8303-ad13f5caabea}">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 is not to generate a spreadsheet from scratch. It is to preserve and update the firm's approved valuation model. The colours are consistent throughout: green is AI, blue is Python tools and verification, orange is always the analyst, grey is files and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analyst remains responsible for judgment. Today, most analyst time goes to rediscovering the model, finding the data, updating Excel and checking it. In the target state, AI does the interpretation and finding, Python tools apply and check the edits, and the analyst's time is concentrated on valuation judgment. The bars are illustrative; we will measure actual time in the real-company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initially designed for the highest-risk case because the key unknown was whether a general model could understand and manipulate the valuation model reliably. We then tested that assumption directly. The model performed more strongly than expected, so we are reducing architecture before building unnecessary complexity. The original architecture established the risk boundaries and produced the benchmark needed to justify a simpler MVP. Avoid saying the original architecture was unnecessary.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evidence that AI cannot perform the valuation. It found the answer but did not fully preserve the model's calculation path, and its self-check overstated success. A comment documenting the source is not enough: the live chain from inputs to subtotal to Adjusted EBITDA to valuation has to survive. Screenshot option: add three images from the Opus steelman run (source data, the zeroed adjustment rows, the approved formula pattern). Keep those confidential images out of any shared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difference from the steelman test. There, the AI checked itself with code it wrote on the spot. Now verification code is fixed, tested in advance and outside the AI's control. On the first synthetic run, the AI's roll-forward got every headline number right, but the verifier found that a prior-quarter snapshot was silently showing current-quarter numbers. That is the type of error the control exists to catch.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Latest approved workbook in, verified roll-forward out. AI inspects the files and maps the new evidence, directs the workbook update, and Python tools apply and verify it. Mechanical failures go back to the AI to repair; only genuine valuation judgment reaches the analyst. Once approved, that workbook is next quarter's base, so analyst decisions carry forward. New-company onboarding or a major redesign becomes a deeper mode of the same process, not necessarily a separate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across the bottom two rows: the multiple, comparables, adjustments and final approval stay with the analyst. AI supports and recommends; tools record and trace. Everything above that line is work the analyst no longer does routinely.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results are real but deliberately modest in scope. They show the mechanics work: the agent rolled the model forward, the tools preserved its structure, and the verifier caught a real error in the first run. They do not yet show the approach works on our actual portfolio models. That is the next step, and the decision about architecture waits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Recommended statement: We originally designed a more controlled multi-stage architecture because the central uncertainty was whether a general AI model could understand and modify these valuation workbooks at all. The latest steelman test showed that AI can do more of the end-to-end work than expected. The remaining gap is consistently preserving the approved model's implementation patterns and proving the finished workbook. We are therefore testing a simpler MVP first. If cross-company testing shows it lacks repeatability or governance, the Copilot Studio architecture remains the planned scale-up path. The existing Studio agents (test bench, reviewer, extractor) are kept: the test bench grades the MVP, and the others are the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run that cannot repair a mechanical failure must say so rather than present the affected outputs as usable.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Repeatability, auditability, scale, regression testing and governance are the reasons to move. The existing Studio agents map onto this path: the extractor to profile and extract, the reviewer and test bench to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6428232"/>
            <a:ext cx="146304" cy="146304"/>
          </a:xfrm>
          <a:prstGeom prst="rect">
            <a:avLst/>
          </a:prstGeom>
          <a:solidFill>
            <a:srgbClr val="1F8A5B"/>
          </a:solidFill>
          <a:ln/>
        </p:spPr>
      </p:sp>
      <p:sp>
        <p:nvSpPr>
          <p:cNvPr id="3" name="Text 1"/>
          <p:cNvSpPr/>
          <p:nvPr/>
        </p:nvSpPr>
        <p:spPr>
          <a:xfrm>
            <a:off x="749808" y="6355080"/>
            <a:ext cx="365760" cy="292608"/>
          </a:xfrm>
          <a:prstGeom prst="rect">
            <a:avLst/>
          </a:prstGeom>
          <a:noFill/>
          <a:ln/>
        </p:spPr>
        <p:txBody>
          <a:bodyPr wrap="square" lIns="0" tIns="0" rIns="0" bIns="0" rtlCol="0" anchor="ctr"/>
          <a:lstStyle/>
          <a:p>
            <a:pPr indent="0" marL="0">
              <a:buNone/>
            </a:pPr>
            <a:r>
              <a:rPr lang="en-US" sz="1000" dirty="0">
                <a:solidFill>
                  <a:srgbClr val="4A5260"/>
                </a:solidFill>
              </a:rPr>
              <a:t>AI</a:t>
            </a:r>
            <a:endParaRPr lang="en-US" sz="1000" dirty="0"/>
          </a:p>
        </p:txBody>
      </p:sp>
      <p:sp>
        <p:nvSpPr>
          <p:cNvPr id="4" name="Shape 2"/>
          <p:cNvSpPr/>
          <p:nvPr/>
        </p:nvSpPr>
        <p:spPr>
          <a:xfrm>
            <a:off x="1344168" y="6428232"/>
            <a:ext cx="146304" cy="146304"/>
          </a:xfrm>
          <a:prstGeom prst="rect">
            <a:avLst/>
          </a:prstGeom>
          <a:solidFill>
            <a:srgbClr val="2C6FB7"/>
          </a:solidFill>
          <a:ln/>
        </p:spPr>
      </p:sp>
      <p:sp>
        <p:nvSpPr>
          <p:cNvPr id="5" name="Text 3"/>
          <p:cNvSpPr/>
          <p:nvPr/>
        </p:nvSpPr>
        <p:spPr>
          <a:xfrm>
            <a:off x="1545336" y="6355080"/>
            <a:ext cx="2080260" cy="292608"/>
          </a:xfrm>
          <a:prstGeom prst="rect">
            <a:avLst/>
          </a:prstGeom>
          <a:noFill/>
          <a:ln/>
        </p:spPr>
        <p:txBody>
          <a:bodyPr wrap="square" lIns="0" tIns="0" rIns="0" bIns="0" rtlCol="0" anchor="ctr"/>
          <a:lstStyle/>
          <a:p>
            <a:pPr indent="0" marL="0">
              <a:buNone/>
            </a:pPr>
            <a:r>
              <a:rPr lang="en-US" sz="1000" dirty="0">
                <a:solidFill>
                  <a:srgbClr val="4A5260"/>
                </a:solidFill>
              </a:rPr>
              <a:t>Python tools &amp; verification</a:t>
            </a:r>
            <a:endParaRPr lang="en-US" sz="1000" dirty="0"/>
          </a:p>
        </p:txBody>
      </p:sp>
      <p:sp>
        <p:nvSpPr>
          <p:cNvPr id="6" name="Shape 4"/>
          <p:cNvSpPr/>
          <p:nvPr/>
        </p:nvSpPr>
        <p:spPr>
          <a:xfrm>
            <a:off x="3854196" y="6428232"/>
            <a:ext cx="146304" cy="146304"/>
          </a:xfrm>
          <a:prstGeom prst="rect">
            <a:avLst/>
          </a:prstGeom>
          <a:solidFill>
            <a:srgbClr val="E07A1F"/>
          </a:solidFill>
          <a:ln/>
        </p:spPr>
      </p:sp>
      <p:sp>
        <p:nvSpPr>
          <p:cNvPr id="7" name="Text 5"/>
          <p:cNvSpPr/>
          <p:nvPr/>
        </p:nvSpPr>
        <p:spPr>
          <a:xfrm>
            <a:off x="4055364" y="6355080"/>
            <a:ext cx="708660" cy="292608"/>
          </a:xfrm>
          <a:prstGeom prst="rect">
            <a:avLst/>
          </a:prstGeom>
          <a:noFill/>
          <a:ln/>
        </p:spPr>
        <p:txBody>
          <a:bodyPr wrap="square" lIns="0" tIns="0" rIns="0" bIns="0" rtlCol="0" anchor="ctr"/>
          <a:lstStyle/>
          <a:p>
            <a:pPr indent="0" marL="0">
              <a:buNone/>
            </a:pPr>
            <a:r>
              <a:rPr lang="en-US" sz="1000" dirty="0">
                <a:solidFill>
                  <a:srgbClr val="4A5260"/>
                </a:solidFill>
              </a:rPr>
              <a:t>Analyst</a:t>
            </a:r>
            <a:endParaRPr lang="en-US" sz="1000" dirty="0"/>
          </a:p>
        </p:txBody>
      </p:sp>
      <p:sp>
        <p:nvSpPr>
          <p:cNvPr id="8" name="Shape 6"/>
          <p:cNvSpPr/>
          <p:nvPr/>
        </p:nvSpPr>
        <p:spPr>
          <a:xfrm>
            <a:off x="4992624" y="6428232"/>
            <a:ext cx="146304" cy="146304"/>
          </a:xfrm>
          <a:prstGeom prst="rect">
            <a:avLst/>
          </a:prstGeom>
          <a:solidFill>
            <a:srgbClr val="8C939D"/>
          </a:solidFill>
          <a:ln/>
        </p:spPr>
      </p:sp>
      <p:sp>
        <p:nvSpPr>
          <p:cNvPr id="9" name="Text 7"/>
          <p:cNvSpPr/>
          <p:nvPr/>
        </p:nvSpPr>
        <p:spPr>
          <a:xfrm>
            <a:off x="5193792" y="6355080"/>
            <a:ext cx="1257300" cy="292608"/>
          </a:xfrm>
          <a:prstGeom prst="rect">
            <a:avLst/>
          </a:prstGeom>
          <a:noFill/>
          <a:ln/>
        </p:spPr>
        <p:txBody>
          <a:bodyPr wrap="square" lIns="0" tIns="0" rIns="0" bIns="0" rtlCol="0" anchor="ctr"/>
          <a:lstStyle/>
          <a:p>
            <a:pPr indent="0" marL="0">
              <a:buNone/>
            </a:pPr>
            <a:r>
              <a:rPr lang="en-US" sz="1000" dirty="0">
                <a:solidFill>
                  <a:srgbClr val="4A5260"/>
                </a:solidFill>
              </a:rPr>
              <a:t>Files &amp; outputs</a:t>
            </a:r>
            <a:endParaRPr lang="en-US" sz="1000" dirty="0"/>
          </a:p>
        </p:txBody>
      </p:sp>
      <p:sp>
        <p:nvSpPr>
          <p:cNvPr id="10" name="Text 8"/>
          <p:cNvSpPr/>
          <p:nvPr>
            <p:ph idx="108" type="title" hasCustomPrompt="1"/>
          </p:nvPr>
        </p:nvSpPr>
        <p:spPr>
          <a:xfrm>
            <a:off x="548640" y="320040"/>
            <a:ext cx="11064240" cy="731520"/>
          </a:xfrm>
          <a:prstGeom prst="rect">
            <a:avLst/>
          </a:prstGeom>
          <a:noFill/>
          <a:ln/>
        </p:spPr>
        <p:txBody>
          <a:bodyPr wrap="square" rtlCol="0"/>
          <a:lstStyle>
            <a:lvl1pPr algn="l" indent="0" marL="0">
              <a:buNone/>
              <a:defRPr lang="en-US" sz="3600" b="1" dirty="0">
                <a:solidFill>
                  <a:srgbClr val="1E2530"/>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11" name="Text 8"/>
          <p:cNvSpPr/>
          <p:nvPr>
            <p:ph idx="109" type="body" hasCustomPrompt="1"/>
          </p:nvPr>
        </p:nvSpPr>
        <p:spPr>
          <a:xfrm>
            <a:off x="548640" y="1097280"/>
            <a:ext cx="11064240" cy="457200"/>
          </a:xfrm>
          <a:prstGeom prst="rect">
            <a:avLst/>
          </a:prstGeom>
          <a:noFill/>
          <a:ln/>
        </p:spPr>
        <p:txBody>
          <a:bodyPr wrap="square" rtlCol="0"/>
          <a:lstStyle>
            <a:lvl1pPr indent="0" marL="0">
              <a:buNone/>
              <a:defRPr lang="en-US" sz="1800" dirty="0">
                <a:solidFill>
                  <a:srgbClr val="4A5260"/>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4712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4A5260"/>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E25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48640"/>
            <a:ext cx="11064240" cy="9144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1554480"/>
            <a:ext cx="10515600" cy="822960"/>
          </a:xfrm>
          <a:prstGeom prst="rect">
            <a:avLst/>
          </a:prstGeom>
          <a:noFill/>
          <a:ln/>
        </p:spPr>
        <p:txBody>
          <a:bodyPr wrap="square" rtlCol="0"/>
          <a:lstStyle>
            <a:lvl1pPr indent="0" marL="0">
              <a:buNone/>
              <a:defRPr lang="en-US" sz="2000" dirty="0">
                <a:solidFill>
                  <a:srgbClr val="D5DBE3"/>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24712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B8C0CC"/>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4A526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3.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2.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548640"/>
            <a:ext cx="11064240" cy="9144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An AI-led quarterly valuation workflow</a:t>
            </a:r>
            <a:endParaRPr lang="en-US" sz="4000" dirty="0"/>
          </a:p>
        </p:txBody>
      </p:sp>
      <p:sp>
        <p:nvSpPr>
          <p:cNvPr id="3" name="Text 0"/>
          <p:cNvSpPr/>
          <p:nvPr>
            <p:ph idx="101" type="body" hasCustomPrompt="1"/>
          </p:nvPr>
        </p:nvSpPr>
        <p:spPr>
          <a:xfrm>
            <a:off x="548640" y="1554480"/>
            <a:ext cx="10515600" cy="822960"/>
          </a:xfrm>
          <a:prstGeom prst="rect">
            <a:avLst/>
          </a:prstGeom>
          <a:noFill/>
          <a:ln/>
        </p:spPr>
        <p:txBody>
          <a:bodyPr wrap="square" lIns="0" tIns="0" rIns="0" bIns="0" rtlCol="0" anchor="t"/>
          <a:lstStyle/>
          <a:p>
            <a:pPr indent="0" marL="0">
              <a:buNone/>
            </a:pPr>
            <a:r>
              <a:rPr lang="en-US" sz="2000" dirty="0">
                <a:solidFill>
                  <a:srgbClr val="D5DBE3"/>
                </a:solidFill>
              </a:rPr>
              <a:t>Start from the latest approved model, apply what changed, verify the live workbook, and send only judgment to the analyst.</a:t>
            </a:r>
            <a:endParaRPr lang="en-US" sz="2000" dirty="0"/>
          </a:p>
        </p:txBody>
      </p:sp>
      <p:sp>
        <p:nvSpPr>
          <p:cNvPr id="4" name="chip-1"/>
          <p:cNvSpPr/>
          <p:nvPr/>
        </p:nvSpPr>
        <p:spPr>
          <a:xfrm>
            <a:off x="548640" y="3108960"/>
            <a:ext cx="2651760" cy="1188720"/>
          </a:xfrm>
          <a:prstGeom prst="roundRect">
            <a:avLst>
              <a:gd name="adj" fmla="val 7692"/>
            </a:avLst>
          </a:prstGeom>
          <a:solidFill>
            <a:schemeClr val="accent4"/>
          </a:solidFill>
          <a:ln/>
        </p:spPr>
      </p:sp>
      <p:pic>
        <p:nvPicPr>
          <p:cNvPr id="5" name="icon-2" descr="preencoded.png">    </p:cNvPr>
          <p:cNvPicPr>
            <a:picLocks noChangeAspect="1"/>
          </p:cNvPicPr>
          <p:nvPr/>
        </p:nvPicPr>
        <p:blipFill>
          <a:blip r:embed="rId1"/>
          <a:stretch>
            <a:fillRect/>
          </a:stretch>
        </p:blipFill>
        <p:spPr>
          <a:xfrm>
            <a:off x="713232" y="3511296"/>
            <a:ext cx="384048" cy="384048"/>
          </a:xfrm>
          <a:prstGeom prst="rect">
            <a:avLst/>
          </a:prstGeom>
        </p:spPr>
      </p:pic>
      <p:sp>
        <p:nvSpPr>
          <p:cNvPr id="6" name="chiptext-3"/>
          <p:cNvSpPr txBox="1"/>
          <p:nvPr/>
        </p:nvSpPr>
        <p:spPr>
          <a:xfrm>
            <a:off x="1207008" y="3108960"/>
            <a:ext cx="1828800" cy="1188720"/>
          </a:xfrm>
          <a:prstGeom prst="rect">
            <a:avLst/>
          </a:prstGeom>
          <a:noFill/>
          <a:ln/>
        </p:spPr>
        <p:txBody>
          <a:bodyPr wrap="square" lIns="0" tIns="0" rIns="0" bIns="0" rtlCol="0" anchor="ctr"/>
          <a:lstStyle/>
          <a:p>
            <a:pPr indent="0" marL="0">
              <a:buNone/>
            </a:pPr>
            <a:r>
              <a:rPr lang="en-US" sz="1500" b="1" dirty="0">
                <a:solidFill>
                  <a:schemeClr val="bg1"/>
                </a:solidFill>
              </a:rPr>
              <a:t>Latest approved workbook</a:t>
            </a:r>
            <a:endParaRPr lang="en-US" sz="1500" dirty="0"/>
          </a:p>
          <a:p>
            <a:pPr indent="0" marL="0">
              <a:buNone/>
            </a:pPr>
            <a:r>
              <a:rPr lang="en-US" sz="1200" dirty="0">
                <a:solidFill>
                  <a:schemeClr val="bg1"/>
                </a:solidFill>
              </a:rPr>
              <a:t>+ new monthly and support files</a:t>
            </a:r>
            <a:endParaRPr lang="en-US" sz="1500" dirty="0"/>
          </a:p>
        </p:txBody>
      </p:sp>
      <p:pic>
        <p:nvPicPr>
          <p:cNvPr id="7" name="arrow-4" descr="preencoded.png">    </p:cNvPr>
          <p:cNvPicPr>
            <a:picLocks noChangeAspect="1"/>
          </p:cNvPicPr>
          <p:nvPr/>
        </p:nvPicPr>
        <p:blipFill>
          <a:blip r:embed="rId2"/>
          <a:stretch>
            <a:fillRect/>
          </a:stretch>
        </p:blipFill>
        <p:spPr>
          <a:xfrm>
            <a:off x="3310128" y="3557016"/>
            <a:ext cx="292608" cy="292608"/>
          </a:xfrm>
          <a:prstGeom prst="rect">
            <a:avLst/>
          </a:prstGeom>
        </p:spPr>
      </p:pic>
      <p:sp>
        <p:nvSpPr>
          <p:cNvPr id="8" name="chip-5"/>
          <p:cNvSpPr/>
          <p:nvPr/>
        </p:nvSpPr>
        <p:spPr>
          <a:xfrm>
            <a:off x="3712464" y="3108960"/>
            <a:ext cx="2651760" cy="1188720"/>
          </a:xfrm>
          <a:prstGeom prst="roundRect">
            <a:avLst>
              <a:gd name="adj" fmla="val 7692"/>
            </a:avLst>
          </a:prstGeom>
          <a:solidFill>
            <a:schemeClr val="accent1"/>
          </a:solidFill>
          <a:ln/>
        </p:spPr>
      </p:sp>
      <p:pic>
        <p:nvPicPr>
          <p:cNvPr id="9" name="icon-6" descr="preencoded.png">    </p:cNvPr>
          <p:cNvPicPr>
            <a:picLocks noChangeAspect="1"/>
          </p:cNvPicPr>
          <p:nvPr/>
        </p:nvPicPr>
        <p:blipFill>
          <a:blip r:embed="rId3"/>
          <a:stretch>
            <a:fillRect/>
          </a:stretch>
        </p:blipFill>
        <p:spPr>
          <a:xfrm>
            <a:off x="3877056" y="3511296"/>
            <a:ext cx="384048" cy="384048"/>
          </a:xfrm>
          <a:prstGeom prst="rect">
            <a:avLst/>
          </a:prstGeom>
        </p:spPr>
      </p:pic>
      <p:sp>
        <p:nvSpPr>
          <p:cNvPr id="10" name="chiptext-7"/>
          <p:cNvSpPr txBox="1"/>
          <p:nvPr/>
        </p:nvSpPr>
        <p:spPr>
          <a:xfrm>
            <a:off x="4370832" y="3108960"/>
            <a:ext cx="1828800" cy="1188720"/>
          </a:xfrm>
          <a:prstGeom prst="rect">
            <a:avLst/>
          </a:prstGeom>
          <a:noFill/>
          <a:ln/>
        </p:spPr>
        <p:txBody>
          <a:bodyPr wrap="square" lIns="0" tIns="0" rIns="0" bIns="0" rtlCol="0" anchor="ctr"/>
          <a:lstStyle/>
          <a:p>
            <a:pPr indent="0" marL="0">
              <a:buNone/>
            </a:pPr>
            <a:r>
              <a:rPr lang="en-US" sz="1500" b="1" dirty="0">
                <a:solidFill>
                  <a:schemeClr val="bg1"/>
                </a:solidFill>
              </a:rPr>
              <a:t>AI-led roll-forward</a:t>
            </a:r>
            <a:endParaRPr lang="en-US" sz="1500" dirty="0"/>
          </a:p>
          <a:p>
            <a:pPr indent="0" marL="0">
              <a:buNone/>
            </a:pPr>
            <a:r>
              <a:rPr lang="en-US" sz="1200" dirty="0">
                <a:solidFill>
                  <a:schemeClr val="bg1"/>
                </a:solidFill>
              </a:rPr>
              <a:t>interpret, map, update</a:t>
            </a:r>
            <a:endParaRPr lang="en-US" sz="1500" dirty="0"/>
          </a:p>
        </p:txBody>
      </p:sp>
      <p:pic>
        <p:nvPicPr>
          <p:cNvPr id="11" name="arrow-8" descr="preencoded.png">    </p:cNvPr>
          <p:cNvPicPr>
            <a:picLocks noChangeAspect="1"/>
          </p:cNvPicPr>
          <p:nvPr/>
        </p:nvPicPr>
        <p:blipFill>
          <a:blip r:embed="rId4"/>
          <a:stretch>
            <a:fillRect/>
          </a:stretch>
        </p:blipFill>
        <p:spPr>
          <a:xfrm>
            <a:off x="6473952" y="3557016"/>
            <a:ext cx="292608" cy="292608"/>
          </a:xfrm>
          <a:prstGeom prst="rect">
            <a:avLst/>
          </a:prstGeom>
        </p:spPr>
      </p:pic>
      <p:sp>
        <p:nvSpPr>
          <p:cNvPr id="12" name="chip-9"/>
          <p:cNvSpPr/>
          <p:nvPr/>
        </p:nvSpPr>
        <p:spPr>
          <a:xfrm>
            <a:off x="6876288" y="3108960"/>
            <a:ext cx="2194560" cy="1188720"/>
          </a:xfrm>
          <a:prstGeom prst="roundRect">
            <a:avLst>
              <a:gd name="adj" fmla="val 7692"/>
            </a:avLst>
          </a:prstGeom>
          <a:solidFill>
            <a:schemeClr val="accent2"/>
          </a:solidFill>
          <a:ln/>
        </p:spPr>
      </p:sp>
      <p:pic>
        <p:nvPicPr>
          <p:cNvPr id="13" name="icon-10" descr="preencoded.png">    </p:cNvPr>
          <p:cNvPicPr>
            <a:picLocks noChangeAspect="1"/>
          </p:cNvPicPr>
          <p:nvPr/>
        </p:nvPicPr>
        <p:blipFill>
          <a:blip r:embed="rId5"/>
          <a:stretch>
            <a:fillRect/>
          </a:stretch>
        </p:blipFill>
        <p:spPr>
          <a:xfrm>
            <a:off x="7040880" y="3511296"/>
            <a:ext cx="384048" cy="384048"/>
          </a:xfrm>
          <a:prstGeom prst="rect">
            <a:avLst/>
          </a:prstGeom>
        </p:spPr>
      </p:pic>
      <p:sp>
        <p:nvSpPr>
          <p:cNvPr id="14" name="chiptext-11"/>
          <p:cNvSpPr txBox="1"/>
          <p:nvPr/>
        </p:nvSpPr>
        <p:spPr>
          <a:xfrm>
            <a:off x="7534656" y="3108960"/>
            <a:ext cx="1371600" cy="1188720"/>
          </a:xfrm>
          <a:prstGeom prst="rect">
            <a:avLst/>
          </a:prstGeom>
          <a:noFill/>
          <a:ln/>
        </p:spPr>
        <p:txBody>
          <a:bodyPr wrap="square" lIns="0" tIns="0" rIns="0" bIns="0" rtlCol="0" anchor="ctr"/>
          <a:lstStyle/>
          <a:p>
            <a:pPr indent="0" marL="0">
              <a:buNone/>
            </a:pPr>
            <a:r>
              <a:rPr lang="en-US" sz="1500" b="1" dirty="0">
                <a:solidFill>
                  <a:schemeClr val="bg1"/>
                </a:solidFill>
              </a:rPr>
              <a:t>Verification</a:t>
            </a:r>
            <a:endParaRPr lang="en-US" sz="1500" dirty="0"/>
          </a:p>
          <a:p>
            <a:pPr indent="0" marL="0">
              <a:buNone/>
            </a:pPr>
            <a:r>
              <a:rPr lang="en-US" sz="1200" dirty="0">
                <a:solidFill>
                  <a:schemeClr val="bg1"/>
                </a:solidFill>
              </a:rPr>
              <a:t>prove the finished file</a:t>
            </a:r>
            <a:endParaRPr lang="en-US" sz="1500" dirty="0"/>
          </a:p>
        </p:txBody>
      </p:sp>
      <p:pic>
        <p:nvPicPr>
          <p:cNvPr id="15" name="arrow-12" descr="preencoded.png">    </p:cNvPr>
          <p:cNvPicPr>
            <a:picLocks noChangeAspect="1"/>
          </p:cNvPicPr>
          <p:nvPr/>
        </p:nvPicPr>
        <p:blipFill>
          <a:blip r:embed="rId6"/>
          <a:stretch>
            <a:fillRect/>
          </a:stretch>
        </p:blipFill>
        <p:spPr>
          <a:xfrm>
            <a:off x="9180576" y="3557016"/>
            <a:ext cx="292608" cy="292608"/>
          </a:xfrm>
          <a:prstGeom prst="rect">
            <a:avLst/>
          </a:prstGeom>
        </p:spPr>
      </p:pic>
      <p:sp>
        <p:nvSpPr>
          <p:cNvPr id="16" name="chip-13"/>
          <p:cNvSpPr/>
          <p:nvPr/>
        </p:nvSpPr>
        <p:spPr>
          <a:xfrm>
            <a:off x="9582912" y="3108960"/>
            <a:ext cx="2057400" cy="1188720"/>
          </a:xfrm>
          <a:prstGeom prst="roundRect">
            <a:avLst>
              <a:gd name="adj" fmla="val 7692"/>
            </a:avLst>
          </a:prstGeom>
          <a:solidFill>
            <a:schemeClr val="accent3"/>
          </a:solidFill>
          <a:ln/>
        </p:spPr>
      </p:sp>
      <p:pic>
        <p:nvPicPr>
          <p:cNvPr id="17" name="icon-14" descr="preencoded.png">    </p:cNvPr>
          <p:cNvPicPr>
            <a:picLocks noChangeAspect="1"/>
          </p:cNvPicPr>
          <p:nvPr/>
        </p:nvPicPr>
        <p:blipFill>
          <a:blip r:embed="rId7"/>
          <a:stretch>
            <a:fillRect/>
          </a:stretch>
        </p:blipFill>
        <p:spPr>
          <a:xfrm>
            <a:off x="9747504" y="3511296"/>
            <a:ext cx="384048" cy="384048"/>
          </a:xfrm>
          <a:prstGeom prst="rect">
            <a:avLst/>
          </a:prstGeom>
        </p:spPr>
      </p:pic>
      <p:sp>
        <p:nvSpPr>
          <p:cNvPr id="18" name="chiptext-15"/>
          <p:cNvSpPr txBox="1"/>
          <p:nvPr/>
        </p:nvSpPr>
        <p:spPr>
          <a:xfrm>
            <a:off x="10241280" y="3108960"/>
            <a:ext cx="1234440" cy="1188720"/>
          </a:xfrm>
          <a:prstGeom prst="rect">
            <a:avLst/>
          </a:prstGeom>
          <a:noFill/>
          <a:ln/>
        </p:spPr>
        <p:txBody>
          <a:bodyPr wrap="square" lIns="0" tIns="0" rIns="0" bIns="0" rtlCol="0" anchor="ctr"/>
          <a:lstStyle/>
          <a:p>
            <a:pPr indent="0" marL="0">
              <a:buNone/>
            </a:pPr>
            <a:r>
              <a:rPr lang="en-US" sz="1500" b="1" dirty="0">
                <a:solidFill>
                  <a:schemeClr val="bg1"/>
                </a:solidFill>
              </a:rPr>
              <a:t>Analyst</a:t>
            </a:r>
            <a:endParaRPr lang="en-US" sz="1500" dirty="0"/>
          </a:p>
          <a:p>
            <a:pPr indent="0" marL="0">
              <a:buNone/>
            </a:pPr>
            <a:r>
              <a:rPr lang="en-US" sz="1200" dirty="0">
                <a:solidFill>
                  <a:schemeClr val="bg1"/>
                </a:solidFill>
              </a:rPr>
              <a:t>judgment and approval</a:t>
            </a:r>
            <a:endParaRPr lang="en-US" sz="1500" dirty="0"/>
          </a:p>
        </p:txBody>
      </p:sp>
      <p:sp>
        <p:nvSpPr>
          <p:cNvPr id="19" name="legend-16"/>
          <p:cNvSpPr txBox="1"/>
          <p:nvPr/>
        </p:nvSpPr>
        <p:spPr>
          <a:xfrm>
            <a:off x="548640" y="4846320"/>
            <a:ext cx="10972800" cy="365760"/>
          </a:xfrm>
          <a:prstGeom prst="rect">
            <a:avLst/>
          </a:prstGeom>
          <a:noFill/>
          <a:ln/>
        </p:spPr>
        <p:txBody>
          <a:bodyPr wrap="square" lIns="0" tIns="0" rIns="0" bIns="0" rtlCol="0" anchor="ctr"/>
          <a:lstStyle/>
          <a:p>
            <a:pPr indent="0" marL="0">
              <a:buNone/>
            </a:pPr>
            <a:r>
              <a:rPr lang="en-US" sz="1400" b="1" dirty="0">
                <a:solidFill>
                  <a:srgbClr val="1F8A5B"/>
                </a:solidFill>
              </a:rPr>
              <a:t>Green </a:t>
            </a:r>
            <a:pPr indent="0" marL="0">
              <a:buNone/>
            </a:pPr>
            <a:r>
              <a:rPr lang="en-US" sz="1400" dirty="0">
                <a:solidFill>
                  <a:srgbClr val="D5DBE3"/>
                </a:solidFill>
              </a:rPr>
              <a:t>AI   </a:t>
            </a:r>
            <a:pPr indent="0" marL="0">
              <a:buNone/>
            </a:pPr>
            <a:r>
              <a:rPr lang="en-US" sz="1400" b="1" dirty="0">
                <a:solidFill>
                  <a:srgbClr val="6FA3DB"/>
                </a:solidFill>
              </a:rPr>
              <a:t>Blue </a:t>
            </a:r>
            <a:pPr indent="0" marL="0">
              <a:buNone/>
            </a:pPr>
            <a:r>
              <a:rPr lang="en-US" sz="1400" dirty="0">
                <a:solidFill>
                  <a:srgbClr val="D5DBE3"/>
                </a:solidFill>
              </a:rPr>
              <a:t>Python tools   </a:t>
            </a:r>
            <a:pPr indent="0" marL="0">
              <a:buNone/>
            </a:pPr>
            <a:r>
              <a:rPr lang="en-US" sz="1400" b="1" dirty="0">
                <a:solidFill>
                  <a:srgbClr val="E07A1F"/>
                </a:solidFill>
              </a:rPr>
              <a:t>Orange </a:t>
            </a:r>
            <a:pPr indent="0" marL="0">
              <a:buNone/>
            </a:pPr>
            <a:r>
              <a:rPr lang="en-US" sz="1400" dirty="0">
                <a:solidFill>
                  <a:srgbClr val="D5DBE3"/>
                </a:solidFill>
              </a:rPr>
              <a:t>Analyst   </a:t>
            </a:r>
            <a:pPr indent="0" marL="0">
              <a:buNone/>
            </a:pPr>
            <a:r>
              <a:rPr lang="en-US" sz="1400" b="1" dirty="0">
                <a:solidFill>
                  <a:srgbClr val="B8C0CC"/>
                </a:solidFill>
              </a:rPr>
              <a:t>Grey </a:t>
            </a:r>
            <a:pPr indent="0" marL="0">
              <a:buNone/>
            </a:pPr>
            <a:r>
              <a:rPr lang="en-US" sz="1400" dirty="0">
                <a:solidFill>
                  <a:srgbClr val="D5DBE3"/>
                </a:solidFill>
              </a:rPr>
              <a:t>Files and outputs</a:t>
            </a:r>
            <a:endParaRPr lang="en-US" sz="1400" dirty="0"/>
          </a:p>
        </p:txBody>
      </p:sp>
      <p:sp>
        <p:nvSpPr>
          <p:cNvPr id="20" name="footer-17"/>
          <p:cNvSpPr txBox="1"/>
          <p:nvPr/>
        </p:nvSpPr>
        <p:spPr>
          <a:xfrm>
            <a:off x="548640" y="6035040"/>
            <a:ext cx="8229600" cy="320040"/>
          </a:xfrm>
          <a:prstGeom prst="rect">
            <a:avLst/>
          </a:prstGeom>
          <a:noFill/>
          <a:ln/>
        </p:spPr>
        <p:txBody>
          <a:bodyPr wrap="square" lIns="0" tIns="0" rIns="0" bIns="0" rtlCol="0" anchor="ctr"/>
          <a:lstStyle/>
          <a:p>
            <a:pPr indent="0" marL="0">
              <a:buNone/>
            </a:pPr>
            <a:r>
              <a:rPr lang="en-US" sz="1200" dirty="0">
                <a:solidFill>
                  <a:srgbClr val="B8C0CC"/>
                </a:solidFill>
              </a:rPr>
              <a:t>XPV Water Partners  |  Valuation automation  |  October 2026</a:t>
            </a:r>
            <a:endParaRPr lang="en-US" sz="1200" dirty="0"/>
          </a:p>
        </p:txBody>
      </p:sp>
      <p:sp>
        <p:nvSpPr>
          <p:cNvPr id="25" name="Slide Number Placeholder 0"/>
          <p:cNvSpPr>
            <a:spLocks noGrp="1"/>
          </p:cNvSpPr>
          <p:nvPr>
            <p:ph type="sldNum" sz="quarter" idx="4294967295"/>
          </p:nvPr>
        </p:nvSpPr>
        <p:spPr>
          <a:xfrm>
            <a:off x="1124712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B8C0CC"/>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8"/>
          <p:cNvSpPr/>
          <p:nvPr>
            <p:ph idx="108" type="title" hasCustomPrompt="1"/>
          </p:nvPr>
        </p:nvSpPr>
        <p:spPr>
          <a:xfrm>
            <a:off x="548640" y="320040"/>
            <a:ext cx="11064240" cy="731520"/>
          </a:xfrm>
          <a:prstGeom prst="rect">
            <a:avLst/>
          </a:prstGeom>
          <a:noFill/>
          <a:ln/>
        </p:spPr>
        <p:txBody>
          <a:bodyPr wrap="square" lIns="0" tIns="0" rIns="0" bIns="0" rtlCol="0" anchor="t"/>
          <a:lstStyle/>
          <a:p>
            <a:pPr algn="l" indent="0" marL="0">
              <a:buNone/>
            </a:pPr>
            <a:r>
              <a:rPr lang="en-US" sz="3600" b="1" dirty="0">
                <a:solidFill>
                  <a:srgbClr val="1E2530"/>
                </a:solidFill>
                <a:latin typeface="Cambria" pitchFamily="34" charset="0"/>
                <a:ea typeface="Cambria" pitchFamily="34" charset="-122"/>
                <a:cs typeface="Cambria" pitchFamily="34" charset="-120"/>
              </a:rPr>
              <a:t>Analysts rebuild the same understanding</a:t>
            </a:r>
            <a:endParaRPr lang="en-US" sz="3600" dirty="0"/>
          </a:p>
        </p:txBody>
      </p:sp>
      <p:sp>
        <p:nvSpPr>
          <p:cNvPr id="3" name="Text 8"/>
          <p:cNvSpPr/>
          <p:nvPr>
            <p:ph idx="109" type="body" hasCustomPrompt="1"/>
          </p:nvPr>
        </p:nvSpPr>
        <p:spPr>
          <a:xfrm>
            <a:off x="548640" y="1097280"/>
            <a:ext cx="11064240" cy="457200"/>
          </a:xfrm>
          <a:prstGeom prst="rect">
            <a:avLst/>
          </a:prstGeom>
          <a:noFill/>
          <a:ln/>
        </p:spPr>
        <p:txBody>
          <a:bodyPr wrap="square" lIns="0" tIns="0" rIns="0" bIns="0" rtlCol="0" anchor="t"/>
          <a:lstStyle/>
          <a:p>
            <a:pPr indent="0" marL="0">
              <a:buNone/>
            </a:pPr>
            <a:r>
              <a:rPr lang="en-US" sz="1800" dirty="0">
                <a:solidFill>
                  <a:srgbClr val="4A5260"/>
                </a:solidFill>
              </a:rPr>
              <a:t>The goal: remove searching, copying, tracing and mechanical checking, not judgment.</a:t>
            </a:r>
            <a:endParaRPr lang="en-US" sz="1800" dirty="0"/>
          </a:p>
        </p:txBody>
      </p:sp>
      <p:sp>
        <p:nvSpPr>
          <p:cNvPr id="4" name="text-18"/>
          <p:cNvSpPr txBox="1"/>
          <p:nvPr/>
        </p:nvSpPr>
        <p:spPr>
          <a:xfrm>
            <a:off x="548640" y="1828800"/>
            <a:ext cx="5120640" cy="320040"/>
          </a:xfrm>
          <a:prstGeom prst="rect">
            <a:avLst/>
          </a:prstGeom>
          <a:noFill/>
          <a:ln/>
        </p:spPr>
        <p:txBody>
          <a:bodyPr wrap="square" lIns="0" tIns="0" rIns="0" bIns="0" rtlCol="0" anchor="t"/>
          <a:lstStyle/>
          <a:p>
            <a:pPr indent="0" marL="0">
              <a:buNone/>
            </a:pPr>
            <a:r>
              <a:rPr lang="en-US" sz="1400" b="1" dirty="0">
                <a:solidFill>
                  <a:schemeClr val="tx2"/>
                </a:solidFill>
              </a:rPr>
              <a:t>TODAY</a:t>
            </a:r>
            <a:endParaRPr lang="en-US" sz="1400" dirty="0"/>
          </a:p>
        </p:txBody>
      </p:sp>
      <p:sp>
        <p:nvSpPr>
          <p:cNvPr id="5" name="text-19"/>
          <p:cNvSpPr txBox="1"/>
          <p:nvPr/>
        </p:nvSpPr>
        <p:spPr>
          <a:xfrm>
            <a:off x="6400800" y="1828800"/>
            <a:ext cx="5120640" cy="320040"/>
          </a:xfrm>
          <a:prstGeom prst="rect">
            <a:avLst/>
          </a:prstGeom>
          <a:noFill/>
          <a:ln/>
        </p:spPr>
        <p:txBody>
          <a:bodyPr wrap="square" lIns="0" tIns="0" rIns="0" bIns="0" rtlCol="0" anchor="t"/>
          <a:lstStyle/>
          <a:p>
            <a:pPr indent="0" marL="0">
              <a:buNone/>
            </a:pPr>
            <a:r>
              <a:rPr lang="en-US" sz="1400" b="1" dirty="0">
                <a:solidFill>
                  <a:schemeClr val="tx2"/>
                </a:solidFill>
              </a:rPr>
              <a:t>TARGET</a:t>
            </a:r>
            <a:endParaRPr lang="en-US" sz="1400" dirty="0"/>
          </a:p>
        </p:txBody>
      </p:sp>
      <p:sp>
        <p:nvSpPr>
          <p:cNvPr id="6" name="text-20"/>
          <p:cNvSpPr txBox="1"/>
          <p:nvPr/>
        </p:nvSpPr>
        <p:spPr>
          <a:xfrm>
            <a:off x="548640" y="2267712"/>
            <a:ext cx="2286000" cy="457200"/>
          </a:xfrm>
          <a:prstGeom prst="rect">
            <a:avLst/>
          </a:prstGeom>
          <a:noFill/>
          <a:ln/>
        </p:spPr>
        <p:txBody>
          <a:bodyPr wrap="square" lIns="0" tIns="0" rIns="0" bIns="0" rtlCol="0" anchor="ctr"/>
          <a:lstStyle/>
          <a:p>
            <a:pPr indent="0" marL="0">
              <a:buNone/>
            </a:pPr>
            <a:r>
              <a:rPr lang="en-US" sz="1400" dirty="0">
                <a:solidFill>
                  <a:schemeClr val="tx1"/>
                </a:solidFill>
              </a:rPr>
              <a:t>Interpret files and model</a:t>
            </a:r>
            <a:endParaRPr lang="en-US" sz="1400" dirty="0"/>
          </a:p>
        </p:txBody>
      </p:sp>
      <p:sp>
        <p:nvSpPr>
          <p:cNvPr id="7" name="bar-21"/>
          <p:cNvSpPr/>
          <p:nvPr/>
        </p:nvSpPr>
        <p:spPr>
          <a:xfrm>
            <a:off x="2834640" y="2286000"/>
            <a:ext cx="2611526" cy="420624"/>
          </a:xfrm>
          <a:prstGeom prst="rect">
            <a:avLst/>
          </a:prstGeom>
          <a:solidFill>
            <a:schemeClr val="accent3"/>
          </a:solidFill>
          <a:ln/>
        </p:spPr>
      </p:sp>
      <p:sp>
        <p:nvSpPr>
          <p:cNvPr id="8" name="bar-22"/>
          <p:cNvSpPr/>
          <p:nvPr/>
        </p:nvSpPr>
        <p:spPr>
          <a:xfrm>
            <a:off x="6400800" y="2286000"/>
            <a:ext cx="2611526" cy="420624"/>
          </a:xfrm>
          <a:prstGeom prst="rect">
            <a:avLst/>
          </a:prstGeom>
          <a:solidFill>
            <a:schemeClr val="accent1"/>
          </a:solidFill>
          <a:ln w="12700">
            <a:solidFill>
              <a:srgbClr val="FFFFFF"/>
            </a:solidFill>
            <a:prstDash val="solid"/>
          </a:ln>
        </p:spPr>
      </p:sp>
      <p:sp>
        <p:nvSpPr>
          <p:cNvPr id="9" name="text-23"/>
          <p:cNvSpPr txBox="1"/>
          <p:nvPr/>
        </p:nvSpPr>
        <p:spPr>
          <a:xfrm>
            <a:off x="548640" y="3017520"/>
            <a:ext cx="2286000" cy="457200"/>
          </a:xfrm>
          <a:prstGeom prst="rect">
            <a:avLst/>
          </a:prstGeom>
          <a:noFill/>
          <a:ln/>
        </p:spPr>
        <p:txBody>
          <a:bodyPr wrap="square" lIns="0" tIns="0" rIns="0" bIns="0" rtlCol="0" anchor="ctr"/>
          <a:lstStyle/>
          <a:p>
            <a:pPr indent="0" marL="0">
              <a:buNone/>
            </a:pPr>
            <a:r>
              <a:rPr lang="en-US" sz="1400" dirty="0">
                <a:solidFill>
                  <a:schemeClr val="tx1"/>
                </a:solidFill>
              </a:rPr>
              <a:t>Find the new data</a:t>
            </a:r>
            <a:endParaRPr lang="en-US" sz="1400" dirty="0"/>
          </a:p>
        </p:txBody>
      </p:sp>
      <p:sp>
        <p:nvSpPr>
          <p:cNvPr id="10" name="bar-24"/>
          <p:cNvSpPr/>
          <p:nvPr/>
        </p:nvSpPr>
        <p:spPr>
          <a:xfrm>
            <a:off x="2834640" y="3035808"/>
            <a:ext cx="2285086" cy="420624"/>
          </a:xfrm>
          <a:prstGeom prst="rect">
            <a:avLst/>
          </a:prstGeom>
          <a:solidFill>
            <a:schemeClr val="accent3"/>
          </a:solidFill>
          <a:ln/>
        </p:spPr>
      </p:sp>
      <p:sp>
        <p:nvSpPr>
          <p:cNvPr id="11" name="bar-25"/>
          <p:cNvSpPr/>
          <p:nvPr/>
        </p:nvSpPr>
        <p:spPr>
          <a:xfrm>
            <a:off x="6400800" y="3035808"/>
            <a:ext cx="2285086" cy="420624"/>
          </a:xfrm>
          <a:prstGeom prst="rect">
            <a:avLst/>
          </a:prstGeom>
          <a:solidFill>
            <a:schemeClr val="accent1"/>
          </a:solidFill>
          <a:ln w="12700">
            <a:solidFill>
              <a:srgbClr val="FFFFFF"/>
            </a:solidFill>
            <a:prstDash val="solid"/>
          </a:ln>
        </p:spPr>
      </p:sp>
      <p:sp>
        <p:nvSpPr>
          <p:cNvPr id="12" name="text-26"/>
          <p:cNvSpPr txBox="1"/>
          <p:nvPr/>
        </p:nvSpPr>
        <p:spPr>
          <a:xfrm>
            <a:off x="548640" y="3767328"/>
            <a:ext cx="2286000" cy="457200"/>
          </a:xfrm>
          <a:prstGeom prst="rect">
            <a:avLst/>
          </a:prstGeom>
          <a:noFill/>
          <a:ln/>
        </p:spPr>
        <p:txBody>
          <a:bodyPr wrap="square" lIns="0" tIns="0" rIns="0" bIns="0" rtlCol="0" anchor="ctr"/>
          <a:lstStyle/>
          <a:p>
            <a:pPr indent="0" marL="0">
              <a:buNone/>
            </a:pPr>
            <a:r>
              <a:rPr lang="en-US" sz="1400" dirty="0">
                <a:solidFill>
                  <a:schemeClr val="tx1"/>
                </a:solidFill>
              </a:rPr>
              <a:t>Update the workbook</a:t>
            </a:r>
            <a:endParaRPr lang="en-US" sz="1400" dirty="0"/>
          </a:p>
        </p:txBody>
      </p:sp>
      <p:sp>
        <p:nvSpPr>
          <p:cNvPr id="13" name="bar-27"/>
          <p:cNvSpPr/>
          <p:nvPr/>
        </p:nvSpPr>
        <p:spPr>
          <a:xfrm>
            <a:off x="2834640" y="3785616"/>
            <a:ext cx="2611526" cy="420624"/>
          </a:xfrm>
          <a:prstGeom prst="rect">
            <a:avLst/>
          </a:prstGeom>
          <a:solidFill>
            <a:schemeClr val="accent3"/>
          </a:solidFill>
          <a:ln/>
        </p:spPr>
      </p:sp>
      <p:sp>
        <p:nvSpPr>
          <p:cNvPr id="14" name="bar-28"/>
          <p:cNvSpPr/>
          <p:nvPr/>
        </p:nvSpPr>
        <p:spPr>
          <a:xfrm>
            <a:off x="6400800" y="3785616"/>
            <a:ext cx="652882" cy="420624"/>
          </a:xfrm>
          <a:prstGeom prst="rect">
            <a:avLst/>
          </a:prstGeom>
          <a:solidFill>
            <a:schemeClr val="accent1"/>
          </a:solidFill>
          <a:ln w="12700">
            <a:solidFill>
              <a:srgbClr val="FFFFFF"/>
            </a:solidFill>
            <a:prstDash val="solid"/>
          </a:ln>
        </p:spPr>
      </p:sp>
      <p:sp>
        <p:nvSpPr>
          <p:cNvPr id="15" name="bar-29"/>
          <p:cNvSpPr/>
          <p:nvPr/>
        </p:nvSpPr>
        <p:spPr>
          <a:xfrm>
            <a:off x="7053682" y="3785616"/>
            <a:ext cx="1958645" cy="420624"/>
          </a:xfrm>
          <a:prstGeom prst="rect">
            <a:avLst/>
          </a:prstGeom>
          <a:solidFill>
            <a:schemeClr val="accent2"/>
          </a:solidFill>
          <a:ln w="12700">
            <a:solidFill>
              <a:srgbClr val="FFFFFF"/>
            </a:solidFill>
            <a:prstDash val="solid"/>
          </a:ln>
        </p:spPr>
      </p:sp>
      <p:sp>
        <p:nvSpPr>
          <p:cNvPr id="16" name="text-30"/>
          <p:cNvSpPr txBox="1"/>
          <p:nvPr/>
        </p:nvSpPr>
        <p:spPr>
          <a:xfrm>
            <a:off x="548640" y="4517136"/>
            <a:ext cx="2286000" cy="457200"/>
          </a:xfrm>
          <a:prstGeom prst="rect">
            <a:avLst/>
          </a:prstGeom>
          <a:noFill/>
          <a:ln/>
        </p:spPr>
        <p:txBody>
          <a:bodyPr wrap="square" lIns="0" tIns="0" rIns="0" bIns="0" rtlCol="0" anchor="ctr"/>
          <a:lstStyle/>
          <a:p>
            <a:pPr indent="0" marL="0">
              <a:buNone/>
            </a:pPr>
            <a:r>
              <a:rPr lang="en-US" sz="1400" dirty="0">
                <a:solidFill>
                  <a:schemeClr val="tx1"/>
                </a:solidFill>
              </a:rPr>
              <a:t>Check the work</a:t>
            </a:r>
            <a:endParaRPr lang="en-US" sz="1400" dirty="0"/>
          </a:p>
        </p:txBody>
      </p:sp>
      <p:sp>
        <p:nvSpPr>
          <p:cNvPr id="17" name="bar-31"/>
          <p:cNvSpPr/>
          <p:nvPr/>
        </p:nvSpPr>
        <p:spPr>
          <a:xfrm>
            <a:off x="2834640" y="4535424"/>
            <a:ext cx="2611526" cy="420624"/>
          </a:xfrm>
          <a:prstGeom prst="rect">
            <a:avLst/>
          </a:prstGeom>
          <a:solidFill>
            <a:schemeClr val="accent3"/>
          </a:solidFill>
          <a:ln/>
        </p:spPr>
      </p:sp>
      <p:sp>
        <p:nvSpPr>
          <p:cNvPr id="18" name="bar-32"/>
          <p:cNvSpPr/>
          <p:nvPr/>
        </p:nvSpPr>
        <p:spPr>
          <a:xfrm>
            <a:off x="6400800" y="4535424"/>
            <a:ext cx="2611526" cy="420624"/>
          </a:xfrm>
          <a:prstGeom prst="rect">
            <a:avLst/>
          </a:prstGeom>
          <a:solidFill>
            <a:schemeClr val="accent2"/>
          </a:solidFill>
          <a:ln w="12700">
            <a:solidFill>
              <a:srgbClr val="FFFFFF"/>
            </a:solidFill>
            <a:prstDash val="solid"/>
          </a:ln>
        </p:spPr>
      </p:sp>
      <p:sp>
        <p:nvSpPr>
          <p:cNvPr id="19" name="text-33"/>
          <p:cNvSpPr txBox="1"/>
          <p:nvPr/>
        </p:nvSpPr>
        <p:spPr>
          <a:xfrm>
            <a:off x="548640" y="5266944"/>
            <a:ext cx="2286000" cy="457200"/>
          </a:xfrm>
          <a:prstGeom prst="rect">
            <a:avLst/>
          </a:prstGeom>
          <a:noFill/>
          <a:ln/>
        </p:spPr>
        <p:txBody>
          <a:bodyPr wrap="square" lIns="0" tIns="0" rIns="0" bIns="0" rtlCol="0" anchor="ctr"/>
          <a:lstStyle/>
          <a:p>
            <a:pPr indent="0" marL="0">
              <a:buNone/>
            </a:pPr>
            <a:r>
              <a:rPr lang="en-US" sz="1400" dirty="0">
                <a:solidFill>
                  <a:schemeClr val="tx1"/>
                </a:solidFill>
              </a:rPr>
              <a:t>Valuation judgment</a:t>
            </a:r>
            <a:endParaRPr lang="en-US" sz="1400" dirty="0"/>
          </a:p>
        </p:txBody>
      </p:sp>
      <p:sp>
        <p:nvSpPr>
          <p:cNvPr id="20" name="bar-34"/>
          <p:cNvSpPr/>
          <p:nvPr/>
        </p:nvSpPr>
        <p:spPr>
          <a:xfrm>
            <a:off x="2834640" y="5285232"/>
            <a:ext cx="979322" cy="420624"/>
          </a:xfrm>
          <a:prstGeom prst="rect">
            <a:avLst/>
          </a:prstGeom>
          <a:solidFill>
            <a:schemeClr val="accent3"/>
          </a:solidFill>
          <a:ln/>
        </p:spPr>
      </p:sp>
      <p:sp>
        <p:nvSpPr>
          <p:cNvPr id="21" name="bar-35"/>
          <p:cNvSpPr/>
          <p:nvPr/>
        </p:nvSpPr>
        <p:spPr>
          <a:xfrm>
            <a:off x="6400800" y="5285232"/>
            <a:ext cx="979322" cy="420624"/>
          </a:xfrm>
          <a:prstGeom prst="rect">
            <a:avLst/>
          </a:prstGeom>
          <a:solidFill>
            <a:schemeClr val="accent3"/>
          </a:solidFill>
          <a:ln w="12700">
            <a:solidFill>
              <a:srgbClr val="FFFFFF"/>
            </a:solidFill>
            <a:prstDash val="solid"/>
          </a:ln>
        </p:spPr>
      </p:sp>
      <p:sp>
        <p:nvSpPr>
          <p:cNvPr id="22" name="text-36"/>
          <p:cNvSpPr txBox="1"/>
          <p:nvPr/>
        </p:nvSpPr>
        <p:spPr>
          <a:xfrm>
            <a:off x="548640" y="5989320"/>
            <a:ext cx="10972800" cy="274320"/>
          </a:xfrm>
          <a:prstGeom prst="rect">
            <a:avLst/>
          </a:prstGeom>
          <a:noFill/>
          <a:ln/>
        </p:spPr>
        <p:txBody>
          <a:bodyPr wrap="square" lIns="0" tIns="0" rIns="0" bIns="0" rtlCol="0" anchor="t"/>
          <a:lstStyle/>
          <a:p>
            <a:pPr indent="0" marL="0">
              <a:buNone/>
            </a:pPr>
            <a:r>
              <a:rPr lang="en-US" sz="1100" i="1" dirty="0">
                <a:solidFill>
                  <a:schemeClr val="tx2"/>
                </a:solidFill>
              </a:rPr>
              <a:t>Illustrative effort, not measured. Measuring analyst time saved is part of the proof plan.</a:t>
            </a:r>
            <a:endParaRPr lang="en-US" sz="1100" dirty="0"/>
          </a:p>
        </p:txBody>
      </p:sp>
      <p:sp>
        <p:nvSpPr>
          <p:cNvPr id="25" name="Slide Number Placeholder 0"/>
          <p:cNvSpPr>
            <a:spLocks noGrp="1"/>
          </p:cNvSpPr>
          <p:nvPr>
            <p:ph type="sldNum" sz="quarter" idx="4294967295"/>
          </p:nvPr>
        </p:nvSpPr>
        <p:spPr>
          <a:xfrm>
            <a:off x="1124712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4A526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8"/>
          <p:cNvSpPr/>
          <p:nvPr>
            <p:ph idx="108" type="title" hasCustomPrompt="1"/>
          </p:nvPr>
        </p:nvSpPr>
        <p:spPr>
          <a:xfrm>
            <a:off x="548640" y="320040"/>
            <a:ext cx="11064240" cy="731520"/>
          </a:xfrm>
          <a:prstGeom prst="rect">
            <a:avLst/>
          </a:prstGeom>
          <a:noFill/>
          <a:ln/>
        </p:spPr>
        <p:txBody>
          <a:bodyPr wrap="square" lIns="0" tIns="0" rIns="0" bIns="0" rtlCol="0" anchor="t"/>
          <a:lstStyle/>
          <a:p>
            <a:pPr algn="l" indent="0" marL="0">
              <a:buNone/>
            </a:pPr>
            <a:r>
              <a:rPr lang="en-US" sz="3600" b="1" dirty="0">
                <a:solidFill>
                  <a:srgbClr val="1E2530"/>
                </a:solidFill>
                <a:latin typeface="Cambria" pitchFamily="34" charset="0"/>
                <a:ea typeface="Cambria" pitchFamily="34" charset="-122"/>
                <a:cs typeface="Cambria" pitchFamily="34" charset="-120"/>
              </a:rPr>
              <a:t>Testing shaped the design</a:t>
            </a:r>
            <a:endParaRPr lang="en-US" sz="3600" dirty="0"/>
          </a:p>
        </p:txBody>
      </p:sp>
      <p:sp>
        <p:nvSpPr>
          <p:cNvPr id="3" name="Text 8"/>
          <p:cNvSpPr/>
          <p:nvPr>
            <p:ph idx="109" type="body" hasCustomPrompt="1"/>
          </p:nvPr>
        </p:nvSpPr>
        <p:spPr>
          <a:xfrm>
            <a:off x="548640" y="1097280"/>
            <a:ext cx="11064240" cy="457200"/>
          </a:xfrm>
          <a:prstGeom prst="rect">
            <a:avLst/>
          </a:prstGeom>
          <a:noFill/>
          <a:ln/>
        </p:spPr>
        <p:txBody>
          <a:bodyPr wrap="square" lIns="0" tIns="0" rIns="0" bIns="0" rtlCol="0" anchor="t"/>
          <a:lstStyle/>
          <a:p>
            <a:pPr indent="0" marL="0">
              <a:buNone/>
            </a:pPr>
            <a:r>
              <a:rPr lang="en-US" sz="1800" dirty="0">
                <a:solidFill>
                  <a:srgbClr val="4A5260"/>
                </a:solidFill>
              </a:rPr>
              <a:t>Each stage tested the riskiest assumption first. Each result removed architecture we no longer needed.</a:t>
            </a:r>
            <a:endParaRPr lang="en-US" sz="1800" dirty="0"/>
          </a:p>
        </p:txBody>
      </p:sp>
      <p:sp>
        <p:nvSpPr>
          <p:cNvPr id="4" name="stage-37"/>
          <p:cNvSpPr/>
          <p:nvPr/>
        </p:nvSpPr>
        <p:spPr>
          <a:xfrm>
            <a:off x="548640" y="1965960"/>
            <a:ext cx="2103120" cy="566928"/>
          </a:xfrm>
          <a:prstGeom prst="roundRect">
            <a:avLst>
              <a:gd name="adj" fmla="val 16129"/>
            </a:avLst>
          </a:prstGeom>
          <a:solidFill>
            <a:schemeClr val="accent2"/>
          </a:solidFill>
          <a:ln/>
        </p:spPr>
      </p:sp>
      <p:sp>
        <p:nvSpPr>
          <p:cNvPr id="5" name="text-38"/>
          <p:cNvSpPr txBox="1"/>
          <p:nvPr/>
        </p:nvSpPr>
        <p:spPr>
          <a:xfrm>
            <a:off x="685800" y="1965960"/>
            <a:ext cx="1874520" cy="566928"/>
          </a:xfrm>
          <a:prstGeom prst="rect">
            <a:avLst/>
          </a:prstGeom>
          <a:noFill/>
          <a:ln/>
        </p:spPr>
        <p:txBody>
          <a:bodyPr wrap="square" lIns="0" tIns="0" rIns="0" bIns="0" rtlCol="0" anchor="ctr"/>
          <a:lstStyle/>
          <a:p>
            <a:pPr indent="0" marL="0">
              <a:buNone/>
            </a:pPr>
            <a:r>
              <a:rPr lang="en-US" sz="1500" b="1" dirty="0">
                <a:solidFill>
                  <a:schemeClr val="bg1"/>
                </a:solidFill>
              </a:rPr>
              <a:t>1  Tool-led discovery</a:t>
            </a:r>
            <a:endParaRPr lang="en-US" sz="1500" dirty="0"/>
          </a:p>
        </p:txBody>
      </p:sp>
      <p:pic>
        <p:nvPicPr>
          <p:cNvPr id="6" name="arrow-39" descr="preencoded.png">    </p:cNvPr>
          <p:cNvPicPr>
            <a:picLocks noChangeAspect="1"/>
          </p:cNvPicPr>
          <p:nvPr/>
        </p:nvPicPr>
        <p:blipFill>
          <a:blip r:embed="rId1"/>
          <a:stretch>
            <a:fillRect/>
          </a:stretch>
        </p:blipFill>
        <p:spPr>
          <a:xfrm>
            <a:off x="2670048" y="2103120"/>
            <a:ext cx="292608" cy="292608"/>
          </a:xfrm>
          <a:prstGeom prst="rect">
            <a:avLst/>
          </a:prstGeom>
        </p:spPr>
      </p:pic>
      <p:sp>
        <p:nvSpPr>
          <p:cNvPr id="7" name="text-40"/>
          <p:cNvSpPr txBox="1"/>
          <p:nvPr/>
        </p:nvSpPr>
        <p:spPr>
          <a:xfrm>
            <a:off x="548640" y="2697480"/>
            <a:ext cx="2103120" cy="320040"/>
          </a:xfrm>
          <a:prstGeom prst="rect">
            <a:avLst/>
          </a:prstGeom>
          <a:noFill/>
          <a:ln/>
        </p:spPr>
        <p:txBody>
          <a:bodyPr wrap="square" lIns="0" tIns="0" rIns="0" bIns="0" rtlCol="0" anchor="t"/>
          <a:lstStyle/>
          <a:p>
            <a:pPr indent="0" marL="0">
              <a:buNone/>
            </a:pPr>
            <a:r>
              <a:rPr lang="en-US" sz="1200" b="1" dirty="0">
                <a:solidFill>
                  <a:schemeClr val="tx2"/>
                </a:solidFill>
              </a:rPr>
              <a:t>Copilot Studio, builds 1 to 11.6</a:t>
            </a:r>
            <a:endParaRPr lang="en-US" sz="1200" dirty="0"/>
          </a:p>
        </p:txBody>
      </p:sp>
      <p:sp>
        <p:nvSpPr>
          <p:cNvPr id="8" name="text-41"/>
          <p:cNvSpPr txBox="1"/>
          <p:nvPr/>
        </p:nvSpPr>
        <p:spPr>
          <a:xfrm>
            <a:off x="548640" y="3063240"/>
            <a:ext cx="2103120" cy="1463040"/>
          </a:xfrm>
          <a:prstGeom prst="rect">
            <a:avLst/>
          </a:prstGeom>
          <a:noFill/>
          <a:ln/>
        </p:spPr>
        <p:txBody>
          <a:bodyPr wrap="square" lIns="0" tIns="0" rIns="0" bIns="0" rtlCol="0" anchor="t"/>
          <a:lstStyle/>
          <a:p>
            <a:pPr indent="0" marL="0">
              <a:buNone/>
            </a:pPr>
            <a:r>
              <a:rPr lang="en-US" sz="1400" dirty="0">
                <a:solidFill>
                  <a:schemeClr val="tx1"/>
                </a:solidFill>
              </a:rPr>
              <a:t>Rule-based extraction. Built the gold answer keys and the test bench.</a:t>
            </a:r>
            <a:endParaRPr lang="en-US" sz="1400" dirty="0"/>
          </a:p>
        </p:txBody>
      </p:sp>
      <p:sp>
        <p:nvSpPr>
          <p:cNvPr id="9" name="stage-42"/>
          <p:cNvSpPr/>
          <p:nvPr/>
        </p:nvSpPr>
        <p:spPr>
          <a:xfrm>
            <a:off x="2834640" y="1965960"/>
            <a:ext cx="2103120" cy="566928"/>
          </a:xfrm>
          <a:prstGeom prst="roundRect">
            <a:avLst>
              <a:gd name="adj" fmla="val 16129"/>
            </a:avLst>
          </a:prstGeom>
          <a:solidFill>
            <a:schemeClr val="accent1"/>
          </a:solidFill>
          <a:ln/>
        </p:spPr>
      </p:sp>
      <p:sp>
        <p:nvSpPr>
          <p:cNvPr id="10" name="text-43"/>
          <p:cNvSpPr txBox="1"/>
          <p:nvPr/>
        </p:nvSpPr>
        <p:spPr>
          <a:xfrm>
            <a:off x="2971800" y="1965960"/>
            <a:ext cx="1874520" cy="566928"/>
          </a:xfrm>
          <a:prstGeom prst="rect">
            <a:avLst/>
          </a:prstGeom>
          <a:noFill/>
          <a:ln/>
        </p:spPr>
        <p:txBody>
          <a:bodyPr wrap="square" lIns="0" tIns="0" rIns="0" bIns="0" rtlCol="0" anchor="ctr"/>
          <a:lstStyle/>
          <a:p>
            <a:pPr indent="0" marL="0">
              <a:buNone/>
            </a:pPr>
            <a:r>
              <a:rPr lang="en-US" sz="1500" b="1" dirty="0">
                <a:solidFill>
                  <a:schemeClr val="bg1"/>
                </a:solidFill>
              </a:rPr>
              <a:t>2  AI-led discovery</a:t>
            </a:r>
            <a:endParaRPr lang="en-US" sz="1500" dirty="0"/>
          </a:p>
        </p:txBody>
      </p:sp>
      <p:pic>
        <p:nvPicPr>
          <p:cNvPr id="11" name="arrow-44" descr="preencoded.png">    </p:cNvPr>
          <p:cNvPicPr>
            <a:picLocks noChangeAspect="1"/>
          </p:cNvPicPr>
          <p:nvPr/>
        </p:nvPicPr>
        <p:blipFill>
          <a:blip r:embed="rId2"/>
          <a:stretch>
            <a:fillRect/>
          </a:stretch>
        </p:blipFill>
        <p:spPr>
          <a:xfrm>
            <a:off x="4956048" y="2103120"/>
            <a:ext cx="292608" cy="292608"/>
          </a:xfrm>
          <a:prstGeom prst="rect">
            <a:avLst/>
          </a:prstGeom>
        </p:spPr>
      </p:pic>
      <p:sp>
        <p:nvSpPr>
          <p:cNvPr id="12" name="text-45"/>
          <p:cNvSpPr txBox="1"/>
          <p:nvPr/>
        </p:nvSpPr>
        <p:spPr>
          <a:xfrm>
            <a:off x="2834640" y="2697480"/>
            <a:ext cx="2103120" cy="320040"/>
          </a:xfrm>
          <a:prstGeom prst="rect">
            <a:avLst/>
          </a:prstGeom>
          <a:noFill/>
          <a:ln/>
        </p:spPr>
        <p:txBody>
          <a:bodyPr wrap="square" lIns="0" tIns="0" rIns="0" bIns="0" rtlCol="0" anchor="t"/>
          <a:lstStyle/>
          <a:p>
            <a:pPr indent="0" marL="0">
              <a:buNone/>
            </a:pPr>
            <a:r>
              <a:rPr lang="en-US" sz="1200" b="1" dirty="0">
                <a:solidFill>
                  <a:schemeClr val="tx2"/>
                </a:solidFill>
              </a:rPr>
              <a:t>Builds 11.7 to 12.0</a:t>
            </a:r>
            <a:endParaRPr lang="en-US" sz="1200" dirty="0"/>
          </a:p>
        </p:txBody>
      </p:sp>
      <p:sp>
        <p:nvSpPr>
          <p:cNvPr id="13" name="text-46"/>
          <p:cNvSpPr txBox="1"/>
          <p:nvPr/>
        </p:nvSpPr>
        <p:spPr>
          <a:xfrm>
            <a:off x="2834640" y="3063240"/>
            <a:ext cx="2103120" cy="1463040"/>
          </a:xfrm>
          <a:prstGeom prst="rect">
            <a:avLst/>
          </a:prstGeom>
          <a:noFill/>
          <a:ln/>
        </p:spPr>
        <p:txBody>
          <a:bodyPr wrap="square" lIns="0" tIns="0" rIns="0" bIns="0" rtlCol="0" anchor="t"/>
          <a:lstStyle/>
          <a:p>
            <a:pPr indent="0" marL="0">
              <a:buNone/>
            </a:pPr>
            <a:r>
              <a:rPr lang="en-US" sz="1400" dirty="0">
                <a:solidFill>
                  <a:schemeClr val="tx1"/>
                </a:solidFill>
              </a:rPr>
              <a:t>AI reads workbooks directly. Separate extractor and reviewer agents.</a:t>
            </a:r>
            <a:endParaRPr lang="en-US" sz="1400" dirty="0"/>
          </a:p>
        </p:txBody>
      </p:sp>
      <p:sp>
        <p:nvSpPr>
          <p:cNvPr id="14" name="stage-47"/>
          <p:cNvSpPr/>
          <p:nvPr/>
        </p:nvSpPr>
        <p:spPr>
          <a:xfrm>
            <a:off x="5120640" y="1965960"/>
            <a:ext cx="2103120" cy="566928"/>
          </a:xfrm>
          <a:prstGeom prst="roundRect">
            <a:avLst>
              <a:gd name="adj" fmla="val 16129"/>
            </a:avLst>
          </a:prstGeom>
          <a:solidFill>
            <a:schemeClr val="accent1"/>
          </a:solidFill>
          <a:ln/>
        </p:spPr>
      </p:sp>
      <p:sp>
        <p:nvSpPr>
          <p:cNvPr id="15" name="text-48"/>
          <p:cNvSpPr txBox="1"/>
          <p:nvPr/>
        </p:nvSpPr>
        <p:spPr>
          <a:xfrm>
            <a:off x="5257800" y="1965960"/>
            <a:ext cx="1874520" cy="566928"/>
          </a:xfrm>
          <a:prstGeom prst="rect">
            <a:avLst/>
          </a:prstGeom>
          <a:noFill/>
          <a:ln/>
        </p:spPr>
        <p:txBody>
          <a:bodyPr wrap="square" lIns="0" tIns="0" rIns="0" bIns="0" rtlCol="0" anchor="ctr"/>
          <a:lstStyle/>
          <a:p>
            <a:pPr indent="0" marL="0">
              <a:buNone/>
            </a:pPr>
            <a:r>
              <a:rPr lang="en-US" sz="1500" b="1" dirty="0">
                <a:solidFill>
                  <a:schemeClr val="bg1"/>
                </a:solidFill>
              </a:rPr>
              <a:t>3  Steelman test</a:t>
            </a:r>
            <a:endParaRPr lang="en-US" sz="1500" dirty="0"/>
          </a:p>
        </p:txBody>
      </p:sp>
      <p:pic>
        <p:nvPicPr>
          <p:cNvPr id="16" name="arrow-49" descr="preencoded.png">    </p:cNvPr>
          <p:cNvPicPr>
            <a:picLocks noChangeAspect="1"/>
          </p:cNvPicPr>
          <p:nvPr/>
        </p:nvPicPr>
        <p:blipFill>
          <a:blip r:embed="rId3"/>
          <a:stretch>
            <a:fillRect/>
          </a:stretch>
        </p:blipFill>
        <p:spPr>
          <a:xfrm>
            <a:off x="7242048" y="2103120"/>
            <a:ext cx="292608" cy="292608"/>
          </a:xfrm>
          <a:prstGeom prst="rect">
            <a:avLst/>
          </a:prstGeom>
        </p:spPr>
      </p:pic>
      <p:sp>
        <p:nvSpPr>
          <p:cNvPr id="17" name="text-50"/>
          <p:cNvSpPr txBox="1"/>
          <p:nvPr/>
        </p:nvSpPr>
        <p:spPr>
          <a:xfrm>
            <a:off x="5120640" y="2697480"/>
            <a:ext cx="2103120" cy="320040"/>
          </a:xfrm>
          <a:prstGeom prst="rect">
            <a:avLst/>
          </a:prstGeom>
          <a:noFill/>
          <a:ln/>
        </p:spPr>
        <p:txBody>
          <a:bodyPr wrap="square" lIns="0" tIns="0" rIns="0" bIns="0" rtlCol="0" anchor="t"/>
          <a:lstStyle/>
          <a:p>
            <a:pPr indent="0" marL="0">
              <a:buNone/>
            </a:pPr>
            <a:r>
              <a:rPr lang="en-US" sz="1200" b="1" dirty="0">
                <a:solidFill>
                  <a:schemeClr val="tx2"/>
                </a:solidFill>
              </a:rPr>
              <a:t>One AI, no scaffolding</a:t>
            </a:r>
            <a:endParaRPr lang="en-US" sz="1200" dirty="0"/>
          </a:p>
        </p:txBody>
      </p:sp>
      <p:sp>
        <p:nvSpPr>
          <p:cNvPr id="18" name="text-51"/>
          <p:cNvSpPr txBox="1"/>
          <p:nvPr/>
        </p:nvSpPr>
        <p:spPr>
          <a:xfrm>
            <a:off x="5120640" y="3063240"/>
            <a:ext cx="2103120" cy="1463040"/>
          </a:xfrm>
          <a:prstGeom prst="rect">
            <a:avLst/>
          </a:prstGeom>
          <a:noFill/>
          <a:ln/>
        </p:spPr>
        <p:txBody>
          <a:bodyPr wrap="square" lIns="0" tIns="0" rIns="0" bIns="0" rtlCol="0" anchor="t"/>
          <a:lstStyle/>
          <a:p>
            <a:pPr indent="0" marL="0">
              <a:buNone/>
            </a:pPr>
            <a:r>
              <a:rPr lang="en-US" sz="1400" dirty="0">
                <a:solidFill>
                  <a:schemeClr val="tx1"/>
                </a:solidFill>
              </a:rPr>
              <a:t>Understood the valuation. Gap: implementation fidelity and self-checking.</a:t>
            </a:r>
            <a:endParaRPr lang="en-US" sz="1400" dirty="0"/>
          </a:p>
        </p:txBody>
      </p:sp>
      <p:sp>
        <p:nvSpPr>
          <p:cNvPr id="19" name="stage-52"/>
          <p:cNvSpPr/>
          <p:nvPr/>
        </p:nvSpPr>
        <p:spPr>
          <a:xfrm>
            <a:off x="7406640" y="1965960"/>
            <a:ext cx="2103120" cy="566928"/>
          </a:xfrm>
          <a:prstGeom prst="roundRect">
            <a:avLst>
              <a:gd name="adj" fmla="val 16129"/>
            </a:avLst>
          </a:prstGeom>
          <a:solidFill>
            <a:schemeClr val="accent2"/>
          </a:solidFill>
          <a:ln/>
        </p:spPr>
      </p:sp>
      <p:sp>
        <p:nvSpPr>
          <p:cNvPr id="20" name="text-53"/>
          <p:cNvSpPr txBox="1"/>
          <p:nvPr/>
        </p:nvSpPr>
        <p:spPr>
          <a:xfrm>
            <a:off x="7543800" y="1965960"/>
            <a:ext cx="1874520" cy="566928"/>
          </a:xfrm>
          <a:prstGeom prst="rect">
            <a:avLst/>
          </a:prstGeom>
          <a:noFill/>
          <a:ln/>
        </p:spPr>
        <p:txBody>
          <a:bodyPr wrap="square" lIns="0" tIns="0" rIns="0" bIns="0" rtlCol="0" anchor="ctr"/>
          <a:lstStyle/>
          <a:p>
            <a:pPr indent="0" marL="0">
              <a:buNone/>
            </a:pPr>
            <a:r>
              <a:rPr lang="en-US" sz="1500" b="1" dirty="0">
                <a:solidFill>
                  <a:schemeClr val="bg1"/>
                </a:solidFill>
              </a:rPr>
              <a:t>4  Agent Builder MVP</a:t>
            </a:r>
            <a:endParaRPr lang="en-US" sz="1500" dirty="0"/>
          </a:p>
        </p:txBody>
      </p:sp>
      <p:pic>
        <p:nvPicPr>
          <p:cNvPr id="21" name="arrow-54" descr="preencoded.png">    </p:cNvPr>
          <p:cNvPicPr>
            <a:picLocks noChangeAspect="1"/>
          </p:cNvPicPr>
          <p:nvPr/>
        </p:nvPicPr>
        <p:blipFill>
          <a:blip r:embed="rId4"/>
          <a:stretch>
            <a:fillRect/>
          </a:stretch>
        </p:blipFill>
        <p:spPr>
          <a:xfrm>
            <a:off x="9528048" y="2103120"/>
            <a:ext cx="292608" cy="292608"/>
          </a:xfrm>
          <a:prstGeom prst="rect">
            <a:avLst/>
          </a:prstGeom>
        </p:spPr>
      </p:pic>
      <p:sp>
        <p:nvSpPr>
          <p:cNvPr id="22" name="text-55"/>
          <p:cNvSpPr txBox="1"/>
          <p:nvPr/>
        </p:nvSpPr>
        <p:spPr>
          <a:xfrm>
            <a:off x="7406640" y="2697480"/>
            <a:ext cx="2103120" cy="320040"/>
          </a:xfrm>
          <a:prstGeom prst="rect">
            <a:avLst/>
          </a:prstGeom>
          <a:noFill/>
          <a:ln/>
        </p:spPr>
        <p:txBody>
          <a:bodyPr wrap="square" lIns="0" tIns="0" rIns="0" bIns="0" rtlCol="0" anchor="t"/>
          <a:lstStyle/>
          <a:p>
            <a:pPr indent="0" marL="0">
              <a:buNone/>
            </a:pPr>
            <a:r>
              <a:rPr lang="en-US" sz="1200" b="1" dirty="0">
                <a:solidFill>
                  <a:schemeClr val="tx2"/>
                </a:solidFill>
              </a:rPr>
              <a:t>Builds 13.0 to 13.3</a:t>
            </a:r>
            <a:endParaRPr lang="en-US" sz="1200" dirty="0"/>
          </a:p>
        </p:txBody>
      </p:sp>
      <p:sp>
        <p:nvSpPr>
          <p:cNvPr id="23" name="text-56"/>
          <p:cNvSpPr txBox="1"/>
          <p:nvPr/>
        </p:nvSpPr>
        <p:spPr>
          <a:xfrm>
            <a:off x="7406640" y="3063240"/>
            <a:ext cx="2103120" cy="1463040"/>
          </a:xfrm>
          <a:prstGeom prst="rect">
            <a:avLst/>
          </a:prstGeom>
          <a:noFill/>
          <a:ln/>
        </p:spPr>
        <p:txBody>
          <a:bodyPr wrap="square" lIns="0" tIns="0" rIns="0" bIns="0" rtlCol="0" anchor="t"/>
          <a:lstStyle/>
          <a:p>
            <a:pPr indent="0" marL="0">
              <a:buNone/>
            </a:pPr>
            <a:r>
              <a:rPr lang="en-US" sz="1400" dirty="0">
                <a:solidFill>
                  <a:schemeClr val="tx1"/>
                </a:solidFill>
              </a:rPr>
              <a:t>One AI agent plus fixed tools aimed precisely at that gap.</a:t>
            </a:r>
            <a:endParaRPr lang="en-US" sz="1400" dirty="0"/>
          </a:p>
        </p:txBody>
      </p:sp>
      <p:sp>
        <p:nvSpPr>
          <p:cNvPr id="24" name="stage-57"/>
          <p:cNvSpPr/>
          <p:nvPr/>
        </p:nvSpPr>
        <p:spPr>
          <a:xfrm>
            <a:off x="9692640" y="1965960"/>
            <a:ext cx="2103120" cy="566928"/>
          </a:xfrm>
          <a:prstGeom prst="roundRect">
            <a:avLst>
              <a:gd name="adj" fmla="val 16129"/>
            </a:avLst>
          </a:prstGeom>
          <a:solidFill>
            <a:schemeClr val="accent3"/>
          </a:solidFill>
          <a:ln/>
        </p:spPr>
      </p:sp>
      <p:sp>
        <p:nvSpPr>
          <p:cNvPr id="25" name="text-58"/>
          <p:cNvSpPr txBox="1"/>
          <p:nvPr/>
        </p:nvSpPr>
        <p:spPr>
          <a:xfrm>
            <a:off x="9829800" y="1965960"/>
            <a:ext cx="1874520" cy="566928"/>
          </a:xfrm>
          <a:prstGeom prst="rect">
            <a:avLst/>
          </a:prstGeom>
          <a:noFill/>
          <a:ln/>
        </p:spPr>
        <p:txBody>
          <a:bodyPr wrap="square" lIns="0" tIns="0" rIns="0" bIns="0" rtlCol="0" anchor="ctr"/>
          <a:lstStyle/>
          <a:p>
            <a:pPr indent="0" marL="0">
              <a:buNone/>
            </a:pPr>
            <a:r>
              <a:rPr lang="en-US" sz="1500" b="1" dirty="0">
                <a:solidFill>
                  <a:schemeClr val="bg1"/>
                </a:solidFill>
              </a:rPr>
              <a:t>5  Real-company proof</a:t>
            </a:r>
            <a:endParaRPr lang="en-US" sz="1500" dirty="0"/>
          </a:p>
        </p:txBody>
      </p:sp>
      <p:sp>
        <p:nvSpPr>
          <p:cNvPr id="26" name="text-59"/>
          <p:cNvSpPr txBox="1"/>
          <p:nvPr/>
        </p:nvSpPr>
        <p:spPr>
          <a:xfrm>
            <a:off x="9692640" y="2697480"/>
            <a:ext cx="2103120" cy="320040"/>
          </a:xfrm>
          <a:prstGeom prst="rect">
            <a:avLst/>
          </a:prstGeom>
          <a:noFill/>
          <a:ln/>
        </p:spPr>
        <p:txBody>
          <a:bodyPr wrap="square" lIns="0" tIns="0" rIns="0" bIns="0" rtlCol="0" anchor="t"/>
          <a:lstStyle/>
          <a:p>
            <a:pPr indent="0" marL="0">
              <a:buNone/>
            </a:pPr>
            <a:r>
              <a:rPr lang="en-US" sz="1200" b="1" dirty="0">
                <a:solidFill>
                  <a:schemeClr val="tx2"/>
                </a:solidFill>
              </a:rPr>
              <a:t>Next</a:t>
            </a:r>
            <a:endParaRPr lang="en-US" sz="1200" dirty="0"/>
          </a:p>
        </p:txBody>
      </p:sp>
      <p:sp>
        <p:nvSpPr>
          <p:cNvPr id="27" name="text-60"/>
          <p:cNvSpPr txBox="1"/>
          <p:nvPr/>
        </p:nvSpPr>
        <p:spPr>
          <a:xfrm>
            <a:off x="9692640" y="3063240"/>
            <a:ext cx="2103120" cy="1463040"/>
          </a:xfrm>
          <a:prstGeom prst="rect">
            <a:avLst/>
          </a:prstGeom>
          <a:noFill/>
          <a:ln/>
        </p:spPr>
        <p:txBody>
          <a:bodyPr wrap="square" lIns="0" tIns="0" rIns="0" bIns="0" rtlCol="0" anchor="t"/>
          <a:lstStyle/>
          <a:p>
            <a:pPr indent="0" marL="0">
              <a:buNone/>
            </a:pPr>
            <a:r>
              <a:rPr lang="en-US" sz="1400" dirty="0">
                <a:solidFill>
                  <a:schemeClr val="tx1"/>
                </a:solidFill>
              </a:rPr>
              <a:t>Blind-graded historical quarters, then decide the scale-up path.</a:t>
            </a:r>
            <a:endParaRPr lang="en-US" sz="1400" dirty="0"/>
          </a:p>
        </p:txBody>
      </p:sp>
      <p:sp>
        <p:nvSpPr>
          <p:cNvPr id="28" name="callout-61"/>
          <p:cNvSpPr/>
          <p:nvPr/>
        </p:nvSpPr>
        <p:spPr>
          <a:xfrm>
            <a:off x="548640" y="4800600"/>
            <a:ext cx="11064240" cy="1097280"/>
          </a:xfrm>
          <a:prstGeom prst="roundRect">
            <a:avLst>
              <a:gd name="adj" fmla="val 6667"/>
            </a:avLst>
          </a:prstGeom>
          <a:solidFill>
            <a:schemeClr val="bg2"/>
          </a:solidFill>
          <a:ln/>
        </p:spPr>
      </p:sp>
      <p:sp>
        <p:nvSpPr>
          <p:cNvPr id="29" name="text-62"/>
          <p:cNvSpPr txBox="1"/>
          <p:nvPr/>
        </p:nvSpPr>
        <p:spPr>
          <a:xfrm>
            <a:off x="822960" y="4800600"/>
            <a:ext cx="10515600" cy="1097280"/>
          </a:xfrm>
          <a:prstGeom prst="rect">
            <a:avLst/>
          </a:prstGeom>
          <a:noFill/>
          <a:ln/>
        </p:spPr>
        <p:txBody>
          <a:bodyPr wrap="square" lIns="0" tIns="0" rIns="0" bIns="0" rtlCol="0" anchor="ctr"/>
          <a:lstStyle/>
          <a:p>
            <a:pPr indent="0" marL="0">
              <a:buNone/>
            </a:pPr>
            <a:r>
              <a:rPr lang="en-US" sz="1600" b="1" dirty="0">
                <a:solidFill>
                  <a:schemeClr val="tx1"/>
                </a:solidFill>
              </a:rPr>
              <a:t>What carries forward: </a:t>
            </a:r>
            <a:pPr indent="0" marL="0">
              <a:buNone/>
            </a:pPr>
            <a:r>
              <a:rPr lang="en-US" sz="1600" dirty="0">
                <a:solidFill>
                  <a:schemeClr val="tx1"/>
                </a:solidFill>
              </a:rPr>
              <a:t>the benchmark, gold answer keys, known failure modes and the test bench from stages 1 and 2 are what make the lighter MVP measurable.</a:t>
            </a:r>
            <a:endParaRPr lang="en-US" sz="1600" dirty="0"/>
          </a:p>
        </p:txBody>
      </p:sp>
      <p:sp>
        <p:nvSpPr>
          <p:cNvPr id="25" name="Slide Number Placeholder 0"/>
          <p:cNvSpPr>
            <a:spLocks noGrp="1"/>
          </p:cNvSpPr>
          <p:nvPr>
            <p:ph type="sldNum" sz="quarter" idx="4294967295"/>
          </p:nvPr>
        </p:nvSpPr>
        <p:spPr>
          <a:xfrm>
            <a:off x="1124712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4A526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8"/>
          <p:cNvSpPr/>
          <p:nvPr>
            <p:ph idx="108" type="title" hasCustomPrompt="1"/>
          </p:nvPr>
        </p:nvSpPr>
        <p:spPr>
          <a:xfrm>
            <a:off x="548640" y="320040"/>
            <a:ext cx="11064240" cy="731520"/>
          </a:xfrm>
          <a:prstGeom prst="rect">
            <a:avLst/>
          </a:prstGeom>
          <a:noFill/>
          <a:ln/>
        </p:spPr>
        <p:txBody>
          <a:bodyPr wrap="square" lIns="0" tIns="0" rIns="0" bIns="0" rtlCol="0" anchor="t"/>
          <a:lstStyle/>
          <a:p>
            <a:pPr algn="l" indent="0" marL="0">
              <a:buNone/>
            </a:pPr>
            <a:r>
              <a:rPr lang="en-US" sz="3600" b="1" dirty="0">
                <a:solidFill>
                  <a:srgbClr val="1E2530"/>
                </a:solidFill>
                <a:latin typeface="Cambria" pitchFamily="34" charset="0"/>
                <a:ea typeface="Cambria" pitchFamily="34" charset="-122"/>
                <a:cs typeface="Cambria" pitchFamily="34" charset="-120"/>
              </a:rPr>
              <a:t>AI found the right data. The gap was implementation</a:t>
            </a:r>
            <a:endParaRPr lang="en-US" sz="3600" dirty="0"/>
          </a:p>
        </p:txBody>
      </p:sp>
      <p:sp>
        <p:nvSpPr>
          <p:cNvPr id="3" name="Text 8"/>
          <p:cNvSpPr/>
          <p:nvPr>
            <p:ph idx="109" type="body" hasCustomPrompt="1"/>
          </p:nvPr>
        </p:nvSpPr>
        <p:spPr>
          <a:xfrm>
            <a:off x="548640" y="1097280"/>
            <a:ext cx="11064240" cy="457200"/>
          </a:xfrm>
          <a:prstGeom prst="rect">
            <a:avLst/>
          </a:prstGeom>
          <a:noFill/>
          <a:ln/>
        </p:spPr>
        <p:txBody>
          <a:bodyPr wrap="square" lIns="0" tIns="0" rIns="0" bIns="0" rtlCol="0" anchor="t"/>
          <a:lstStyle/>
          <a:p>
            <a:pPr indent="0" marL="0">
              <a:buNone/>
            </a:pPr>
            <a:r>
              <a:rPr lang="en-US" sz="1800" dirty="0">
                <a:solidFill>
                  <a:srgbClr val="4A5260"/>
                </a:solidFill>
              </a:rPr>
              <a:t>The steelman test: one AI model, the approved workbook and the new monthly files, no scaffolding.</a:t>
            </a:r>
            <a:endParaRPr lang="en-US" sz="1800" dirty="0"/>
          </a:p>
        </p:txBody>
      </p:sp>
      <p:sp>
        <p:nvSpPr>
          <p:cNvPr id="4" name="card-63"/>
          <p:cNvSpPr/>
          <p:nvPr/>
        </p:nvSpPr>
        <p:spPr>
          <a:xfrm>
            <a:off x="548640" y="1783080"/>
            <a:ext cx="3520440" cy="2971800"/>
          </a:xfrm>
          <a:prstGeom prst="roundRect">
            <a:avLst>
              <a:gd name="adj" fmla="val 2462"/>
            </a:avLst>
          </a:prstGeom>
          <a:solidFill>
            <a:schemeClr val="bg2"/>
          </a:solidFill>
          <a:ln/>
        </p:spPr>
      </p:sp>
      <p:sp>
        <p:nvSpPr>
          <p:cNvPr id="5" name="cardhead-64"/>
          <p:cNvSpPr/>
          <p:nvPr/>
        </p:nvSpPr>
        <p:spPr>
          <a:xfrm>
            <a:off x="548640" y="1783080"/>
            <a:ext cx="3520440" cy="548640"/>
          </a:xfrm>
          <a:prstGeom prst="roundRect">
            <a:avLst>
              <a:gd name="adj" fmla="val 13333"/>
            </a:avLst>
          </a:prstGeom>
          <a:solidFill>
            <a:schemeClr val="accent1"/>
          </a:solidFill>
          <a:ln/>
        </p:spPr>
      </p:sp>
      <p:sp>
        <p:nvSpPr>
          <p:cNvPr id="6" name="text-65"/>
          <p:cNvSpPr txBox="1"/>
          <p:nvPr/>
        </p:nvSpPr>
        <p:spPr>
          <a:xfrm>
            <a:off x="777240" y="1783080"/>
            <a:ext cx="3108960" cy="548640"/>
          </a:xfrm>
          <a:prstGeom prst="rect">
            <a:avLst/>
          </a:prstGeom>
          <a:noFill/>
          <a:ln/>
        </p:spPr>
        <p:txBody>
          <a:bodyPr wrap="square" lIns="0" tIns="0" rIns="0" bIns="0" rtlCol="0" anchor="ctr"/>
          <a:lstStyle/>
          <a:p>
            <a:pPr indent="0" marL="0">
              <a:buNone/>
            </a:pPr>
            <a:r>
              <a:rPr lang="en-US" sz="1800" b="1" dirty="0">
                <a:solidFill>
                  <a:schemeClr val="bg1"/>
                </a:solidFill>
              </a:rPr>
              <a:t>What AI did</a:t>
            </a:r>
            <a:endParaRPr lang="en-US" sz="1800" dirty="0"/>
          </a:p>
        </p:txBody>
      </p:sp>
      <p:sp>
        <p:nvSpPr>
          <p:cNvPr id="7" name="list-66"/>
          <p:cNvSpPr txBox="1"/>
          <p:nvPr/>
        </p:nvSpPr>
        <p:spPr>
          <a:xfrm>
            <a:off x="731520" y="2514600"/>
            <a:ext cx="315468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Found the source data</a:t>
            </a:r>
            <a:endParaRPr lang="en-US" sz="1500" dirty="0"/>
          </a:p>
          <a:p>
            <a:pPr marL="342900" indent="-342900">
              <a:spcAft>
                <a:spcPts val="800"/>
              </a:spcAft>
              <a:buSzPct val="100000"/>
              <a:buChar char="•"/>
            </a:pPr>
            <a:r>
              <a:rPr lang="en-US" sz="1500" dirty="0">
                <a:solidFill>
                  <a:schemeClr val="tx1"/>
                </a:solidFill>
              </a:rPr>
              <a:t>Understood the periods</a:t>
            </a:r>
            <a:endParaRPr lang="en-US" sz="1500" dirty="0"/>
          </a:p>
          <a:p>
            <a:pPr marL="342900" indent="-342900">
              <a:spcAft>
                <a:spcPts val="800"/>
              </a:spcAft>
              <a:buSzPct val="100000"/>
              <a:buChar char="•"/>
            </a:pPr>
            <a:r>
              <a:rPr lang="en-US" sz="1500" dirty="0">
                <a:solidFill>
                  <a:schemeClr val="tx1"/>
                </a:solidFill>
              </a:rPr>
              <a:t>Built the new-quarter structure</a:t>
            </a:r>
            <a:endParaRPr lang="en-US" sz="1500" dirty="0"/>
          </a:p>
          <a:p>
            <a:pPr marL="342900" indent="-342900">
              <a:spcAft>
                <a:spcPts val="800"/>
              </a:spcAft>
              <a:buSzPct val="100000"/>
              <a:buChar char="•"/>
            </a:pPr>
            <a:r>
              <a:rPr lang="en-US" sz="1500" dirty="0">
                <a:solidFill>
                  <a:schemeClr val="tx1"/>
                </a:solidFill>
              </a:rPr>
              <a:t>Flagged missing comparables and cap-table support</a:t>
            </a:r>
            <a:endParaRPr lang="en-US" sz="1500" dirty="0"/>
          </a:p>
        </p:txBody>
      </p:sp>
      <p:sp>
        <p:nvSpPr>
          <p:cNvPr id="8" name="card-67"/>
          <p:cNvSpPr/>
          <p:nvPr/>
        </p:nvSpPr>
        <p:spPr>
          <a:xfrm>
            <a:off x="4297680" y="1783080"/>
            <a:ext cx="3520440" cy="2971800"/>
          </a:xfrm>
          <a:prstGeom prst="roundRect">
            <a:avLst>
              <a:gd name="adj" fmla="val 2462"/>
            </a:avLst>
          </a:prstGeom>
          <a:solidFill>
            <a:schemeClr val="bg2"/>
          </a:solidFill>
          <a:ln/>
        </p:spPr>
      </p:sp>
      <p:sp>
        <p:nvSpPr>
          <p:cNvPr id="9" name="cardhead-68"/>
          <p:cNvSpPr/>
          <p:nvPr/>
        </p:nvSpPr>
        <p:spPr>
          <a:xfrm>
            <a:off x="4297680" y="1783080"/>
            <a:ext cx="3520440" cy="548640"/>
          </a:xfrm>
          <a:prstGeom prst="roundRect">
            <a:avLst>
              <a:gd name="adj" fmla="val 13333"/>
            </a:avLst>
          </a:prstGeom>
          <a:solidFill>
            <a:schemeClr val="accent5"/>
          </a:solidFill>
          <a:ln/>
        </p:spPr>
      </p:sp>
      <p:sp>
        <p:nvSpPr>
          <p:cNvPr id="10" name="text-69"/>
          <p:cNvSpPr txBox="1"/>
          <p:nvPr/>
        </p:nvSpPr>
        <p:spPr>
          <a:xfrm>
            <a:off x="4526280" y="1783080"/>
            <a:ext cx="3108960" cy="548640"/>
          </a:xfrm>
          <a:prstGeom prst="rect">
            <a:avLst/>
          </a:prstGeom>
          <a:noFill/>
          <a:ln/>
        </p:spPr>
        <p:txBody>
          <a:bodyPr wrap="square" lIns="0" tIns="0" rIns="0" bIns="0" rtlCol="0" anchor="ctr"/>
          <a:lstStyle/>
          <a:p>
            <a:pPr indent="0" marL="0">
              <a:buNone/>
            </a:pPr>
            <a:r>
              <a:rPr lang="en-US" sz="1800" b="1" dirty="0">
                <a:solidFill>
                  <a:schemeClr val="bg1"/>
                </a:solidFill>
              </a:rPr>
              <a:t>Shortcut taken</a:t>
            </a:r>
            <a:endParaRPr lang="en-US" sz="1800" dirty="0"/>
          </a:p>
        </p:txBody>
      </p:sp>
      <p:sp>
        <p:nvSpPr>
          <p:cNvPr id="11" name="list-70"/>
          <p:cNvSpPr txBox="1"/>
          <p:nvPr/>
        </p:nvSpPr>
        <p:spPr>
          <a:xfrm>
            <a:off x="4480560" y="2514600"/>
            <a:ext cx="315468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Hardcoded the headline Adjusted EBITDA</a:t>
            </a:r>
            <a:endParaRPr lang="en-US" sz="1500" dirty="0"/>
          </a:p>
          <a:p>
            <a:pPr marL="342900" indent="-342900">
              <a:spcAft>
                <a:spcPts val="800"/>
              </a:spcAft>
              <a:buSzPct val="100000"/>
              <a:buChar char="•"/>
            </a:pPr>
            <a:r>
              <a:rPr lang="en-US" sz="1500" dirty="0">
                <a:solidFill>
                  <a:schemeClr val="tx1"/>
                </a:solidFill>
              </a:rPr>
              <a:t>Zeroed the detailed adjustment rows</a:t>
            </a:r>
            <a:endParaRPr lang="en-US" sz="1500" dirty="0"/>
          </a:p>
          <a:p>
            <a:pPr marL="342900" indent="-342900">
              <a:spcAft>
                <a:spcPts val="800"/>
              </a:spcAft>
              <a:buSzPct val="100000"/>
              <a:buChar char="•"/>
            </a:pPr>
            <a:r>
              <a:rPr lang="en-US" sz="1500" dirty="0">
                <a:solidFill>
                  <a:schemeClr val="tx1"/>
                </a:solidFill>
              </a:rPr>
              <a:t>Left a balancing difference</a:t>
            </a:r>
            <a:endParaRPr lang="en-US" sz="1500" dirty="0"/>
          </a:p>
          <a:p>
            <a:pPr marL="342900" indent="-342900">
              <a:spcAft>
                <a:spcPts val="800"/>
              </a:spcAft>
              <a:buSzPct val="100000"/>
              <a:buChar char="•"/>
            </a:pPr>
            <a:r>
              <a:rPr lang="en-US" sz="1500" dirty="0">
                <a:solidFill>
                  <a:schemeClr val="tx1"/>
                </a:solidFill>
              </a:rPr>
              <a:t>Reported its own work as passing</a:t>
            </a:r>
            <a:endParaRPr lang="en-US" sz="1500" dirty="0"/>
          </a:p>
        </p:txBody>
      </p:sp>
      <p:sp>
        <p:nvSpPr>
          <p:cNvPr id="12" name="card-71"/>
          <p:cNvSpPr/>
          <p:nvPr/>
        </p:nvSpPr>
        <p:spPr>
          <a:xfrm>
            <a:off x="8046720" y="1783080"/>
            <a:ext cx="3520440" cy="2971800"/>
          </a:xfrm>
          <a:prstGeom prst="roundRect">
            <a:avLst>
              <a:gd name="adj" fmla="val 2462"/>
            </a:avLst>
          </a:prstGeom>
          <a:solidFill>
            <a:schemeClr val="bg2"/>
          </a:solidFill>
          <a:ln/>
        </p:spPr>
      </p:sp>
      <p:sp>
        <p:nvSpPr>
          <p:cNvPr id="13" name="cardhead-72"/>
          <p:cNvSpPr/>
          <p:nvPr/>
        </p:nvSpPr>
        <p:spPr>
          <a:xfrm>
            <a:off x="8046720" y="1783080"/>
            <a:ext cx="3520440" cy="548640"/>
          </a:xfrm>
          <a:prstGeom prst="roundRect">
            <a:avLst>
              <a:gd name="adj" fmla="val 13333"/>
            </a:avLst>
          </a:prstGeom>
          <a:solidFill>
            <a:schemeClr val="accent2"/>
          </a:solidFill>
          <a:ln/>
        </p:spPr>
      </p:sp>
      <p:sp>
        <p:nvSpPr>
          <p:cNvPr id="14" name="text-73"/>
          <p:cNvSpPr txBox="1"/>
          <p:nvPr/>
        </p:nvSpPr>
        <p:spPr>
          <a:xfrm>
            <a:off x="8275320" y="1783080"/>
            <a:ext cx="3108960" cy="548640"/>
          </a:xfrm>
          <a:prstGeom prst="rect">
            <a:avLst/>
          </a:prstGeom>
          <a:noFill/>
          <a:ln/>
        </p:spPr>
        <p:txBody>
          <a:bodyPr wrap="square" lIns="0" tIns="0" rIns="0" bIns="0" rtlCol="0" anchor="ctr"/>
          <a:lstStyle/>
          <a:p>
            <a:pPr indent="0" marL="0">
              <a:buNone/>
            </a:pPr>
            <a:r>
              <a:rPr lang="en-US" sz="1800" b="1" dirty="0">
                <a:solidFill>
                  <a:schemeClr val="bg1"/>
                </a:solidFill>
              </a:rPr>
              <a:t>What the model requires</a:t>
            </a:r>
            <a:endParaRPr lang="en-US" sz="1800" dirty="0"/>
          </a:p>
        </p:txBody>
      </p:sp>
      <p:sp>
        <p:nvSpPr>
          <p:cNvPr id="15" name="list-74"/>
          <p:cNvSpPr txBox="1"/>
          <p:nvPr/>
        </p:nvSpPr>
        <p:spPr>
          <a:xfrm>
            <a:off x="8229600" y="2514600"/>
            <a:ext cx="315468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Transfer each hardcoded input</a:t>
            </a:r>
            <a:endParaRPr lang="en-US" sz="1500" dirty="0"/>
          </a:p>
          <a:p>
            <a:pPr marL="342900" indent="-342900">
              <a:spcAft>
                <a:spcPts val="800"/>
              </a:spcAft>
              <a:buSzPct val="100000"/>
              <a:buChar char="•"/>
            </a:pPr>
            <a:r>
              <a:rPr lang="en-US" sz="1500" dirty="0">
                <a:solidFill>
                  <a:schemeClr val="tx1"/>
                </a:solidFill>
              </a:rPr>
              <a:t>Preserve the adjustment detail</a:t>
            </a:r>
            <a:endParaRPr lang="en-US" sz="1500" dirty="0"/>
          </a:p>
          <a:p>
            <a:pPr marL="342900" indent="-342900">
              <a:spcAft>
                <a:spcPts val="800"/>
              </a:spcAft>
              <a:buSzPct val="100000"/>
              <a:buChar char="•"/>
            </a:pPr>
            <a:r>
              <a:rPr lang="en-US" sz="1500" dirty="0">
                <a:solidFill>
                  <a:schemeClr val="tx1"/>
                </a:solidFill>
              </a:rPr>
              <a:t>Extend the live formulas</a:t>
            </a:r>
            <a:endParaRPr lang="en-US" sz="1500" dirty="0"/>
          </a:p>
          <a:p>
            <a:pPr marL="342900" indent="-342900">
              <a:spcAft>
                <a:spcPts val="800"/>
              </a:spcAft>
              <a:buSzPct val="100000"/>
              <a:buChar char="•"/>
            </a:pPr>
            <a:r>
              <a:rPr lang="en-US" sz="1500" dirty="0">
                <a:solidFill>
                  <a:schemeClr val="tx1"/>
                </a:solidFill>
              </a:rPr>
              <a:t>Verify the finished file</a:t>
            </a:r>
            <a:endParaRPr lang="en-US" sz="1500" dirty="0"/>
          </a:p>
        </p:txBody>
      </p:sp>
      <p:sp>
        <p:nvSpPr>
          <p:cNvPr id="16" name="text-75"/>
          <p:cNvSpPr txBox="1"/>
          <p:nvPr/>
        </p:nvSpPr>
        <p:spPr>
          <a:xfrm>
            <a:off x="548640" y="4983480"/>
            <a:ext cx="3657600" cy="320040"/>
          </a:xfrm>
          <a:prstGeom prst="rect">
            <a:avLst/>
          </a:prstGeom>
          <a:noFill/>
          <a:ln/>
        </p:spPr>
        <p:txBody>
          <a:bodyPr wrap="square" lIns="0" tIns="0" rIns="0" bIns="0" rtlCol="0" anchor="t"/>
          <a:lstStyle/>
          <a:p>
            <a:pPr indent="0" marL="0">
              <a:buNone/>
            </a:pPr>
            <a:r>
              <a:rPr lang="en-US" sz="1300" b="1" dirty="0">
                <a:solidFill>
                  <a:schemeClr val="tx2"/>
                </a:solidFill>
              </a:rPr>
              <a:t>Required calculation path</a:t>
            </a:r>
            <a:endParaRPr lang="en-US" sz="1300" dirty="0"/>
          </a:p>
        </p:txBody>
      </p:sp>
      <p:sp>
        <p:nvSpPr>
          <p:cNvPr id="17" name="chip-76"/>
          <p:cNvSpPr/>
          <p:nvPr/>
        </p:nvSpPr>
        <p:spPr>
          <a:xfrm>
            <a:off x="548640" y="5349240"/>
            <a:ext cx="2423160" cy="566928"/>
          </a:xfrm>
          <a:prstGeom prst="roundRect">
            <a:avLst>
              <a:gd name="adj" fmla="val 16129"/>
            </a:avLst>
          </a:prstGeom>
          <a:solidFill>
            <a:schemeClr val="accent4"/>
          </a:solidFill>
          <a:ln/>
        </p:spPr>
      </p:sp>
      <p:sp>
        <p:nvSpPr>
          <p:cNvPr id="18" name="chiptext-77"/>
          <p:cNvSpPr txBox="1"/>
          <p:nvPr/>
        </p:nvSpPr>
        <p:spPr>
          <a:xfrm>
            <a:off x="713232" y="5349240"/>
            <a:ext cx="2093976" cy="566928"/>
          </a:xfrm>
          <a:prstGeom prst="rect">
            <a:avLst/>
          </a:prstGeom>
          <a:noFill/>
          <a:ln/>
        </p:spPr>
        <p:txBody>
          <a:bodyPr wrap="square" lIns="0" tIns="0" rIns="0" bIns="0" rtlCol="0" anchor="ctr"/>
          <a:lstStyle/>
          <a:p>
            <a:pPr indent="0" marL="0">
              <a:buNone/>
            </a:pPr>
            <a:r>
              <a:rPr lang="en-US" sz="1400" b="1" dirty="0">
                <a:solidFill>
                  <a:schemeClr val="bg1"/>
                </a:solidFill>
              </a:rPr>
              <a:t>Monthly adjustment inputs</a:t>
            </a:r>
            <a:endParaRPr lang="en-US" sz="1400" dirty="0"/>
          </a:p>
        </p:txBody>
      </p:sp>
      <p:pic>
        <p:nvPicPr>
          <p:cNvPr id="19" name="arrow-78" descr="preencoded.png">    </p:cNvPr>
          <p:cNvPicPr>
            <a:picLocks noChangeAspect="1"/>
          </p:cNvPicPr>
          <p:nvPr/>
        </p:nvPicPr>
        <p:blipFill>
          <a:blip r:embed="rId1"/>
          <a:stretch>
            <a:fillRect/>
          </a:stretch>
        </p:blipFill>
        <p:spPr>
          <a:xfrm>
            <a:off x="3026664" y="5486400"/>
            <a:ext cx="292608" cy="292608"/>
          </a:xfrm>
          <a:prstGeom prst="rect">
            <a:avLst/>
          </a:prstGeom>
        </p:spPr>
      </p:pic>
      <p:sp>
        <p:nvSpPr>
          <p:cNvPr id="20" name="chip-79"/>
          <p:cNvSpPr/>
          <p:nvPr/>
        </p:nvSpPr>
        <p:spPr>
          <a:xfrm>
            <a:off x="3383280" y="5349240"/>
            <a:ext cx="2423160" cy="566928"/>
          </a:xfrm>
          <a:prstGeom prst="roundRect">
            <a:avLst>
              <a:gd name="adj" fmla="val 16129"/>
            </a:avLst>
          </a:prstGeom>
          <a:solidFill>
            <a:schemeClr val="accent2"/>
          </a:solidFill>
          <a:ln/>
        </p:spPr>
      </p:sp>
      <p:sp>
        <p:nvSpPr>
          <p:cNvPr id="21" name="chiptext-80"/>
          <p:cNvSpPr txBox="1"/>
          <p:nvPr/>
        </p:nvSpPr>
        <p:spPr>
          <a:xfrm>
            <a:off x="3547872" y="5349240"/>
            <a:ext cx="2093976" cy="566928"/>
          </a:xfrm>
          <a:prstGeom prst="rect">
            <a:avLst/>
          </a:prstGeom>
          <a:noFill/>
          <a:ln/>
        </p:spPr>
        <p:txBody>
          <a:bodyPr wrap="square" lIns="0" tIns="0" rIns="0" bIns="0" rtlCol="0" anchor="ctr"/>
          <a:lstStyle/>
          <a:p>
            <a:pPr indent="0" marL="0">
              <a:buNone/>
            </a:pPr>
            <a:r>
              <a:rPr lang="en-US" sz="1400" b="1" dirty="0">
                <a:solidFill>
                  <a:schemeClr val="bg1"/>
                </a:solidFill>
              </a:rPr>
              <a:t>Subtotal formula</a:t>
            </a:r>
            <a:endParaRPr lang="en-US" sz="1400" dirty="0"/>
          </a:p>
        </p:txBody>
      </p:sp>
      <p:pic>
        <p:nvPicPr>
          <p:cNvPr id="22" name="arrow-81" descr="preencoded.png">    </p:cNvPr>
          <p:cNvPicPr>
            <a:picLocks noChangeAspect="1"/>
          </p:cNvPicPr>
          <p:nvPr/>
        </p:nvPicPr>
        <p:blipFill>
          <a:blip r:embed="rId2"/>
          <a:stretch>
            <a:fillRect/>
          </a:stretch>
        </p:blipFill>
        <p:spPr>
          <a:xfrm>
            <a:off x="5861304" y="5486400"/>
            <a:ext cx="292608" cy="292608"/>
          </a:xfrm>
          <a:prstGeom prst="rect">
            <a:avLst/>
          </a:prstGeom>
        </p:spPr>
      </p:pic>
      <p:sp>
        <p:nvSpPr>
          <p:cNvPr id="23" name="chip-82"/>
          <p:cNvSpPr/>
          <p:nvPr/>
        </p:nvSpPr>
        <p:spPr>
          <a:xfrm>
            <a:off x="6217920" y="5349240"/>
            <a:ext cx="2423160" cy="566928"/>
          </a:xfrm>
          <a:prstGeom prst="roundRect">
            <a:avLst>
              <a:gd name="adj" fmla="val 16129"/>
            </a:avLst>
          </a:prstGeom>
          <a:solidFill>
            <a:schemeClr val="accent2"/>
          </a:solidFill>
          <a:ln/>
        </p:spPr>
      </p:sp>
      <p:sp>
        <p:nvSpPr>
          <p:cNvPr id="24" name="chiptext-83"/>
          <p:cNvSpPr txBox="1"/>
          <p:nvPr/>
        </p:nvSpPr>
        <p:spPr>
          <a:xfrm>
            <a:off x="6382512" y="5349240"/>
            <a:ext cx="2093976" cy="566928"/>
          </a:xfrm>
          <a:prstGeom prst="rect">
            <a:avLst/>
          </a:prstGeom>
          <a:noFill/>
          <a:ln/>
        </p:spPr>
        <p:txBody>
          <a:bodyPr wrap="square" lIns="0" tIns="0" rIns="0" bIns="0" rtlCol="0" anchor="ctr"/>
          <a:lstStyle/>
          <a:p>
            <a:pPr indent="0" marL="0">
              <a:buNone/>
            </a:pPr>
            <a:r>
              <a:rPr lang="en-US" sz="1400" b="1" dirty="0">
                <a:solidFill>
                  <a:schemeClr val="bg1"/>
                </a:solidFill>
              </a:rPr>
              <a:t>Adjusted EBITDA formula</a:t>
            </a:r>
            <a:endParaRPr lang="en-US" sz="1400" dirty="0"/>
          </a:p>
        </p:txBody>
      </p:sp>
      <p:pic>
        <p:nvPicPr>
          <p:cNvPr id="25" name="arrow-84" descr="preencoded.png">    </p:cNvPr>
          <p:cNvPicPr>
            <a:picLocks noChangeAspect="1"/>
          </p:cNvPicPr>
          <p:nvPr/>
        </p:nvPicPr>
        <p:blipFill>
          <a:blip r:embed="rId3"/>
          <a:stretch>
            <a:fillRect/>
          </a:stretch>
        </p:blipFill>
        <p:spPr>
          <a:xfrm>
            <a:off x="8695944" y="5486400"/>
            <a:ext cx="292608" cy="292608"/>
          </a:xfrm>
          <a:prstGeom prst="rect">
            <a:avLst/>
          </a:prstGeom>
        </p:spPr>
      </p:pic>
      <p:sp>
        <p:nvSpPr>
          <p:cNvPr id="26" name="chip-85"/>
          <p:cNvSpPr/>
          <p:nvPr/>
        </p:nvSpPr>
        <p:spPr>
          <a:xfrm>
            <a:off x="9052560" y="5349240"/>
            <a:ext cx="2423160" cy="566928"/>
          </a:xfrm>
          <a:prstGeom prst="roundRect">
            <a:avLst>
              <a:gd name="adj" fmla="val 16129"/>
            </a:avLst>
          </a:prstGeom>
          <a:solidFill>
            <a:schemeClr val="accent1"/>
          </a:solidFill>
          <a:ln/>
        </p:spPr>
      </p:sp>
      <p:sp>
        <p:nvSpPr>
          <p:cNvPr id="27" name="chiptext-86"/>
          <p:cNvSpPr txBox="1"/>
          <p:nvPr/>
        </p:nvSpPr>
        <p:spPr>
          <a:xfrm>
            <a:off x="9217152" y="5349240"/>
            <a:ext cx="2093976" cy="566928"/>
          </a:xfrm>
          <a:prstGeom prst="rect">
            <a:avLst/>
          </a:prstGeom>
          <a:noFill/>
          <a:ln/>
        </p:spPr>
        <p:txBody>
          <a:bodyPr wrap="square" lIns="0" tIns="0" rIns="0" bIns="0" rtlCol="0" anchor="ctr"/>
          <a:lstStyle/>
          <a:p>
            <a:pPr indent="0" marL="0">
              <a:buNone/>
            </a:pPr>
            <a:r>
              <a:rPr lang="en-US" sz="1400" b="1" dirty="0">
                <a:solidFill>
                  <a:schemeClr val="bg1"/>
                </a:solidFill>
              </a:rPr>
              <a:t>Valuation</a:t>
            </a:r>
            <a:endParaRPr lang="en-US" sz="1400" dirty="0"/>
          </a:p>
        </p:txBody>
      </p:sp>
      <p:sp>
        <p:nvSpPr>
          <p:cNvPr id="25" name="Slide Number Placeholder 0"/>
          <p:cNvSpPr>
            <a:spLocks noGrp="1"/>
          </p:cNvSpPr>
          <p:nvPr>
            <p:ph type="sldNum" sz="quarter" idx="4294967295"/>
          </p:nvPr>
        </p:nvSpPr>
        <p:spPr>
          <a:xfrm>
            <a:off x="1124712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4A526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8"/>
          <p:cNvSpPr/>
          <p:nvPr>
            <p:ph idx="108" type="title" hasCustomPrompt="1"/>
          </p:nvPr>
        </p:nvSpPr>
        <p:spPr>
          <a:xfrm>
            <a:off x="548640" y="320040"/>
            <a:ext cx="11064240" cy="731520"/>
          </a:xfrm>
          <a:prstGeom prst="rect">
            <a:avLst/>
          </a:prstGeom>
          <a:noFill/>
          <a:ln/>
        </p:spPr>
        <p:txBody>
          <a:bodyPr wrap="square" lIns="0" tIns="0" rIns="0" bIns="0" rtlCol="0" anchor="t"/>
          <a:lstStyle/>
          <a:p>
            <a:pPr algn="l" indent="0" marL="0">
              <a:buNone/>
            </a:pPr>
            <a:r>
              <a:rPr lang="en-US" sz="3600" b="1" dirty="0">
                <a:solidFill>
                  <a:srgbClr val="1E2530"/>
                </a:solidFill>
                <a:latin typeface="Cambria" pitchFamily="34" charset="0"/>
                <a:ea typeface="Cambria" pitchFamily="34" charset="-122"/>
                <a:cs typeface="Cambria" pitchFamily="34" charset="-120"/>
              </a:rPr>
              <a:t>Every observed failure now has a control</a:t>
            </a:r>
            <a:endParaRPr lang="en-US" sz="3600" dirty="0"/>
          </a:p>
        </p:txBody>
      </p:sp>
      <p:sp>
        <p:nvSpPr>
          <p:cNvPr id="3" name="Text 8"/>
          <p:cNvSpPr/>
          <p:nvPr>
            <p:ph idx="109" type="body" hasCustomPrompt="1"/>
          </p:nvPr>
        </p:nvSpPr>
        <p:spPr>
          <a:xfrm>
            <a:off x="548640" y="1097280"/>
            <a:ext cx="11064240" cy="457200"/>
          </a:xfrm>
          <a:prstGeom prst="rect">
            <a:avLst/>
          </a:prstGeom>
          <a:noFill/>
          <a:ln/>
        </p:spPr>
        <p:txBody>
          <a:bodyPr wrap="square" lIns="0" tIns="0" rIns="0" bIns="0" rtlCol="0" anchor="t"/>
          <a:lstStyle/>
          <a:p>
            <a:pPr indent="0" marL="0">
              <a:buNone/>
            </a:pPr>
            <a:r>
              <a:rPr lang="en-US" sz="1800" dirty="0">
                <a:solidFill>
                  <a:srgbClr val="4A5260"/>
                </a:solidFill>
              </a:rPr>
              <a:t>The AI still does the work. Fixed tools it cannot edit check that the work is right.</a:t>
            </a:r>
            <a:endParaRPr lang="en-US" sz="1800" dirty="0"/>
          </a:p>
        </p:txBody>
      </p:sp>
      <p:sp>
        <p:nvSpPr>
          <p:cNvPr id="4" name="text-87"/>
          <p:cNvSpPr txBox="1"/>
          <p:nvPr/>
        </p:nvSpPr>
        <p:spPr>
          <a:xfrm>
            <a:off x="548640" y="1783080"/>
            <a:ext cx="2926080" cy="320040"/>
          </a:xfrm>
          <a:prstGeom prst="rect">
            <a:avLst/>
          </a:prstGeom>
          <a:noFill/>
          <a:ln/>
        </p:spPr>
        <p:txBody>
          <a:bodyPr wrap="square" lIns="0" tIns="0" rIns="0" bIns="0" rtlCol="0" anchor="t"/>
          <a:lstStyle/>
          <a:p>
            <a:pPr indent="0" marL="0">
              <a:buNone/>
            </a:pPr>
            <a:r>
              <a:rPr lang="en-US" sz="1300" b="1" dirty="0">
                <a:solidFill>
                  <a:schemeClr val="tx2"/>
                </a:solidFill>
              </a:rPr>
              <a:t>Failure seen</a:t>
            </a:r>
            <a:endParaRPr lang="en-US" sz="1300" dirty="0"/>
          </a:p>
        </p:txBody>
      </p:sp>
      <p:sp>
        <p:nvSpPr>
          <p:cNvPr id="5" name="text-88"/>
          <p:cNvSpPr txBox="1"/>
          <p:nvPr/>
        </p:nvSpPr>
        <p:spPr>
          <a:xfrm>
            <a:off x="3977640" y="1783080"/>
            <a:ext cx="4572000" cy="320040"/>
          </a:xfrm>
          <a:prstGeom prst="rect">
            <a:avLst/>
          </a:prstGeom>
          <a:noFill/>
          <a:ln/>
        </p:spPr>
        <p:txBody>
          <a:bodyPr wrap="square" lIns="0" tIns="0" rIns="0" bIns="0" rtlCol="0" anchor="t"/>
          <a:lstStyle/>
          <a:p>
            <a:pPr indent="0" marL="0">
              <a:buNone/>
            </a:pPr>
            <a:r>
              <a:rPr lang="en-US" sz="1300" b="1" dirty="0">
                <a:solidFill>
                  <a:schemeClr val="tx2"/>
                </a:solidFill>
              </a:rPr>
              <a:t>Control in the MVP</a:t>
            </a:r>
            <a:endParaRPr lang="en-US" sz="1300" dirty="0"/>
          </a:p>
        </p:txBody>
      </p:sp>
      <p:sp>
        <p:nvSpPr>
          <p:cNvPr id="6" name="text-89"/>
          <p:cNvSpPr txBox="1"/>
          <p:nvPr/>
        </p:nvSpPr>
        <p:spPr>
          <a:xfrm>
            <a:off x="8915400" y="1783080"/>
            <a:ext cx="2743200" cy="320040"/>
          </a:xfrm>
          <a:prstGeom prst="rect">
            <a:avLst/>
          </a:prstGeom>
          <a:noFill/>
          <a:ln/>
        </p:spPr>
        <p:txBody>
          <a:bodyPr wrap="square" lIns="0" tIns="0" rIns="0" bIns="0" rtlCol="0" anchor="t"/>
          <a:lstStyle/>
          <a:p>
            <a:pPr indent="0" marL="0">
              <a:buNone/>
            </a:pPr>
            <a:r>
              <a:rPr lang="en-US" sz="1300" b="1" dirty="0">
                <a:solidFill>
                  <a:schemeClr val="tx2"/>
                </a:solidFill>
              </a:rPr>
              <a:t>Evidence so far</a:t>
            </a:r>
            <a:endParaRPr lang="en-US" sz="1300" dirty="0"/>
          </a:p>
        </p:txBody>
      </p:sp>
      <p:sp>
        <p:nvSpPr>
          <p:cNvPr id="7" name="chip-90"/>
          <p:cNvSpPr/>
          <p:nvPr/>
        </p:nvSpPr>
        <p:spPr>
          <a:xfrm>
            <a:off x="548640" y="2194560"/>
            <a:ext cx="2926080" cy="1051560"/>
          </a:xfrm>
          <a:prstGeom prst="roundRect">
            <a:avLst>
              <a:gd name="adj" fmla="val 8696"/>
            </a:avLst>
          </a:prstGeom>
          <a:solidFill>
            <a:schemeClr val="accent5"/>
          </a:solidFill>
          <a:ln/>
        </p:spPr>
      </p:sp>
      <p:sp>
        <p:nvSpPr>
          <p:cNvPr id="8" name="chiptext-91"/>
          <p:cNvSpPr txBox="1"/>
          <p:nvPr/>
        </p:nvSpPr>
        <p:spPr>
          <a:xfrm>
            <a:off x="713232" y="2194560"/>
            <a:ext cx="2596896" cy="1051560"/>
          </a:xfrm>
          <a:prstGeom prst="rect">
            <a:avLst/>
          </a:prstGeom>
          <a:noFill/>
          <a:ln/>
        </p:spPr>
        <p:txBody>
          <a:bodyPr wrap="square" lIns="0" tIns="0" rIns="0" bIns="0" rtlCol="0" anchor="ctr"/>
          <a:lstStyle/>
          <a:p>
            <a:pPr indent="0" marL="0">
              <a:buNone/>
            </a:pPr>
            <a:r>
              <a:rPr lang="en-US" sz="1500" b="1" dirty="0">
                <a:solidFill>
                  <a:schemeClr val="bg1"/>
                </a:solidFill>
              </a:rPr>
              <a:t>Headline plug over a formula</a:t>
            </a:r>
            <a:endParaRPr lang="en-US" sz="1500" dirty="0"/>
          </a:p>
        </p:txBody>
      </p:sp>
      <p:pic>
        <p:nvPicPr>
          <p:cNvPr id="9" name="arrow-92" descr="preencoded.png">    </p:cNvPr>
          <p:cNvPicPr>
            <a:picLocks noChangeAspect="1"/>
          </p:cNvPicPr>
          <p:nvPr/>
        </p:nvPicPr>
        <p:blipFill>
          <a:blip r:embed="rId1"/>
          <a:stretch>
            <a:fillRect/>
          </a:stretch>
        </p:blipFill>
        <p:spPr>
          <a:xfrm>
            <a:off x="3547872" y="2578608"/>
            <a:ext cx="292608" cy="292608"/>
          </a:xfrm>
          <a:prstGeom prst="rect">
            <a:avLst/>
          </a:prstGeom>
        </p:spPr>
      </p:pic>
      <p:sp>
        <p:nvSpPr>
          <p:cNvPr id="10" name="chip-93"/>
          <p:cNvSpPr/>
          <p:nvPr/>
        </p:nvSpPr>
        <p:spPr>
          <a:xfrm>
            <a:off x="3977640" y="2194560"/>
            <a:ext cx="4572000" cy="1051560"/>
          </a:xfrm>
          <a:prstGeom prst="roundRect">
            <a:avLst>
              <a:gd name="adj" fmla="val 8696"/>
            </a:avLst>
          </a:prstGeom>
          <a:solidFill>
            <a:schemeClr val="accent2"/>
          </a:solidFill>
          <a:ln/>
        </p:spPr>
      </p:sp>
      <p:pic>
        <p:nvPicPr>
          <p:cNvPr id="11" name="icon-94" descr="preencoded.png">    </p:cNvPr>
          <p:cNvPicPr>
            <a:picLocks noChangeAspect="1"/>
          </p:cNvPicPr>
          <p:nvPr/>
        </p:nvPicPr>
        <p:blipFill>
          <a:blip r:embed="rId2"/>
          <a:stretch>
            <a:fillRect/>
          </a:stretch>
        </p:blipFill>
        <p:spPr>
          <a:xfrm>
            <a:off x="4142232" y="2528316"/>
            <a:ext cx="384048" cy="384048"/>
          </a:xfrm>
          <a:prstGeom prst="rect">
            <a:avLst/>
          </a:prstGeom>
        </p:spPr>
      </p:pic>
      <p:sp>
        <p:nvSpPr>
          <p:cNvPr id="12" name="chiptext-95"/>
          <p:cNvSpPr txBox="1"/>
          <p:nvPr/>
        </p:nvSpPr>
        <p:spPr>
          <a:xfrm>
            <a:off x="4636008" y="2194560"/>
            <a:ext cx="3749040" cy="1051560"/>
          </a:xfrm>
          <a:prstGeom prst="rect">
            <a:avLst/>
          </a:prstGeom>
          <a:noFill/>
          <a:ln/>
        </p:spPr>
        <p:txBody>
          <a:bodyPr wrap="square" lIns="0" tIns="0" rIns="0" bIns="0" rtlCol="0" anchor="ctr"/>
          <a:lstStyle/>
          <a:p>
            <a:pPr indent="0" marL="0">
              <a:buNone/>
            </a:pPr>
            <a:r>
              <a:rPr lang="en-US" sz="1400" b="1" dirty="0">
                <a:solidFill>
                  <a:schemeClr val="bg1"/>
                </a:solidFill>
              </a:rPr>
              <a:t>Edit tools refuse to hardcode over a formula. Every new month must keep the prior month's input and formula roles.</a:t>
            </a:r>
            <a:endParaRPr lang="en-US" sz="1400" dirty="0"/>
          </a:p>
        </p:txBody>
      </p:sp>
      <p:pic>
        <p:nvPicPr>
          <p:cNvPr id="13" name="ok-96" descr="preencoded.png">    </p:cNvPr>
          <p:cNvPicPr>
            <a:picLocks noChangeAspect="1"/>
          </p:cNvPicPr>
          <p:nvPr/>
        </p:nvPicPr>
        <p:blipFill>
          <a:blip r:embed="rId3"/>
          <a:stretch>
            <a:fillRect/>
          </a:stretch>
        </p:blipFill>
        <p:spPr>
          <a:xfrm>
            <a:off x="8915400" y="2542032"/>
            <a:ext cx="347472" cy="347472"/>
          </a:xfrm>
          <a:prstGeom prst="rect">
            <a:avLst/>
          </a:prstGeom>
        </p:spPr>
      </p:pic>
      <p:sp>
        <p:nvSpPr>
          <p:cNvPr id="14" name="text-97"/>
          <p:cNvSpPr txBox="1"/>
          <p:nvPr/>
        </p:nvSpPr>
        <p:spPr>
          <a:xfrm>
            <a:off x="9372600" y="2194560"/>
            <a:ext cx="2286000" cy="1051560"/>
          </a:xfrm>
          <a:prstGeom prst="rect">
            <a:avLst/>
          </a:prstGeom>
          <a:noFill/>
          <a:ln/>
        </p:spPr>
        <p:txBody>
          <a:bodyPr wrap="square" lIns="0" tIns="0" rIns="0" bIns="0" rtlCol="0" anchor="ctr"/>
          <a:lstStyle/>
          <a:p>
            <a:pPr indent="0" marL="0">
              <a:buNone/>
            </a:pPr>
            <a:r>
              <a:rPr lang="en-US" sz="1400" dirty="0">
                <a:solidFill>
                  <a:schemeClr val="tx1"/>
                </a:solidFill>
              </a:rPr>
              <a:t>Sabotage test: hardcoded Adjusted EBITDA detected</a:t>
            </a:r>
            <a:endParaRPr lang="en-US" sz="1400" dirty="0"/>
          </a:p>
        </p:txBody>
      </p:sp>
      <p:sp>
        <p:nvSpPr>
          <p:cNvPr id="15" name="chip-98"/>
          <p:cNvSpPr/>
          <p:nvPr/>
        </p:nvSpPr>
        <p:spPr>
          <a:xfrm>
            <a:off x="548640" y="3474720"/>
            <a:ext cx="2926080" cy="1051560"/>
          </a:xfrm>
          <a:prstGeom prst="roundRect">
            <a:avLst>
              <a:gd name="adj" fmla="val 8696"/>
            </a:avLst>
          </a:prstGeom>
          <a:solidFill>
            <a:schemeClr val="accent5"/>
          </a:solidFill>
          <a:ln/>
        </p:spPr>
      </p:sp>
      <p:sp>
        <p:nvSpPr>
          <p:cNvPr id="16" name="chiptext-99"/>
          <p:cNvSpPr txBox="1"/>
          <p:nvPr/>
        </p:nvSpPr>
        <p:spPr>
          <a:xfrm>
            <a:off x="713232" y="3474720"/>
            <a:ext cx="2596896" cy="1051560"/>
          </a:xfrm>
          <a:prstGeom prst="rect">
            <a:avLst/>
          </a:prstGeom>
          <a:noFill/>
          <a:ln/>
        </p:spPr>
        <p:txBody>
          <a:bodyPr wrap="square" lIns="0" tIns="0" rIns="0" bIns="0" rtlCol="0" anchor="ctr"/>
          <a:lstStyle/>
          <a:p>
            <a:pPr indent="0" marL="0">
              <a:buNone/>
            </a:pPr>
            <a:r>
              <a:rPr lang="en-US" sz="1500" b="1" dirty="0">
                <a:solidFill>
                  <a:schemeClr val="bg1"/>
                </a:solidFill>
              </a:rPr>
              <a:t>Zeroed adjustment detail</a:t>
            </a:r>
            <a:endParaRPr lang="en-US" sz="1500" dirty="0"/>
          </a:p>
        </p:txBody>
      </p:sp>
      <p:pic>
        <p:nvPicPr>
          <p:cNvPr id="17" name="arrow-100" descr="preencoded.png">    </p:cNvPr>
          <p:cNvPicPr>
            <a:picLocks noChangeAspect="1"/>
          </p:cNvPicPr>
          <p:nvPr/>
        </p:nvPicPr>
        <p:blipFill>
          <a:blip r:embed="rId4"/>
          <a:stretch>
            <a:fillRect/>
          </a:stretch>
        </p:blipFill>
        <p:spPr>
          <a:xfrm>
            <a:off x="3547872" y="3858768"/>
            <a:ext cx="292608" cy="292608"/>
          </a:xfrm>
          <a:prstGeom prst="rect">
            <a:avLst/>
          </a:prstGeom>
        </p:spPr>
      </p:pic>
      <p:sp>
        <p:nvSpPr>
          <p:cNvPr id="18" name="chip-101"/>
          <p:cNvSpPr/>
          <p:nvPr/>
        </p:nvSpPr>
        <p:spPr>
          <a:xfrm>
            <a:off x="3977640" y="3474720"/>
            <a:ext cx="4572000" cy="1051560"/>
          </a:xfrm>
          <a:prstGeom prst="roundRect">
            <a:avLst>
              <a:gd name="adj" fmla="val 8696"/>
            </a:avLst>
          </a:prstGeom>
          <a:solidFill>
            <a:schemeClr val="accent2"/>
          </a:solidFill>
          <a:ln/>
        </p:spPr>
      </p:sp>
      <p:pic>
        <p:nvPicPr>
          <p:cNvPr id="19" name="icon-102" descr="preencoded.png">    </p:cNvPr>
          <p:cNvPicPr>
            <a:picLocks noChangeAspect="1"/>
          </p:cNvPicPr>
          <p:nvPr/>
        </p:nvPicPr>
        <p:blipFill>
          <a:blip r:embed="rId5"/>
          <a:stretch>
            <a:fillRect/>
          </a:stretch>
        </p:blipFill>
        <p:spPr>
          <a:xfrm>
            <a:off x="4142232" y="3808476"/>
            <a:ext cx="384048" cy="384048"/>
          </a:xfrm>
          <a:prstGeom prst="rect">
            <a:avLst/>
          </a:prstGeom>
        </p:spPr>
      </p:pic>
      <p:sp>
        <p:nvSpPr>
          <p:cNvPr id="20" name="chiptext-103"/>
          <p:cNvSpPr txBox="1"/>
          <p:nvPr/>
        </p:nvSpPr>
        <p:spPr>
          <a:xfrm>
            <a:off x="4636008" y="3474720"/>
            <a:ext cx="3749040" cy="1051560"/>
          </a:xfrm>
          <a:prstGeom prst="rect">
            <a:avLst/>
          </a:prstGeom>
          <a:noFill/>
          <a:ln/>
        </p:spPr>
        <p:txBody>
          <a:bodyPr wrap="square" lIns="0" tIns="0" rIns="0" bIns="0" rtlCol="0" anchor="ctr"/>
          <a:lstStyle/>
          <a:p>
            <a:pPr indent="0" marL="0">
              <a:buNone/>
            </a:pPr>
            <a:r>
              <a:rPr lang="en-US" sz="1400" b="1" dirty="0">
                <a:solidFill>
                  <a:schemeClr val="bg1"/>
                </a:solidFill>
              </a:rPr>
              <a:t>New-month inputs start empty and must be filled from a cited source or an explained blank. New zeros are flagged.</a:t>
            </a:r>
            <a:endParaRPr lang="en-US" sz="1400" dirty="0"/>
          </a:p>
        </p:txBody>
      </p:sp>
      <p:pic>
        <p:nvPicPr>
          <p:cNvPr id="21" name="ok-104" descr="preencoded.png">    </p:cNvPr>
          <p:cNvPicPr>
            <a:picLocks noChangeAspect="1"/>
          </p:cNvPicPr>
          <p:nvPr/>
        </p:nvPicPr>
        <p:blipFill>
          <a:blip r:embed="rId6"/>
          <a:stretch>
            <a:fillRect/>
          </a:stretch>
        </p:blipFill>
        <p:spPr>
          <a:xfrm>
            <a:off x="8915400" y="3822192"/>
            <a:ext cx="347472" cy="347472"/>
          </a:xfrm>
          <a:prstGeom prst="rect">
            <a:avLst/>
          </a:prstGeom>
        </p:spPr>
      </p:pic>
      <p:sp>
        <p:nvSpPr>
          <p:cNvPr id="22" name="text-105"/>
          <p:cNvSpPr txBox="1"/>
          <p:nvPr/>
        </p:nvSpPr>
        <p:spPr>
          <a:xfrm>
            <a:off x="9372600" y="3474720"/>
            <a:ext cx="2286000" cy="1051560"/>
          </a:xfrm>
          <a:prstGeom prst="rect">
            <a:avLst/>
          </a:prstGeom>
          <a:noFill/>
          <a:ln/>
        </p:spPr>
        <p:txBody>
          <a:bodyPr wrap="square" lIns="0" tIns="0" rIns="0" bIns="0" rtlCol="0" anchor="ctr"/>
          <a:lstStyle/>
          <a:p>
            <a:pPr indent="0" marL="0">
              <a:buNone/>
            </a:pPr>
            <a:r>
              <a:rPr lang="en-US" sz="1400" dirty="0">
                <a:solidFill>
                  <a:schemeClr val="tx1"/>
                </a:solidFill>
              </a:rPr>
              <a:t>Every input carries a source note</a:t>
            </a:r>
            <a:endParaRPr lang="en-US" sz="1400" dirty="0"/>
          </a:p>
        </p:txBody>
      </p:sp>
      <p:sp>
        <p:nvSpPr>
          <p:cNvPr id="23" name="chip-106"/>
          <p:cNvSpPr/>
          <p:nvPr/>
        </p:nvSpPr>
        <p:spPr>
          <a:xfrm>
            <a:off x="548640" y="4754880"/>
            <a:ext cx="2926080" cy="1051560"/>
          </a:xfrm>
          <a:prstGeom prst="roundRect">
            <a:avLst>
              <a:gd name="adj" fmla="val 8696"/>
            </a:avLst>
          </a:prstGeom>
          <a:solidFill>
            <a:schemeClr val="accent5"/>
          </a:solidFill>
          <a:ln/>
        </p:spPr>
      </p:sp>
      <p:sp>
        <p:nvSpPr>
          <p:cNvPr id="24" name="chiptext-107"/>
          <p:cNvSpPr txBox="1"/>
          <p:nvPr/>
        </p:nvSpPr>
        <p:spPr>
          <a:xfrm>
            <a:off x="713232" y="4754880"/>
            <a:ext cx="2596896" cy="1051560"/>
          </a:xfrm>
          <a:prstGeom prst="rect">
            <a:avLst/>
          </a:prstGeom>
          <a:noFill/>
          <a:ln/>
        </p:spPr>
        <p:txBody>
          <a:bodyPr wrap="square" lIns="0" tIns="0" rIns="0" bIns="0" rtlCol="0" anchor="ctr"/>
          <a:lstStyle/>
          <a:p>
            <a:pPr indent="0" marL="0">
              <a:buNone/>
            </a:pPr>
            <a:r>
              <a:rPr lang="en-US" sz="1500" b="1" dirty="0">
                <a:solidFill>
                  <a:schemeClr val="bg1"/>
                </a:solidFill>
              </a:rPr>
              <a:t>Overstated self-check</a:t>
            </a:r>
            <a:endParaRPr lang="en-US" sz="1500" dirty="0"/>
          </a:p>
        </p:txBody>
      </p:sp>
      <p:pic>
        <p:nvPicPr>
          <p:cNvPr id="25" name="arrow-108" descr="preencoded.png">    </p:cNvPr>
          <p:cNvPicPr>
            <a:picLocks noChangeAspect="1"/>
          </p:cNvPicPr>
          <p:nvPr/>
        </p:nvPicPr>
        <p:blipFill>
          <a:blip r:embed="rId7"/>
          <a:stretch>
            <a:fillRect/>
          </a:stretch>
        </p:blipFill>
        <p:spPr>
          <a:xfrm>
            <a:off x="3547872" y="5138928"/>
            <a:ext cx="292608" cy="292608"/>
          </a:xfrm>
          <a:prstGeom prst="rect">
            <a:avLst/>
          </a:prstGeom>
        </p:spPr>
      </p:pic>
      <p:sp>
        <p:nvSpPr>
          <p:cNvPr id="26" name="chip-109"/>
          <p:cNvSpPr/>
          <p:nvPr/>
        </p:nvSpPr>
        <p:spPr>
          <a:xfrm>
            <a:off x="3977640" y="4754880"/>
            <a:ext cx="4572000" cy="1051560"/>
          </a:xfrm>
          <a:prstGeom prst="roundRect">
            <a:avLst>
              <a:gd name="adj" fmla="val 8696"/>
            </a:avLst>
          </a:prstGeom>
          <a:solidFill>
            <a:schemeClr val="accent2"/>
          </a:solidFill>
          <a:ln/>
        </p:spPr>
      </p:sp>
      <p:pic>
        <p:nvPicPr>
          <p:cNvPr id="27" name="icon-110" descr="preencoded.png">    </p:cNvPr>
          <p:cNvPicPr>
            <a:picLocks noChangeAspect="1"/>
          </p:cNvPicPr>
          <p:nvPr/>
        </p:nvPicPr>
        <p:blipFill>
          <a:blip r:embed="rId8"/>
          <a:stretch>
            <a:fillRect/>
          </a:stretch>
        </p:blipFill>
        <p:spPr>
          <a:xfrm>
            <a:off x="4142232" y="5088636"/>
            <a:ext cx="384048" cy="384048"/>
          </a:xfrm>
          <a:prstGeom prst="rect">
            <a:avLst/>
          </a:prstGeom>
        </p:spPr>
      </p:pic>
      <p:sp>
        <p:nvSpPr>
          <p:cNvPr id="28" name="chiptext-111"/>
          <p:cNvSpPr txBox="1"/>
          <p:nvPr/>
        </p:nvSpPr>
        <p:spPr>
          <a:xfrm>
            <a:off x="4636008" y="4754880"/>
            <a:ext cx="3749040" cy="1051560"/>
          </a:xfrm>
          <a:prstGeom prst="rect">
            <a:avLst/>
          </a:prstGeom>
          <a:noFill/>
          <a:ln/>
        </p:spPr>
        <p:txBody>
          <a:bodyPr wrap="square" lIns="0" tIns="0" rIns="0" bIns="0" rtlCol="0" anchor="ctr"/>
          <a:lstStyle/>
          <a:p>
            <a:pPr indent="0" marL="0">
              <a:buNone/>
            </a:pPr>
            <a:r>
              <a:rPr lang="en-US" sz="1400" b="1" dirty="0">
                <a:solidFill>
                  <a:schemeClr val="bg1"/>
                </a:solidFill>
              </a:rPr>
              <a:t>Verification runs with fixed, tested code. The prior period must tie to approved values. Blind grading by the test bench.</a:t>
            </a:r>
            <a:endParaRPr lang="en-US" sz="1400" dirty="0"/>
          </a:p>
        </p:txBody>
      </p:sp>
      <p:pic>
        <p:nvPicPr>
          <p:cNvPr id="29" name="ok-112" descr="preencoded.png">    </p:cNvPr>
          <p:cNvPicPr>
            <a:picLocks noChangeAspect="1"/>
          </p:cNvPicPr>
          <p:nvPr/>
        </p:nvPicPr>
        <p:blipFill>
          <a:blip r:embed="rId9"/>
          <a:stretch>
            <a:fillRect/>
          </a:stretch>
        </p:blipFill>
        <p:spPr>
          <a:xfrm>
            <a:off x="8915400" y="5102352"/>
            <a:ext cx="347472" cy="347472"/>
          </a:xfrm>
          <a:prstGeom prst="rect">
            <a:avLst/>
          </a:prstGeom>
        </p:spPr>
      </p:pic>
      <p:sp>
        <p:nvSpPr>
          <p:cNvPr id="30" name="text-113"/>
          <p:cNvSpPr txBox="1"/>
          <p:nvPr/>
        </p:nvSpPr>
        <p:spPr>
          <a:xfrm>
            <a:off x="9372600" y="4754880"/>
            <a:ext cx="2286000" cy="1051560"/>
          </a:xfrm>
          <a:prstGeom prst="rect">
            <a:avLst/>
          </a:prstGeom>
          <a:noFill/>
          <a:ln/>
        </p:spPr>
        <p:txBody>
          <a:bodyPr wrap="square" lIns="0" tIns="0" rIns="0" bIns="0" rtlCol="0" anchor="ctr"/>
          <a:lstStyle/>
          <a:p>
            <a:pPr indent="0" marL="0">
              <a:buNone/>
            </a:pPr>
            <a:r>
              <a:rPr lang="en-US" sz="1400" dirty="0">
                <a:solidFill>
                  <a:schemeClr val="tx1"/>
                </a:solidFill>
              </a:rPr>
              <a:t>Run 1: a prior-period error caught by the verifier</a:t>
            </a:r>
            <a:endParaRPr lang="en-US" sz="1400" dirty="0"/>
          </a:p>
        </p:txBody>
      </p:sp>
      <p:sp>
        <p:nvSpPr>
          <p:cNvPr id="25" name="Slide Number Placeholder 0"/>
          <p:cNvSpPr>
            <a:spLocks noGrp="1"/>
          </p:cNvSpPr>
          <p:nvPr>
            <p:ph type="sldNum" sz="quarter" idx="4294967295"/>
          </p:nvPr>
        </p:nvSpPr>
        <p:spPr>
          <a:xfrm>
            <a:off x="1124712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4A526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8"/>
          <p:cNvSpPr/>
          <p:nvPr>
            <p:ph idx="108" type="title" hasCustomPrompt="1"/>
          </p:nvPr>
        </p:nvSpPr>
        <p:spPr>
          <a:xfrm>
            <a:off x="548640" y="320040"/>
            <a:ext cx="11064240" cy="731520"/>
          </a:xfrm>
          <a:prstGeom prst="rect">
            <a:avLst/>
          </a:prstGeom>
          <a:noFill/>
          <a:ln/>
        </p:spPr>
        <p:txBody>
          <a:bodyPr wrap="square" lIns="0" tIns="0" rIns="0" bIns="0" rtlCol="0" anchor="t"/>
          <a:lstStyle/>
          <a:p>
            <a:pPr algn="l" indent="0" marL="0">
              <a:buNone/>
            </a:pPr>
            <a:r>
              <a:rPr lang="en-US" sz="3600" b="1" dirty="0">
                <a:solidFill>
                  <a:srgbClr val="1E2530"/>
                </a:solidFill>
                <a:latin typeface="Cambria" pitchFamily="34" charset="0"/>
                <a:ea typeface="Cambria" pitchFamily="34" charset="-122"/>
                <a:cs typeface="Cambria" pitchFamily="34" charset="-120"/>
              </a:rPr>
              <a:t>Approved workbook in, verified roll-forward out</a:t>
            </a:r>
            <a:endParaRPr lang="en-US" sz="3600" dirty="0"/>
          </a:p>
        </p:txBody>
      </p:sp>
      <p:sp>
        <p:nvSpPr>
          <p:cNvPr id="3" name="Text 8"/>
          <p:cNvSpPr/>
          <p:nvPr>
            <p:ph idx="109" type="body" hasCustomPrompt="1"/>
          </p:nvPr>
        </p:nvSpPr>
        <p:spPr>
          <a:xfrm>
            <a:off x="548640" y="1097280"/>
            <a:ext cx="11064240" cy="457200"/>
          </a:xfrm>
          <a:prstGeom prst="rect">
            <a:avLst/>
          </a:prstGeom>
          <a:noFill/>
          <a:ln/>
        </p:spPr>
        <p:txBody>
          <a:bodyPr wrap="square" lIns="0" tIns="0" rIns="0" bIns="0" rtlCol="0" anchor="t"/>
          <a:lstStyle/>
          <a:p>
            <a:pPr indent="0" marL="0">
              <a:buNone/>
            </a:pPr>
            <a:r>
              <a:rPr lang="en-US" sz="1800" dirty="0">
                <a:solidFill>
                  <a:srgbClr val="4A5260"/>
                </a:solidFill>
              </a:rPr>
              <a:t>The approved workbook carries the company knowledge forward. Each approval becomes next quarter's starting point.</a:t>
            </a:r>
            <a:endParaRPr lang="en-US" sz="1800" dirty="0"/>
          </a:p>
        </p:txBody>
      </p:sp>
      <p:sp>
        <p:nvSpPr>
          <p:cNvPr id="4" name="chip-114"/>
          <p:cNvSpPr/>
          <p:nvPr/>
        </p:nvSpPr>
        <p:spPr>
          <a:xfrm>
            <a:off x="548640" y="2011680"/>
            <a:ext cx="1645920" cy="1143000"/>
          </a:xfrm>
          <a:prstGeom prst="roundRect">
            <a:avLst>
              <a:gd name="adj" fmla="val 8000"/>
            </a:avLst>
          </a:prstGeom>
          <a:solidFill>
            <a:schemeClr val="accent4"/>
          </a:solidFill>
          <a:ln/>
        </p:spPr>
      </p:sp>
      <p:sp>
        <p:nvSpPr>
          <p:cNvPr id="5" name="chiptext-115"/>
          <p:cNvSpPr txBox="1"/>
          <p:nvPr/>
        </p:nvSpPr>
        <p:spPr>
          <a:xfrm>
            <a:off x="713232" y="2011680"/>
            <a:ext cx="1316736" cy="1143000"/>
          </a:xfrm>
          <a:prstGeom prst="rect">
            <a:avLst/>
          </a:prstGeom>
          <a:noFill/>
          <a:ln/>
        </p:spPr>
        <p:txBody>
          <a:bodyPr wrap="square" lIns="0" tIns="0" rIns="0" bIns="0" rtlCol="0" anchor="ctr"/>
          <a:lstStyle/>
          <a:p>
            <a:pPr indent="0" marL="0">
              <a:buNone/>
            </a:pPr>
            <a:r>
              <a:rPr lang="en-US" sz="1500" b="1" dirty="0">
                <a:solidFill>
                  <a:schemeClr val="bg1"/>
                </a:solidFill>
              </a:rPr>
              <a:t>Inputs</a:t>
            </a:r>
            <a:endParaRPr lang="en-US" sz="1500" dirty="0"/>
          </a:p>
          <a:p>
            <a:pPr indent="0" marL="0">
              <a:buNone/>
            </a:pPr>
            <a:r>
              <a:rPr lang="en-US" sz="1200" dirty="0">
                <a:solidFill>
                  <a:schemeClr val="bg1"/>
                </a:solidFill>
              </a:rPr>
              <a:t>approved workbook + new files</a:t>
            </a:r>
            <a:endParaRPr lang="en-US" sz="1500" dirty="0"/>
          </a:p>
        </p:txBody>
      </p:sp>
      <p:pic>
        <p:nvPicPr>
          <p:cNvPr id="6" name="arrow-116" descr="preencoded.png">    </p:cNvPr>
          <p:cNvPicPr>
            <a:picLocks noChangeAspect="1"/>
          </p:cNvPicPr>
          <p:nvPr/>
        </p:nvPicPr>
        <p:blipFill>
          <a:blip r:embed="rId1"/>
          <a:stretch>
            <a:fillRect/>
          </a:stretch>
        </p:blipFill>
        <p:spPr>
          <a:xfrm>
            <a:off x="2221992" y="2468880"/>
            <a:ext cx="182880" cy="182880"/>
          </a:xfrm>
          <a:prstGeom prst="rect">
            <a:avLst/>
          </a:prstGeom>
        </p:spPr>
      </p:pic>
      <p:sp>
        <p:nvSpPr>
          <p:cNvPr id="7" name="chip-117"/>
          <p:cNvSpPr/>
          <p:nvPr/>
        </p:nvSpPr>
        <p:spPr>
          <a:xfrm>
            <a:off x="2432304" y="2011680"/>
            <a:ext cx="1645920" cy="1143000"/>
          </a:xfrm>
          <a:prstGeom prst="roundRect">
            <a:avLst>
              <a:gd name="adj" fmla="val 8000"/>
            </a:avLst>
          </a:prstGeom>
          <a:solidFill>
            <a:schemeClr val="accent1"/>
          </a:solidFill>
          <a:ln/>
        </p:spPr>
      </p:sp>
      <p:sp>
        <p:nvSpPr>
          <p:cNvPr id="8" name="chiptext-118"/>
          <p:cNvSpPr txBox="1"/>
          <p:nvPr/>
        </p:nvSpPr>
        <p:spPr>
          <a:xfrm>
            <a:off x="2596896" y="2011680"/>
            <a:ext cx="1316736" cy="1143000"/>
          </a:xfrm>
          <a:prstGeom prst="rect">
            <a:avLst/>
          </a:prstGeom>
          <a:noFill/>
          <a:ln/>
        </p:spPr>
        <p:txBody>
          <a:bodyPr wrap="square" lIns="0" tIns="0" rIns="0" bIns="0" rtlCol="0" anchor="ctr"/>
          <a:lstStyle/>
          <a:p>
            <a:pPr indent="0" marL="0">
              <a:buNone/>
            </a:pPr>
            <a:r>
              <a:rPr lang="en-US" sz="1500" b="1" dirty="0">
                <a:solidFill>
                  <a:schemeClr val="bg1"/>
                </a:solidFill>
              </a:rPr>
              <a:t>Inspect and map</a:t>
            </a:r>
            <a:endParaRPr lang="en-US" sz="1500" dirty="0"/>
          </a:p>
          <a:p>
            <a:pPr indent="0" marL="0">
              <a:buNone/>
            </a:pPr>
            <a:r>
              <a:rPr lang="en-US" sz="1200" dirty="0">
                <a:solidFill>
                  <a:schemeClr val="bg1"/>
                </a:solidFill>
              </a:rPr>
              <a:t>periods, model, evidence</a:t>
            </a:r>
            <a:endParaRPr lang="en-US" sz="1500" dirty="0"/>
          </a:p>
        </p:txBody>
      </p:sp>
      <p:pic>
        <p:nvPicPr>
          <p:cNvPr id="9" name="arrow-119" descr="preencoded.png">    </p:cNvPr>
          <p:cNvPicPr>
            <a:picLocks noChangeAspect="1"/>
          </p:cNvPicPr>
          <p:nvPr/>
        </p:nvPicPr>
        <p:blipFill>
          <a:blip r:embed="rId2"/>
          <a:stretch>
            <a:fillRect/>
          </a:stretch>
        </p:blipFill>
        <p:spPr>
          <a:xfrm>
            <a:off x="4105656" y="2468880"/>
            <a:ext cx="182880" cy="182880"/>
          </a:xfrm>
          <a:prstGeom prst="rect">
            <a:avLst/>
          </a:prstGeom>
        </p:spPr>
      </p:pic>
      <p:sp>
        <p:nvSpPr>
          <p:cNvPr id="10" name="chip-120"/>
          <p:cNvSpPr/>
          <p:nvPr/>
        </p:nvSpPr>
        <p:spPr>
          <a:xfrm>
            <a:off x="4315968" y="2011680"/>
            <a:ext cx="1645920" cy="1143000"/>
          </a:xfrm>
          <a:prstGeom prst="roundRect">
            <a:avLst>
              <a:gd name="adj" fmla="val 8000"/>
            </a:avLst>
          </a:prstGeom>
          <a:solidFill>
            <a:schemeClr val="accent1"/>
          </a:solidFill>
          <a:ln/>
        </p:spPr>
      </p:sp>
      <p:sp>
        <p:nvSpPr>
          <p:cNvPr id="11" name="chiptext-121"/>
          <p:cNvSpPr txBox="1"/>
          <p:nvPr/>
        </p:nvSpPr>
        <p:spPr>
          <a:xfrm>
            <a:off x="4480560" y="2011680"/>
            <a:ext cx="1316736" cy="1143000"/>
          </a:xfrm>
          <a:prstGeom prst="rect">
            <a:avLst/>
          </a:prstGeom>
          <a:noFill/>
          <a:ln/>
        </p:spPr>
        <p:txBody>
          <a:bodyPr wrap="square" lIns="0" tIns="0" rIns="0" bIns="0" rtlCol="0" anchor="ctr"/>
          <a:lstStyle/>
          <a:p>
            <a:pPr indent="0" marL="0">
              <a:buNone/>
            </a:pPr>
            <a:r>
              <a:rPr lang="en-US" sz="1500" b="1" dirty="0">
                <a:solidFill>
                  <a:schemeClr val="bg1"/>
                </a:solidFill>
              </a:rPr>
              <a:t>Update workbook</a:t>
            </a:r>
            <a:endParaRPr lang="en-US" sz="1500" dirty="0"/>
          </a:p>
          <a:p>
            <a:pPr indent="0" marL="0">
              <a:buNone/>
            </a:pPr>
            <a:r>
              <a:rPr lang="en-US" sz="1200" dirty="0">
                <a:solidFill>
                  <a:schemeClr val="bg1"/>
                </a:solidFill>
              </a:rPr>
              <a:t>AI directs, tools apply</a:t>
            </a:r>
            <a:endParaRPr lang="en-US" sz="1500" dirty="0"/>
          </a:p>
        </p:txBody>
      </p:sp>
      <p:pic>
        <p:nvPicPr>
          <p:cNvPr id="12" name="arrow-122" descr="preencoded.png">    </p:cNvPr>
          <p:cNvPicPr>
            <a:picLocks noChangeAspect="1"/>
          </p:cNvPicPr>
          <p:nvPr/>
        </p:nvPicPr>
        <p:blipFill>
          <a:blip r:embed="rId3"/>
          <a:stretch>
            <a:fillRect/>
          </a:stretch>
        </p:blipFill>
        <p:spPr>
          <a:xfrm>
            <a:off x="5989320" y="2468880"/>
            <a:ext cx="182880" cy="182880"/>
          </a:xfrm>
          <a:prstGeom prst="rect">
            <a:avLst/>
          </a:prstGeom>
        </p:spPr>
      </p:pic>
      <p:sp>
        <p:nvSpPr>
          <p:cNvPr id="13" name="chip-123"/>
          <p:cNvSpPr/>
          <p:nvPr/>
        </p:nvSpPr>
        <p:spPr>
          <a:xfrm>
            <a:off x="6199632" y="2011680"/>
            <a:ext cx="1645920" cy="1143000"/>
          </a:xfrm>
          <a:prstGeom prst="roundRect">
            <a:avLst>
              <a:gd name="adj" fmla="val 8000"/>
            </a:avLst>
          </a:prstGeom>
          <a:solidFill>
            <a:schemeClr val="accent2"/>
          </a:solidFill>
          <a:ln/>
        </p:spPr>
      </p:sp>
      <p:sp>
        <p:nvSpPr>
          <p:cNvPr id="14" name="chiptext-124"/>
          <p:cNvSpPr txBox="1"/>
          <p:nvPr/>
        </p:nvSpPr>
        <p:spPr>
          <a:xfrm>
            <a:off x="6364224" y="2011680"/>
            <a:ext cx="1316736" cy="1143000"/>
          </a:xfrm>
          <a:prstGeom prst="rect">
            <a:avLst/>
          </a:prstGeom>
          <a:noFill/>
          <a:ln/>
        </p:spPr>
        <p:txBody>
          <a:bodyPr wrap="square" lIns="0" tIns="0" rIns="0" bIns="0" rtlCol="0" anchor="ctr"/>
          <a:lstStyle/>
          <a:p>
            <a:pPr indent="0" marL="0">
              <a:buNone/>
            </a:pPr>
            <a:r>
              <a:rPr lang="en-US" sz="1500" b="1" dirty="0">
                <a:solidFill>
                  <a:schemeClr val="bg1"/>
                </a:solidFill>
              </a:rPr>
              <a:t>Verify</a:t>
            </a:r>
            <a:endParaRPr lang="en-US" sz="1500" dirty="0"/>
          </a:p>
          <a:p>
            <a:pPr indent="0" marL="0">
              <a:buNone/>
            </a:pPr>
            <a:r>
              <a:rPr lang="en-US" sz="1200" dirty="0">
                <a:solidFill>
                  <a:schemeClr val="bg1"/>
                </a:solidFill>
              </a:rPr>
              <a:t>periods, links, roles, totals</a:t>
            </a:r>
            <a:endParaRPr lang="en-US" sz="1500" dirty="0"/>
          </a:p>
        </p:txBody>
      </p:sp>
      <p:pic>
        <p:nvPicPr>
          <p:cNvPr id="15" name="arrow-125" descr="preencoded.png">    </p:cNvPr>
          <p:cNvPicPr>
            <a:picLocks noChangeAspect="1"/>
          </p:cNvPicPr>
          <p:nvPr/>
        </p:nvPicPr>
        <p:blipFill>
          <a:blip r:embed="rId4"/>
          <a:stretch>
            <a:fillRect/>
          </a:stretch>
        </p:blipFill>
        <p:spPr>
          <a:xfrm>
            <a:off x="7872984" y="2468880"/>
            <a:ext cx="182880" cy="182880"/>
          </a:xfrm>
          <a:prstGeom prst="rect">
            <a:avLst/>
          </a:prstGeom>
        </p:spPr>
      </p:pic>
      <p:sp>
        <p:nvSpPr>
          <p:cNvPr id="16" name="chip-126"/>
          <p:cNvSpPr/>
          <p:nvPr/>
        </p:nvSpPr>
        <p:spPr>
          <a:xfrm>
            <a:off x="8083296" y="2011680"/>
            <a:ext cx="1645920" cy="1143000"/>
          </a:xfrm>
          <a:prstGeom prst="roundRect">
            <a:avLst>
              <a:gd name="adj" fmla="val 8000"/>
            </a:avLst>
          </a:prstGeom>
          <a:solidFill>
            <a:schemeClr val="accent3"/>
          </a:solidFill>
          <a:ln/>
        </p:spPr>
      </p:sp>
      <p:sp>
        <p:nvSpPr>
          <p:cNvPr id="17" name="chiptext-127"/>
          <p:cNvSpPr txBox="1"/>
          <p:nvPr/>
        </p:nvSpPr>
        <p:spPr>
          <a:xfrm>
            <a:off x="8247888" y="2011680"/>
            <a:ext cx="1316736" cy="1143000"/>
          </a:xfrm>
          <a:prstGeom prst="rect">
            <a:avLst/>
          </a:prstGeom>
          <a:noFill/>
          <a:ln/>
        </p:spPr>
        <p:txBody>
          <a:bodyPr wrap="square" lIns="0" tIns="0" rIns="0" bIns="0" rtlCol="0" anchor="ctr"/>
          <a:lstStyle/>
          <a:p>
            <a:pPr indent="0" marL="0">
              <a:buNone/>
            </a:pPr>
            <a:r>
              <a:rPr lang="en-US" sz="1500" b="1" dirty="0">
                <a:solidFill>
                  <a:schemeClr val="bg1"/>
                </a:solidFill>
              </a:rPr>
              <a:t>Analyst</a:t>
            </a:r>
            <a:endParaRPr lang="en-US" sz="1500" dirty="0"/>
          </a:p>
          <a:p>
            <a:pPr indent="0" marL="0">
              <a:buNone/>
            </a:pPr>
            <a:r>
              <a:rPr lang="en-US" sz="1200" dirty="0">
                <a:solidFill>
                  <a:schemeClr val="bg1"/>
                </a:solidFill>
              </a:rPr>
              <a:t>judgment and approval</a:t>
            </a:r>
            <a:endParaRPr lang="en-US" sz="1500" dirty="0"/>
          </a:p>
        </p:txBody>
      </p:sp>
      <p:pic>
        <p:nvPicPr>
          <p:cNvPr id="18" name="arrow-128" descr="preencoded.png">    </p:cNvPr>
          <p:cNvPicPr>
            <a:picLocks noChangeAspect="1"/>
          </p:cNvPicPr>
          <p:nvPr/>
        </p:nvPicPr>
        <p:blipFill>
          <a:blip r:embed="rId5"/>
          <a:stretch>
            <a:fillRect/>
          </a:stretch>
        </p:blipFill>
        <p:spPr>
          <a:xfrm>
            <a:off x="9756648" y="2468880"/>
            <a:ext cx="182880" cy="182880"/>
          </a:xfrm>
          <a:prstGeom prst="rect">
            <a:avLst/>
          </a:prstGeom>
        </p:spPr>
      </p:pic>
      <p:sp>
        <p:nvSpPr>
          <p:cNvPr id="19" name="chip-129"/>
          <p:cNvSpPr/>
          <p:nvPr/>
        </p:nvSpPr>
        <p:spPr>
          <a:xfrm>
            <a:off x="9966960" y="2011680"/>
            <a:ext cx="1645920" cy="1143000"/>
          </a:xfrm>
          <a:prstGeom prst="roundRect">
            <a:avLst>
              <a:gd name="adj" fmla="val 8000"/>
            </a:avLst>
          </a:prstGeom>
          <a:solidFill>
            <a:schemeClr val="accent4"/>
          </a:solidFill>
          <a:ln/>
        </p:spPr>
      </p:sp>
      <p:sp>
        <p:nvSpPr>
          <p:cNvPr id="20" name="chiptext-130"/>
          <p:cNvSpPr txBox="1"/>
          <p:nvPr/>
        </p:nvSpPr>
        <p:spPr>
          <a:xfrm>
            <a:off x="10131552" y="2011680"/>
            <a:ext cx="1316736" cy="1143000"/>
          </a:xfrm>
          <a:prstGeom prst="rect">
            <a:avLst/>
          </a:prstGeom>
          <a:noFill/>
          <a:ln/>
        </p:spPr>
        <p:txBody>
          <a:bodyPr wrap="square" lIns="0" tIns="0" rIns="0" bIns="0" rtlCol="0" anchor="ctr"/>
          <a:lstStyle/>
          <a:p>
            <a:pPr indent="0" marL="0">
              <a:buNone/>
            </a:pPr>
            <a:r>
              <a:rPr lang="en-US" sz="1500" b="1" dirty="0">
                <a:solidFill>
                  <a:schemeClr val="bg1"/>
                </a:solidFill>
              </a:rPr>
              <a:t>Approved workbook</a:t>
            </a:r>
            <a:endParaRPr lang="en-US" sz="1500" dirty="0"/>
          </a:p>
          <a:p>
            <a:pPr indent="0" marL="0">
              <a:buNone/>
            </a:pPr>
            <a:r>
              <a:rPr lang="en-US" sz="1200" dirty="0">
                <a:solidFill>
                  <a:schemeClr val="bg1"/>
                </a:solidFill>
              </a:rPr>
              <a:t>next quarter's base</a:t>
            </a:r>
            <a:endParaRPr lang="en-US" sz="1500" dirty="0"/>
          </a:p>
        </p:txBody>
      </p:sp>
      <p:sp>
        <p:nvSpPr>
          <p:cNvPr id="21" name="conn-131"/>
          <p:cNvSpPr/>
          <p:nvPr/>
        </p:nvSpPr>
        <p:spPr>
          <a:xfrm>
            <a:off x="7022592" y="3154680"/>
            <a:ext cx="0" cy="502920"/>
          </a:xfrm>
          <a:prstGeom prst="line">
            <a:avLst/>
          </a:prstGeom>
          <a:noFill/>
          <a:ln w="19050">
            <a:solidFill>
              <a:srgbClr val="8C939D"/>
            </a:solidFill>
            <a:prstDash val="solid"/>
          </a:ln>
        </p:spPr>
      </p:sp>
      <p:sp>
        <p:nvSpPr>
          <p:cNvPr id="22" name="chip-132"/>
          <p:cNvSpPr/>
          <p:nvPr/>
        </p:nvSpPr>
        <p:spPr>
          <a:xfrm>
            <a:off x="4315968" y="3657600"/>
            <a:ext cx="3529584" cy="868680"/>
          </a:xfrm>
          <a:prstGeom prst="roundRect">
            <a:avLst>
              <a:gd name="adj" fmla="val 10526"/>
            </a:avLst>
          </a:prstGeom>
          <a:solidFill>
            <a:schemeClr val="accent2"/>
          </a:solidFill>
          <a:ln/>
        </p:spPr>
      </p:sp>
      <p:pic>
        <p:nvPicPr>
          <p:cNvPr id="23" name="icon-133" descr="preencoded.png">    </p:cNvPr>
          <p:cNvPicPr>
            <a:picLocks noChangeAspect="1"/>
          </p:cNvPicPr>
          <p:nvPr/>
        </p:nvPicPr>
        <p:blipFill>
          <a:blip r:embed="rId6"/>
          <a:stretch>
            <a:fillRect/>
          </a:stretch>
        </p:blipFill>
        <p:spPr>
          <a:xfrm>
            <a:off x="4480560" y="3899916"/>
            <a:ext cx="384048" cy="384048"/>
          </a:xfrm>
          <a:prstGeom prst="rect">
            <a:avLst/>
          </a:prstGeom>
        </p:spPr>
      </p:pic>
      <p:sp>
        <p:nvSpPr>
          <p:cNvPr id="24" name="chiptext-134"/>
          <p:cNvSpPr txBox="1"/>
          <p:nvPr/>
        </p:nvSpPr>
        <p:spPr>
          <a:xfrm>
            <a:off x="4974336" y="3657600"/>
            <a:ext cx="2706624" cy="868680"/>
          </a:xfrm>
          <a:prstGeom prst="rect">
            <a:avLst/>
          </a:prstGeom>
          <a:noFill/>
          <a:ln/>
        </p:spPr>
        <p:txBody>
          <a:bodyPr wrap="square" lIns="0" tIns="0" rIns="0" bIns="0" rtlCol="0" anchor="ctr"/>
          <a:lstStyle/>
          <a:p>
            <a:pPr indent="0" marL="0">
              <a:buNone/>
            </a:pPr>
            <a:r>
              <a:rPr lang="en-US" sz="1500" b="1" dirty="0">
                <a:solidFill>
                  <a:schemeClr val="bg1"/>
                </a:solidFill>
              </a:rPr>
              <a:t>Mechanical failure</a:t>
            </a:r>
            <a:endParaRPr lang="en-US" sz="1500" dirty="0"/>
          </a:p>
          <a:p>
            <a:pPr indent="0" marL="0">
              <a:buNone/>
            </a:pPr>
            <a:r>
              <a:rPr lang="en-US" sz="1200" dirty="0">
                <a:solidFill>
                  <a:schemeClr val="bg1"/>
                </a:solidFill>
              </a:rPr>
              <a:t>back to the AI to repair, then re-verify</a:t>
            </a:r>
            <a:endParaRPr lang="en-US" sz="1500" dirty="0"/>
          </a:p>
        </p:txBody>
      </p:sp>
      <p:sp>
        <p:nvSpPr>
          <p:cNvPr id="25" name="text-135"/>
          <p:cNvSpPr txBox="1"/>
          <p:nvPr/>
        </p:nvSpPr>
        <p:spPr>
          <a:xfrm>
            <a:off x="8083296" y="3383280"/>
            <a:ext cx="1737360" cy="1463040"/>
          </a:xfrm>
          <a:prstGeom prst="rect">
            <a:avLst/>
          </a:prstGeom>
          <a:noFill/>
          <a:ln/>
        </p:spPr>
        <p:txBody>
          <a:bodyPr wrap="square" lIns="0" tIns="0" rIns="0" bIns="0" rtlCol="0" anchor="t"/>
          <a:lstStyle/>
          <a:p>
            <a:pPr indent="0" marL="0">
              <a:buNone/>
            </a:pPr>
            <a:r>
              <a:rPr lang="en-US" sz="1200" b="1" dirty="0">
                <a:solidFill>
                  <a:schemeClr val="tx2"/>
                </a:solidFill>
              </a:rPr>
              <a:t>Only judgment reaches the analyst: </a:t>
            </a:r>
            <a:pPr indent="0" marL="0">
              <a:buNone/>
            </a:pPr>
            <a:r>
              <a:rPr lang="en-US" sz="1200" dirty="0">
                <a:solidFill>
                  <a:schemeClr val="tx2"/>
                </a:solidFill>
              </a:rPr>
              <a:t>multiple, comparables, adjustments, ownership, final sign-off.</a:t>
            </a:r>
            <a:endParaRPr lang="en-US" sz="1200" dirty="0"/>
          </a:p>
        </p:txBody>
      </p:sp>
      <p:pic>
        <p:nvPicPr>
          <p:cNvPr id="26" name="loopicon-136" descr="preencoded.png">    </p:cNvPr>
          <p:cNvPicPr>
            <a:picLocks noChangeAspect="1"/>
          </p:cNvPicPr>
          <p:nvPr/>
        </p:nvPicPr>
        <p:blipFill>
          <a:blip r:embed="rId7"/>
          <a:stretch>
            <a:fillRect/>
          </a:stretch>
        </p:blipFill>
        <p:spPr>
          <a:xfrm>
            <a:off x="10332720" y="3383280"/>
            <a:ext cx="365760" cy="365760"/>
          </a:xfrm>
          <a:prstGeom prst="rect">
            <a:avLst/>
          </a:prstGeom>
        </p:spPr>
      </p:pic>
      <p:sp>
        <p:nvSpPr>
          <p:cNvPr id="27" name="text-137"/>
          <p:cNvSpPr txBox="1"/>
          <p:nvPr/>
        </p:nvSpPr>
        <p:spPr>
          <a:xfrm>
            <a:off x="9966960" y="3840480"/>
            <a:ext cx="1645920" cy="1005840"/>
          </a:xfrm>
          <a:prstGeom prst="rect">
            <a:avLst/>
          </a:prstGeom>
          <a:noFill/>
          <a:ln/>
        </p:spPr>
        <p:txBody>
          <a:bodyPr wrap="square" lIns="0" tIns="0" rIns="0" bIns="0" rtlCol="0" anchor="t"/>
          <a:lstStyle/>
          <a:p>
            <a:pPr indent="0" marL="0">
              <a:buNone/>
            </a:pPr>
            <a:r>
              <a:rPr lang="en-US" sz="1200" dirty="0">
                <a:solidFill>
                  <a:schemeClr val="tx2"/>
                </a:solidFill>
              </a:rPr>
              <a:t>Each approval carries analyst decisions into the next quarter</a:t>
            </a:r>
            <a:endParaRPr lang="en-US" sz="1200" dirty="0"/>
          </a:p>
        </p:txBody>
      </p:sp>
      <p:sp>
        <p:nvSpPr>
          <p:cNvPr id="28" name="scale-138"/>
          <p:cNvSpPr/>
          <p:nvPr/>
        </p:nvSpPr>
        <p:spPr>
          <a:xfrm>
            <a:off x="548640" y="5257800"/>
            <a:ext cx="1536192" cy="384048"/>
          </a:xfrm>
          <a:prstGeom prst="rect">
            <a:avLst/>
          </a:prstGeom>
          <a:solidFill>
            <a:schemeClr val="accent4"/>
          </a:solidFill>
          <a:ln/>
        </p:spPr>
      </p:sp>
      <p:sp>
        <p:nvSpPr>
          <p:cNvPr id="29" name="text-139"/>
          <p:cNvSpPr txBox="1"/>
          <p:nvPr/>
        </p:nvSpPr>
        <p:spPr>
          <a:xfrm>
            <a:off x="548640" y="5257800"/>
            <a:ext cx="1536192" cy="384048"/>
          </a:xfrm>
          <a:prstGeom prst="rect">
            <a:avLst/>
          </a:prstGeom>
          <a:noFill/>
          <a:ln/>
        </p:spPr>
        <p:txBody>
          <a:bodyPr wrap="square" lIns="0" tIns="0" rIns="0" bIns="0" rtlCol="0" anchor="ctr"/>
          <a:lstStyle/>
          <a:p>
            <a:pPr algn="ctr" indent="0" marL="0">
              <a:buNone/>
            </a:pPr>
            <a:r>
              <a:rPr lang="en-US" sz="1200" b="1" dirty="0">
                <a:solidFill>
                  <a:schemeClr val="bg1"/>
                </a:solidFill>
              </a:rPr>
              <a:t>INPUT</a:t>
            </a:r>
            <a:endParaRPr lang="en-US" sz="1200" dirty="0"/>
          </a:p>
        </p:txBody>
      </p:sp>
      <p:sp>
        <p:nvSpPr>
          <p:cNvPr id="30" name="scale-140"/>
          <p:cNvSpPr/>
          <p:nvPr/>
        </p:nvSpPr>
        <p:spPr>
          <a:xfrm>
            <a:off x="2130552" y="5257800"/>
            <a:ext cx="1536192" cy="384048"/>
          </a:xfrm>
          <a:prstGeom prst="rect">
            <a:avLst/>
          </a:prstGeom>
          <a:solidFill>
            <a:schemeClr val="accent1"/>
          </a:solidFill>
          <a:ln/>
        </p:spPr>
      </p:sp>
      <p:sp>
        <p:nvSpPr>
          <p:cNvPr id="31" name="text-141"/>
          <p:cNvSpPr txBox="1"/>
          <p:nvPr/>
        </p:nvSpPr>
        <p:spPr>
          <a:xfrm>
            <a:off x="2130552" y="5257800"/>
            <a:ext cx="1536192" cy="384048"/>
          </a:xfrm>
          <a:prstGeom prst="rect">
            <a:avLst/>
          </a:prstGeom>
          <a:noFill/>
          <a:ln/>
        </p:spPr>
        <p:txBody>
          <a:bodyPr wrap="square" lIns="0" tIns="0" rIns="0" bIns="0" rtlCol="0" anchor="ctr"/>
          <a:lstStyle/>
          <a:p>
            <a:pPr algn="ctr" indent="0" marL="0">
              <a:buNone/>
            </a:pPr>
            <a:r>
              <a:rPr lang="en-US" sz="1200" b="1" dirty="0">
                <a:solidFill>
                  <a:schemeClr val="bg1"/>
                </a:solidFill>
              </a:rPr>
              <a:t>INSPECT</a:t>
            </a:r>
            <a:endParaRPr lang="en-US" sz="1200" dirty="0"/>
          </a:p>
        </p:txBody>
      </p:sp>
      <p:sp>
        <p:nvSpPr>
          <p:cNvPr id="32" name="scale-142"/>
          <p:cNvSpPr/>
          <p:nvPr/>
        </p:nvSpPr>
        <p:spPr>
          <a:xfrm>
            <a:off x="3712464" y="5257800"/>
            <a:ext cx="1536192" cy="384048"/>
          </a:xfrm>
          <a:prstGeom prst="rect">
            <a:avLst/>
          </a:prstGeom>
          <a:solidFill>
            <a:schemeClr val="accent1"/>
          </a:solidFill>
          <a:ln/>
        </p:spPr>
      </p:sp>
      <p:sp>
        <p:nvSpPr>
          <p:cNvPr id="33" name="text-143"/>
          <p:cNvSpPr txBox="1"/>
          <p:nvPr/>
        </p:nvSpPr>
        <p:spPr>
          <a:xfrm>
            <a:off x="3712464" y="5257800"/>
            <a:ext cx="1536192" cy="384048"/>
          </a:xfrm>
          <a:prstGeom prst="rect">
            <a:avLst/>
          </a:prstGeom>
          <a:noFill/>
          <a:ln/>
        </p:spPr>
        <p:txBody>
          <a:bodyPr wrap="square" lIns="0" tIns="0" rIns="0" bIns="0" rtlCol="0" anchor="ctr"/>
          <a:lstStyle/>
          <a:p>
            <a:pPr algn="ctr" indent="0" marL="0">
              <a:buNone/>
            </a:pPr>
            <a:r>
              <a:rPr lang="en-US" sz="1200" b="1" dirty="0">
                <a:solidFill>
                  <a:schemeClr val="bg1"/>
                </a:solidFill>
              </a:rPr>
              <a:t>MAP</a:t>
            </a:r>
            <a:endParaRPr lang="en-US" sz="1200" dirty="0"/>
          </a:p>
        </p:txBody>
      </p:sp>
      <p:sp>
        <p:nvSpPr>
          <p:cNvPr id="34" name="scale-144"/>
          <p:cNvSpPr/>
          <p:nvPr/>
        </p:nvSpPr>
        <p:spPr>
          <a:xfrm>
            <a:off x="5294376" y="5257800"/>
            <a:ext cx="1536192" cy="384048"/>
          </a:xfrm>
          <a:prstGeom prst="rect">
            <a:avLst/>
          </a:prstGeom>
          <a:solidFill>
            <a:schemeClr val="accent1"/>
          </a:solidFill>
          <a:ln/>
        </p:spPr>
      </p:sp>
      <p:sp>
        <p:nvSpPr>
          <p:cNvPr id="35" name="text-145"/>
          <p:cNvSpPr txBox="1"/>
          <p:nvPr/>
        </p:nvSpPr>
        <p:spPr>
          <a:xfrm>
            <a:off x="5294376" y="5257800"/>
            <a:ext cx="1536192" cy="384048"/>
          </a:xfrm>
          <a:prstGeom prst="rect">
            <a:avLst/>
          </a:prstGeom>
          <a:noFill/>
          <a:ln/>
        </p:spPr>
        <p:txBody>
          <a:bodyPr wrap="square" lIns="0" tIns="0" rIns="0" bIns="0" rtlCol="0" anchor="ctr"/>
          <a:lstStyle/>
          <a:p>
            <a:pPr algn="ctr" indent="0" marL="0">
              <a:buNone/>
            </a:pPr>
            <a:r>
              <a:rPr lang="en-US" sz="1200" b="1" dirty="0">
                <a:solidFill>
                  <a:schemeClr val="bg1"/>
                </a:solidFill>
              </a:rPr>
              <a:t>UPDATE</a:t>
            </a:r>
            <a:endParaRPr lang="en-US" sz="1200" dirty="0"/>
          </a:p>
        </p:txBody>
      </p:sp>
      <p:sp>
        <p:nvSpPr>
          <p:cNvPr id="36" name="scale-146"/>
          <p:cNvSpPr/>
          <p:nvPr/>
        </p:nvSpPr>
        <p:spPr>
          <a:xfrm>
            <a:off x="6876288" y="5257800"/>
            <a:ext cx="1536192" cy="384048"/>
          </a:xfrm>
          <a:prstGeom prst="rect">
            <a:avLst/>
          </a:prstGeom>
          <a:solidFill>
            <a:schemeClr val="accent2"/>
          </a:solidFill>
          <a:ln/>
        </p:spPr>
      </p:sp>
      <p:sp>
        <p:nvSpPr>
          <p:cNvPr id="37" name="text-147"/>
          <p:cNvSpPr txBox="1"/>
          <p:nvPr/>
        </p:nvSpPr>
        <p:spPr>
          <a:xfrm>
            <a:off x="6876288" y="5257800"/>
            <a:ext cx="1536192" cy="384048"/>
          </a:xfrm>
          <a:prstGeom prst="rect">
            <a:avLst/>
          </a:prstGeom>
          <a:noFill/>
          <a:ln/>
        </p:spPr>
        <p:txBody>
          <a:bodyPr wrap="square" lIns="0" tIns="0" rIns="0" bIns="0" rtlCol="0" anchor="ctr"/>
          <a:lstStyle/>
          <a:p>
            <a:pPr algn="ctr" indent="0" marL="0">
              <a:buNone/>
            </a:pPr>
            <a:r>
              <a:rPr lang="en-US" sz="1200" b="1" dirty="0">
                <a:solidFill>
                  <a:schemeClr val="bg1"/>
                </a:solidFill>
              </a:rPr>
              <a:t>VERIFY</a:t>
            </a:r>
            <a:endParaRPr lang="en-US" sz="1200" dirty="0"/>
          </a:p>
        </p:txBody>
      </p:sp>
      <p:sp>
        <p:nvSpPr>
          <p:cNvPr id="38" name="scale-148"/>
          <p:cNvSpPr/>
          <p:nvPr/>
        </p:nvSpPr>
        <p:spPr>
          <a:xfrm>
            <a:off x="8458200" y="5257800"/>
            <a:ext cx="1536192" cy="384048"/>
          </a:xfrm>
          <a:prstGeom prst="rect">
            <a:avLst/>
          </a:prstGeom>
          <a:solidFill>
            <a:schemeClr val="accent3"/>
          </a:solidFill>
          <a:ln/>
        </p:spPr>
      </p:sp>
      <p:sp>
        <p:nvSpPr>
          <p:cNvPr id="39" name="text-149"/>
          <p:cNvSpPr txBox="1"/>
          <p:nvPr/>
        </p:nvSpPr>
        <p:spPr>
          <a:xfrm>
            <a:off x="8458200" y="5257800"/>
            <a:ext cx="1536192" cy="384048"/>
          </a:xfrm>
          <a:prstGeom prst="rect">
            <a:avLst/>
          </a:prstGeom>
          <a:noFill/>
          <a:ln/>
        </p:spPr>
        <p:txBody>
          <a:bodyPr wrap="square" lIns="0" tIns="0" rIns="0" bIns="0" rtlCol="0" anchor="ctr"/>
          <a:lstStyle/>
          <a:p>
            <a:pPr algn="ctr" indent="0" marL="0">
              <a:buNone/>
            </a:pPr>
            <a:r>
              <a:rPr lang="en-US" sz="1200" b="1" dirty="0">
                <a:solidFill>
                  <a:schemeClr val="bg1"/>
                </a:solidFill>
              </a:rPr>
              <a:t>REVIEW</a:t>
            </a:r>
            <a:endParaRPr lang="en-US" sz="1200" dirty="0"/>
          </a:p>
        </p:txBody>
      </p:sp>
      <p:sp>
        <p:nvSpPr>
          <p:cNvPr id="40" name="scale-150"/>
          <p:cNvSpPr/>
          <p:nvPr/>
        </p:nvSpPr>
        <p:spPr>
          <a:xfrm>
            <a:off x="10040112" y="5257800"/>
            <a:ext cx="1536192" cy="384048"/>
          </a:xfrm>
          <a:prstGeom prst="rect">
            <a:avLst/>
          </a:prstGeom>
          <a:solidFill>
            <a:schemeClr val="accent3"/>
          </a:solidFill>
          <a:ln/>
        </p:spPr>
      </p:sp>
      <p:sp>
        <p:nvSpPr>
          <p:cNvPr id="41" name="text-151"/>
          <p:cNvSpPr txBox="1"/>
          <p:nvPr/>
        </p:nvSpPr>
        <p:spPr>
          <a:xfrm>
            <a:off x="10040112" y="5257800"/>
            <a:ext cx="1536192" cy="384048"/>
          </a:xfrm>
          <a:prstGeom prst="rect">
            <a:avLst/>
          </a:prstGeom>
          <a:noFill/>
          <a:ln/>
        </p:spPr>
        <p:txBody>
          <a:bodyPr wrap="square" lIns="0" tIns="0" rIns="0" bIns="0" rtlCol="0" anchor="ctr"/>
          <a:lstStyle/>
          <a:p>
            <a:pPr algn="ctr" indent="0" marL="0">
              <a:buNone/>
            </a:pPr>
            <a:r>
              <a:rPr lang="en-US" sz="1200" b="1" dirty="0">
                <a:solidFill>
                  <a:schemeClr val="bg1"/>
                </a:solidFill>
              </a:rPr>
              <a:t>APPROVE</a:t>
            </a:r>
            <a:endParaRPr lang="en-US" sz="1200" dirty="0"/>
          </a:p>
        </p:txBody>
      </p:sp>
      <p:sp>
        <p:nvSpPr>
          <p:cNvPr id="25" name="Slide Number Placeholder 0"/>
          <p:cNvSpPr>
            <a:spLocks noGrp="1"/>
          </p:cNvSpPr>
          <p:nvPr>
            <p:ph type="sldNum" sz="quarter" idx="4294967295"/>
          </p:nvPr>
        </p:nvSpPr>
        <p:spPr>
          <a:xfrm>
            <a:off x="1124712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4A526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8"/>
          <p:cNvSpPr/>
          <p:nvPr>
            <p:ph idx="108" type="title" hasCustomPrompt="1"/>
          </p:nvPr>
        </p:nvSpPr>
        <p:spPr>
          <a:xfrm>
            <a:off x="548640" y="320040"/>
            <a:ext cx="11064240" cy="731520"/>
          </a:xfrm>
          <a:prstGeom prst="rect">
            <a:avLst/>
          </a:prstGeom>
          <a:noFill/>
          <a:ln/>
        </p:spPr>
        <p:txBody>
          <a:bodyPr wrap="square" lIns="0" tIns="0" rIns="0" bIns="0" rtlCol="0" anchor="t"/>
          <a:lstStyle/>
          <a:p>
            <a:pPr algn="l" indent="0" marL="0">
              <a:buNone/>
            </a:pPr>
            <a:r>
              <a:rPr lang="en-US" sz="3600" b="1" dirty="0">
                <a:solidFill>
                  <a:srgbClr val="1E2530"/>
                </a:solidFill>
                <a:latin typeface="Cambria" pitchFamily="34" charset="0"/>
                <a:ea typeface="Cambria" pitchFamily="34" charset="-122"/>
                <a:cs typeface="Cambria" pitchFamily="34" charset="-120"/>
              </a:rPr>
              <a:t>AI interprets, tools prove, analysts decide</a:t>
            </a:r>
            <a:endParaRPr lang="en-US" sz="3600" dirty="0"/>
          </a:p>
        </p:txBody>
      </p:sp>
      <p:sp>
        <p:nvSpPr>
          <p:cNvPr id="3" name="Text 8"/>
          <p:cNvSpPr/>
          <p:nvPr>
            <p:ph idx="109" type="body" hasCustomPrompt="1"/>
          </p:nvPr>
        </p:nvSpPr>
        <p:spPr>
          <a:xfrm>
            <a:off x="548640" y="1097280"/>
            <a:ext cx="11064240" cy="457200"/>
          </a:xfrm>
          <a:prstGeom prst="rect">
            <a:avLst/>
          </a:prstGeom>
          <a:noFill/>
          <a:ln/>
        </p:spPr>
        <p:txBody>
          <a:bodyPr wrap="square" lIns="0" tIns="0" rIns="0" bIns="0" rtlCol="0" anchor="t"/>
          <a:lstStyle/>
          <a:p>
            <a:pPr indent="0" marL="0">
              <a:buNone/>
            </a:pPr>
            <a:r>
              <a:rPr lang="en-US" sz="1800" dirty="0">
                <a:solidFill>
                  <a:srgbClr val="4A5260"/>
                </a:solidFill>
              </a:rPr>
              <a:t>Human effort moves to the end of the process, where judgment belongs.</a:t>
            </a:r>
            <a:endParaRPr lang="en-US" sz="1800" dirty="0"/>
          </a:p>
        </p:txBody>
      </p:sp>
      <p:graphicFrame>
        <p:nvGraphicFramePr>
          <p:cNvPr id="8" name="matrix-152"/>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931920"/>
                <a:gridCol w="2377440"/>
                <a:gridCol w="2377440"/>
                <a:gridCol w="2377440"/>
              </a:tblGrid>
              <a:tr h="47548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Activity</a:t>
                      </a:r>
                      <a:endParaRPr lang="en-US" sz="15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E2530"/>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AI</a:t>
                      </a:r>
                      <a:endParaRPr lang="en-US" sz="15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1F8A5B"/>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Python tools</a:t>
                      </a:r>
                      <a:endParaRPr lang="en-US" sz="15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2C6FB7"/>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Analyst</a:t>
                      </a:r>
                      <a:endParaRPr lang="en-US" sz="15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E07A1F"/>
                    </a:solidFill>
                  </a:tcPr>
                </a:tc>
              </a:tr>
              <a:tr h="475488">
                <a:tc>
                  <a:txBody>
                    <a:bodyPr/>
                    <a:lstStyle/>
                    <a:p>
                      <a:pPr indent="0" marL="0">
                        <a:buNone/>
                      </a:pPr>
                      <a:r>
                        <a:rPr lang="en-US" sz="1400" dirty="0">
                          <a:solidFill>
                            <a:srgbClr val="1E2530"/>
                          </a:solidFill>
                          <a:latin typeface="Calibri" pitchFamily="34" charset="0"/>
                          <a:ea typeface="Calibri" pitchFamily="34" charset="-122"/>
                          <a:cs typeface="Calibri" pitchFamily="34" charset="-120"/>
                        </a:rPr>
                        <a:t>Understand files and model</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8A5B"/>
                          </a:solidFill>
                          <a:latin typeface="Calibri" pitchFamily="34" charset="0"/>
                          <a:ea typeface="Calibri" pitchFamily="34" charset="-122"/>
                          <a:cs typeface="Calibri" pitchFamily="34" charset="-120"/>
                        </a:rPr>
                        <a:t>Lead</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530"/>
                          </a:solidFill>
                          <a:latin typeface="Calibri" pitchFamily="34" charset="0"/>
                          <a:ea typeface="Calibri" pitchFamily="34" charset="-122"/>
                          <a:cs typeface="Calibri" pitchFamily="34" charset="-120"/>
                        </a:rPr>
                        <a:t>Inspect</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530"/>
                          </a:solidFill>
                          <a:latin typeface="Calibri" pitchFamily="34" charset="0"/>
                          <a:ea typeface="Calibri" pitchFamily="34" charset="-122"/>
                          <a:cs typeface="Calibri" pitchFamily="34" charset="-120"/>
                        </a:rPr>
                        <a:t>Exception input</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E2530"/>
                          </a:solidFill>
                          <a:latin typeface="Calibri" pitchFamily="34" charset="0"/>
                          <a:ea typeface="Calibri" pitchFamily="34" charset="-122"/>
                          <a:cs typeface="Calibri" pitchFamily="34" charset="-120"/>
                        </a:rPr>
                        <a:t>Map new evidence</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8A5B"/>
                          </a:solidFill>
                          <a:latin typeface="Calibri" pitchFamily="34" charset="0"/>
                          <a:ea typeface="Calibri" pitchFamily="34" charset="-122"/>
                          <a:cs typeface="Calibri" pitchFamily="34" charset="-120"/>
                        </a:rPr>
                        <a:t>Lead</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530"/>
                          </a:solidFill>
                          <a:latin typeface="Calibri" pitchFamily="34" charset="0"/>
                          <a:ea typeface="Calibri" pitchFamily="34" charset="-122"/>
                          <a:cs typeface="Calibri" pitchFamily="34" charset="-120"/>
                        </a:rPr>
                        <a:t>Extract</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530"/>
                          </a:solidFill>
                          <a:latin typeface="Calibri" pitchFamily="34" charset="0"/>
                          <a:ea typeface="Calibri" pitchFamily="34" charset="-122"/>
                          <a:cs typeface="Calibri" pitchFamily="34" charset="-120"/>
                        </a:rPr>
                        <a:t>Resolve ambiguity</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E2530"/>
                          </a:solidFill>
                          <a:latin typeface="Calibri" pitchFamily="34" charset="0"/>
                          <a:ea typeface="Calibri" pitchFamily="34" charset="-122"/>
                          <a:cs typeface="Calibri" pitchFamily="34" charset="-120"/>
                        </a:rPr>
                        <a:t>Update the workbook</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8A5B"/>
                          </a:solidFill>
                          <a:latin typeface="Calibri" pitchFamily="34" charset="0"/>
                          <a:ea typeface="Calibri" pitchFamily="34" charset="-122"/>
                          <a:cs typeface="Calibri" pitchFamily="34" charset="-120"/>
                        </a:rPr>
                        <a:t>Direct</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C6FB7"/>
                          </a:solidFill>
                          <a:latin typeface="Calibri" pitchFamily="34" charset="0"/>
                          <a:ea typeface="Calibri" pitchFamily="34" charset="-122"/>
                          <a:cs typeface="Calibri" pitchFamily="34" charset="-120"/>
                        </a:rPr>
                        <a:t>Execute</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530"/>
                          </a:solidFill>
                          <a:latin typeface="Calibri" pitchFamily="34" charset="0"/>
                          <a:ea typeface="Calibri" pitchFamily="34" charset="-122"/>
                          <a:cs typeface="Calibri" pitchFamily="34" charset="-120"/>
                        </a:rPr>
                        <a:t>No routine work</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E2530"/>
                          </a:solidFill>
                          <a:latin typeface="Calibri" pitchFamily="34" charset="0"/>
                          <a:ea typeface="Calibri" pitchFamily="34" charset="-122"/>
                          <a:cs typeface="Calibri" pitchFamily="34" charset="-120"/>
                        </a:rPr>
                        <a:t>Preserve formulas and patterns</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8A5B"/>
                          </a:solidFill>
                          <a:latin typeface="Calibri" pitchFamily="34" charset="0"/>
                          <a:ea typeface="Calibri" pitchFamily="34" charset="-122"/>
                          <a:cs typeface="Calibri" pitchFamily="34" charset="-120"/>
                        </a:rPr>
                        <a:t>Specify</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C6FB7"/>
                          </a:solidFill>
                          <a:latin typeface="Calibri" pitchFamily="34" charset="0"/>
                          <a:ea typeface="Calibri" pitchFamily="34" charset="-122"/>
                          <a:cs typeface="Calibri" pitchFamily="34" charset="-120"/>
                        </a:rPr>
                        <a:t>Apply and check</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530"/>
                          </a:solidFill>
                          <a:latin typeface="Calibri" pitchFamily="34" charset="0"/>
                          <a:ea typeface="Calibri" pitchFamily="34" charset="-122"/>
                          <a:cs typeface="Calibri" pitchFamily="34" charset="-120"/>
                        </a:rPr>
                        <a:t>No routine work</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E2530"/>
                          </a:solidFill>
                          <a:latin typeface="Calibri" pitchFamily="34" charset="0"/>
                          <a:ea typeface="Calibri" pitchFamily="34" charset="-122"/>
                          <a:cs typeface="Calibri" pitchFamily="34" charset="-120"/>
                        </a:rPr>
                        <a:t>Verify periods and links</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530"/>
                          </a:solidFill>
                          <a:latin typeface="Calibri" pitchFamily="34" charset="0"/>
                          <a:ea typeface="Calibri" pitchFamily="34" charset="-122"/>
                          <a:cs typeface="Calibri" pitchFamily="34" charset="-120"/>
                        </a:rPr>
                        <a:t>Explain</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C6FB7"/>
                          </a:solidFill>
                          <a:latin typeface="Calibri" pitchFamily="34" charset="0"/>
                          <a:ea typeface="Calibri" pitchFamily="34" charset="-122"/>
                          <a:cs typeface="Calibri" pitchFamily="34" charset="-120"/>
                        </a:rPr>
                        <a:t>Prove</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530"/>
                          </a:solidFill>
                          <a:latin typeface="Calibri" pitchFamily="34" charset="0"/>
                          <a:ea typeface="Calibri" pitchFamily="34" charset="-122"/>
                          <a:cs typeface="Calibri" pitchFamily="34" charset="-120"/>
                        </a:rPr>
                        <a:t>Review failures</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E2530"/>
                          </a:solidFill>
                          <a:latin typeface="Calibri" pitchFamily="34" charset="0"/>
                          <a:ea typeface="Calibri" pitchFamily="34" charset="-122"/>
                          <a:cs typeface="Calibri" pitchFamily="34" charset="-120"/>
                        </a:rPr>
                        <a:t>Select multiple and comparables</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530"/>
                          </a:solidFill>
                          <a:latin typeface="Calibri" pitchFamily="34" charset="0"/>
                          <a:ea typeface="Calibri" pitchFamily="34" charset="-122"/>
                          <a:cs typeface="Calibri" pitchFamily="34" charset="-120"/>
                        </a:rPr>
                        <a:t>Support</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530"/>
                          </a:solidFill>
                          <a:latin typeface="Calibri" pitchFamily="34" charset="0"/>
                          <a:ea typeface="Calibri" pitchFamily="34" charset="-122"/>
                          <a:cs typeface="Calibri" pitchFamily="34" charset="-120"/>
                        </a:rPr>
                        <a:t>Record</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07A1F"/>
                          </a:solidFill>
                          <a:latin typeface="Calibri" pitchFamily="34" charset="0"/>
                          <a:ea typeface="Calibri" pitchFamily="34" charset="-122"/>
                          <a:cs typeface="Calibri" pitchFamily="34" charset="-120"/>
                        </a:rPr>
                        <a:t>Decide</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E2530"/>
                          </a:solidFill>
                          <a:latin typeface="Calibri" pitchFamily="34" charset="0"/>
                          <a:ea typeface="Calibri" pitchFamily="34" charset="-122"/>
                          <a:cs typeface="Calibri" pitchFamily="34" charset="-120"/>
                        </a:rPr>
                        <a:t>Approve adjustments</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530"/>
                          </a:solidFill>
                          <a:latin typeface="Calibri" pitchFamily="34" charset="0"/>
                          <a:ea typeface="Calibri" pitchFamily="34" charset="-122"/>
                          <a:cs typeface="Calibri" pitchFamily="34" charset="-120"/>
                        </a:rPr>
                        <a:t>Recommend</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530"/>
                          </a:solidFill>
                          <a:latin typeface="Calibri" pitchFamily="34" charset="0"/>
                          <a:ea typeface="Calibri" pitchFamily="34" charset="-122"/>
                          <a:cs typeface="Calibri" pitchFamily="34" charset="-120"/>
                        </a:rPr>
                        <a:t>Record and trace</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07A1F"/>
                          </a:solidFill>
                          <a:latin typeface="Calibri" pitchFamily="34" charset="0"/>
                          <a:ea typeface="Calibri" pitchFamily="34" charset="-122"/>
                          <a:cs typeface="Calibri" pitchFamily="34" charset="-120"/>
                        </a:rPr>
                        <a:t>Decide</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E2530"/>
                          </a:solidFill>
                          <a:latin typeface="Calibri" pitchFamily="34" charset="0"/>
                          <a:ea typeface="Calibri" pitchFamily="34" charset="-122"/>
                          <a:cs typeface="Calibri" pitchFamily="34" charset="-120"/>
                        </a:rPr>
                        <a:t>Final approval</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530"/>
                          </a:solidFill>
                          <a:latin typeface="Calibri" pitchFamily="34" charset="0"/>
                          <a:ea typeface="Calibri" pitchFamily="34" charset="-122"/>
                          <a:cs typeface="Calibri" pitchFamily="34" charset="-120"/>
                        </a:rPr>
                        <a:t>Summarize</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530"/>
                          </a:solidFill>
                          <a:latin typeface="Calibri" pitchFamily="34" charset="0"/>
                          <a:ea typeface="Calibri" pitchFamily="34" charset="-122"/>
                          <a:cs typeface="Calibri" pitchFamily="34" charset="-120"/>
                        </a:rPr>
                        <a:t>Control status</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07A1F"/>
                          </a:solidFill>
                          <a:latin typeface="Calibri" pitchFamily="34" charset="0"/>
                          <a:ea typeface="Calibri" pitchFamily="34" charset="-122"/>
                          <a:cs typeface="Calibri" pitchFamily="34" charset="-120"/>
                        </a:rPr>
                        <a:t>Sign off</a:t>
                      </a:r>
                      <a:endParaRPr lang="en-US" sz="14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4A526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8"/>
          <p:cNvSpPr/>
          <p:nvPr>
            <p:ph idx="108" type="title" hasCustomPrompt="1"/>
          </p:nvPr>
        </p:nvSpPr>
        <p:spPr>
          <a:xfrm>
            <a:off x="548640" y="320040"/>
            <a:ext cx="11064240" cy="731520"/>
          </a:xfrm>
          <a:prstGeom prst="rect">
            <a:avLst/>
          </a:prstGeom>
          <a:noFill/>
          <a:ln/>
        </p:spPr>
        <p:txBody>
          <a:bodyPr wrap="square" lIns="0" tIns="0" rIns="0" bIns="0" rtlCol="0" anchor="t"/>
          <a:lstStyle/>
          <a:p>
            <a:pPr algn="l" indent="0" marL="0">
              <a:buNone/>
            </a:pPr>
            <a:r>
              <a:rPr lang="en-US" sz="3600" b="1" dirty="0">
                <a:solidFill>
                  <a:srgbClr val="1E2530"/>
                </a:solidFill>
                <a:latin typeface="Cambria" pitchFamily="34" charset="0"/>
                <a:ea typeface="Cambria" pitchFamily="34" charset="-122"/>
                <a:cs typeface="Cambria" pitchFamily="34" charset="-120"/>
              </a:rPr>
              <a:t>Evidence so far: mechanics proven on synthetic data</a:t>
            </a:r>
            <a:endParaRPr lang="en-US" sz="3600" dirty="0"/>
          </a:p>
        </p:txBody>
      </p:sp>
      <p:sp>
        <p:nvSpPr>
          <p:cNvPr id="3" name="Text 8"/>
          <p:cNvSpPr/>
          <p:nvPr>
            <p:ph idx="109" type="body" hasCustomPrompt="1"/>
          </p:nvPr>
        </p:nvSpPr>
        <p:spPr>
          <a:xfrm>
            <a:off x="548640" y="1097280"/>
            <a:ext cx="11064240" cy="457200"/>
          </a:xfrm>
          <a:prstGeom prst="rect">
            <a:avLst/>
          </a:prstGeom>
          <a:noFill/>
          <a:ln/>
        </p:spPr>
        <p:txBody>
          <a:bodyPr wrap="square" lIns="0" tIns="0" rIns="0" bIns="0" rtlCol="0" anchor="t"/>
          <a:lstStyle/>
          <a:p>
            <a:pPr indent="0" marL="0">
              <a:buNone/>
            </a:pPr>
            <a:r>
              <a:rPr lang="en-US" sz="1800" dirty="0">
                <a:solidFill>
                  <a:srgbClr val="4A5260"/>
                </a:solidFill>
              </a:rPr>
              <a:t>A synthetic company with planted traps, graded blind against an answer key the agent never saw.</a:t>
            </a:r>
            <a:endParaRPr lang="en-US" sz="1800" dirty="0"/>
          </a:p>
        </p:txBody>
      </p:sp>
      <p:sp>
        <p:nvSpPr>
          <p:cNvPr id="4" name="stat-153"/>
          <p:cNvSpPr/>
          <p:nvPr/>
        </p:nvSpPr>
        <p:spPr>
          <a:xfrm>
            <a:off x="548640" y="1828800"/>
            <a:ext cx="2615184" cy="2697480"/>
          </a:xfrm>
          <a:prstGeom prst="roundRect">
            <a:avLst>
              <a:gd name="adj" fmla="val 2797"/>
            </a:avLst>
          </a:prstGeom>
          <a:solidFill>
            <a:schemeClr val="bg2"/>
          </a:solidFill>
          <a:ln/>
        </p:spPr>
      </p:sp>
      <p:sp>
        <p:nvSpPr>
          <p:cNvPr id="5" name="text-154"/>
          <p:cNvSpPr txBox="1"/>
          <p:nvPr/>
        </p:nvSpPr>
        <p:spPr>
          <a:xfrm>
            <a:off x="731520" y="1965960"/>
            <a:ext cx="2286000" cy="86868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14 / 14</a:t>
            </a:r>
            <a:endParaRPr lang="en-US" sz="4800" dirty="0"/>
          </a:p>
        </p:txBody>
      </p:sp>
      <p:sp>
        <p:nvSpPr>
          <p:cNvPr id="6" name="text-155"/>
          <p:cNvSpPr txBox="1"/>
          <p:nvPr/>
        </p:nvSpPr>
        <p:spPr>
          <a:xfrm>
            <a:off x="731520" y="2834640"/>
            <a:ext cx="2286000" cy="640080"/>
          </a:xfrm>
          <a:prstGeom prst="rect">
            <a:avLst/>
          </a:prstGeom>
          <a:noFill/>
          <a:ln/>
        </p:spPr>
        <p:txBody>
          <a:bodyPr wrap="square" lIns="0" tIns="0" rIns="0" bIns="0" rtlCol="0" anchor="t"/>
          <a:lstStyle/>
          <a:p>
            <a:pPr indent="0" marL="0">
              <a:buNone/>
            </a:pPr>
            <a:r>
              <a:rPr lang="en-US" sz="1500" b="1" dirty="0">
                <a:solidFill>
                  <a:schemeClr val="tx1"/>
                </a:solidFill>
              </a:rPr>
              <a:t>critical outputs match the answer key</a:t>
            </a:r>
            <a:endParaRPr lang="en-US" sz="1500" dirty="0"/>
          </a:p>
        </p:txBody>
      </p:sp>
      <p:sp>
        <p:nvSpPr>
          <p:cNvPr id="7" name="text-156"/>
          <p:cNvSpPr txBox="1"/>
          <p:nvPr/>
        </p:nvSpPr>
        <p:spPr>
          <a:xfrm>
            <a:off x="731520" y="3520440"/>
            <a:ext cx="2286000" cy="914400"/>
          </a:xfrm>
          <a:prstGeom prst="rect">
            <a:avLst/>
          </a:prstGeom>
          <a:noFill/>
          <a:ln/>
        </p:spPr>
        <p:txBody>
          <a:bodyPr wrap="square" lIns="0" tIns="0" rIns="0" bIns="0" rtlCol="0" anchor="t"/>
          <a:lstStyle/>
          <a:p>
            <a:pPr indent="0" marL="0">
              <a:buNone/>
            </a:pPr>
            <a:r>
              <a:rPr lang="en-US" sz="1200" dirty="0">
                <a:solidFill>
                  <a:schemeClr val="tx2"/>
                </a:solidFill>
              </a:rPr>
              <a:t>Run 2: TTM, enterprise value, equity, ownership, MOIC, IRR, LP value</a:t>
            </a:r>
            <a:endParaRPr lang="en-US" sz="1200" dirty="0"/>
          </a:p>
        </p:txBody>
      </p:sp>
      <p:sp>
        <p:nvSpPr>
          <p:cNvPr id="8" name="stat-157"/>
          <p:cNvSpPr/>
          <p:nvPr/>
        </p:nvSpPr>
        <p:spPr>
          <a:xfrm>
            <a:off x="3364992" y="1828800"/>
            <a:ext cx="2615184" cy="2697480"/>
          </a:xfrm>
          <a:prstGeom prst="roundRect">
            <a:avLst>
              <a:gd name="adj" fmla="val 2797"/>
            </a:avLst>
          </a:prstGeom>
          <a:solidFill>
            <a:schemeClr val="bg2"/>
          </a:solidFill>
          <a:ln/>
        </p:spPr>
      </p:sp>
      <p:sp>
        <p:nvSpPr>
          <p:cNvPr id="9" name="text-158"/>
          <p:cNvSpPr txBox="1"/>
          <p:nvPr/>
        </p:nvSpPr>
        <p:spPr>
          <a:xfrm>
            <a:off x="3547872" y="1965960"/>
            <a:ext cx="2286000" cy="86868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6 / 6</a:t>
            </a:r>
            <a:endParaRPr lang="en-US" sz="4800" dirty="0"/>
          </a:p>
        </p:txBody>
      </p:sp>
      <p:sp>
        <p:nvSpPr>
          <p:cNvPr id="10" name="text-159"/>
          <p:cNvSpPr txBox="1"/>
          <p:nvPr/>
        </p:nvSpPr>
        <p:spPr>
          <a:xfrm>
            <a:off x="3547872" y="2834640"/>
            <a:ext cx="2286000" cy="640080"/>
          </a:xfrm>
          <a:prstGeom prst="rect">
            <a:avLst/>
          </a:prstGeom>
          <a:noFill/>
          <a:ln/>
        </p:spPr>
        <p:txBody>
          <a:bodyPr wrap="square" lIns="0" tIns="0" rIns="0" bIns="0" rtlCol="0" anchor="t"/>
          <a:lstStyle/>
          <a:p>
            <a:pPr indent="0" marL="0">
              <a:buNone/>
            </a:pPr>
            <a:r>
              <a:rPr lang="en-US" sz="1500" b="1" dirty="0">
                <a:solidFill>
                  <a:schemeClr val="tx1"/>
                </a:solidFill>
              </a:rPr>
              <a:t>planted traps handled</a:t>
            </a:r>
            <a:endParaRPr lang="en-US" sz="1500" dirty="0"/>
          </a:p>
        </p:txBody>
      </p:sp>
      <p:sp>
        <p:nvSpPr>
          <p:cNvPr id="11" name="text-160"/>
          <p:cNvSpPr txBox="1"/>
          <p:nvPr/>
        </p:nvSpPr>
        <p:spPr>
          <a:xfrm>
            <a:off x="3547872" y="3520440"/>
            <a:ext cx="2286000" cy="914400"/>
          </a:xfrm>
          <a:prstGeom prst="rect">
            <a:avLst/>
          </a:prstGeom>
          <a:noFill/>
          <a:ln/>
        </p:spPr>
        <p:txBody>
          <a:bodyPr wrap="square" lIns="0" tIns="0" rIns="0" bIns="0" rtlCol="0" anchor="t"/>
          <a:lstStyle/>
          <a:p>
            <a:pPr indent="0" marL="0">
              <a:buNone/>
            </a:pPr>
            <a:r>
              <a:rPr lang="en-US" sz="1200" dirty="0">
                <a:solidFill>
                  <a:schemeClr val="tx2"/>
                </a:solidFill>
              </a:rPr>
              <a:t>Run 2: blank adjustment, mapping by meaning, stale links, titles, narrative</a:t>
            </a:r>
            <a:endParaRPr lang="en-US" sz="1200" dirty="0"/>
          </a:p>
        </p:txBody>
      </p:sp>
      <p:sp>
        <p:nvSpPr>
          <p:cNvPr id="12" name="stat-161"/>
          <p:cNvSpPr/>
          <p:nvPr/>
        </p:nvSpPr>
        <p:spPr>
          <a:xfrm>
            <a:off x="6181344" y="1828800"/>
            <a:ext cx="2615184" cy="2697480"/>
          </a:xfrm>
          <a:prstGeom prst="roundRect">
            <a:avLst>
              <a:gd name="adj" fmla="val 2797"/>
            </a:avLst>
          </a:prstGeom>
          <a:solidFill>
            <a:schemeClr val="bg2"/>
          </a:solidFill>
          <a:ln/>
        </p:spPr>
      </p:sp>
      <p:sp>
        <p:nvSpPr>
          <p:cNvPr id="13" name="text-162"/>
          <p:cNvSpPr txBox="1"/>
          <p:nvPr/>
        </p:nvSpPr>
        <p:spPr>
          <a:xfrm>
            <a:off x="6364224" y="1965960"/>
            <a:ext cx="2286000" cy="86868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1</a:t>
            </a:r>
            <a:endParaRPr lang="en-US" sz="4800" dirty="0"/>
          </a:p>
        </p:txBody>
      </p:sp>
      <p:sp>
        <p:nvSpPr>
          <p:cNvPr id="14" name="text-163"/>
          <p:cNvSpPr txBox="1"/>
          <p:nvPr/>
        </p:nvSpPr>
        <p:spPr>
          <a:xfrm>
            <a:off x="6364224" y="2834640"/>
            <a:ext cx="2286000" cy="640080"/>
          </a:xfrm>
          <a:prstGeom prst="rect">
            <a:avLst/>
          </a:prstGeom>
          <a:noFill/>
          <a:ln/>
        </p:spPr>
        <p:txBody>
          <a:bodyPr wrap="square" lIns="0" tIns="0" rIns="0" bIns="0" rtlCol="0" anchor="t"/>
          <a:lstStyle/>
          <a:p>
            <a:pPr indent="0" marL="0">
              <a:buNone/>
            </a:pPr>
            <a:r>
              <a:rPr lang="en-US" sz="1500" b="1" dirty="0">
                <a:solidFill>
                  <a:schemeClr val="tx1"/>
                </a:solidFill>
              </a:rPr>
              <a:t>prior-period error caught</a:t>
            </a:r>
            <a:endParaRPr lang="en-US" sz="1500" dirty="0"/>
          </a:p>
        </p:txBody>
      </p:sp>
      <p:sp>
        <p:nvSpPr>
          <p:cNvPr id="15" name="text-164"/>
          <p:cNvSpPr txBox="1"/>
          <p:nvPr/>
        </p:nvSpPr>
        <p:spPr>
          <a:xfrm>
            <a:off x="6364224" y="3520440"/>
            <a:ext cx="2286000" cy="914400"/>
          </a:xfrm>
          <a:prstGeom prst="rect">
            <a:avLst/>
          </a:prstGeom>
          <a:noFill/>
          <a:ln/>
        </p:spPr>
        <p:txBody>
          <a:bodyPr wrap="square" lIns="0" tIns="0" rIns="0" bIns="0" rtlCol="0" anchor="t"/>
          <a:lstStyle/>
          <a:p>
            <a:pPr indent="0" marL="0">
              <a:buNone/>
            </a:pPr>
            <a:r>
              <a:rPr lang="en-US" sz="1200" dirty="0">
                <a:solidFill>
                  <a:schemeClr val="tx2"/>
                </a:solidFill>
              </a:rPr>
              <a:t>Run 1: independent verifier caught what the build missed</a:t>
            </a:r>
            <a:endParaRPr lang="en-US" sz="1200" dirty="0"/>
          </a:p>
        </p:txBody>
      </p:sp>
      <p:sp>
        <p:nvSpPr>
          <p:cNvPr id="16" name="stat-165"/>
          <p:cNvSpPr/>
          <p:nvPr/>
        </p:nvSpPr>
        <p:spPr>
          <a:xfrm>
            <a:off x="8997696" y="1828800"/>
            <a:ext cx="2615184" cy="2697480"/>
          </a:xfrm>
          <a:prstGeom prst="roundRect">
            <a:avLst>
              <a:gd name="adj" fmla="val 2797"/>
            </a:avLst>
          </a:prstGeom>
          <a:solidFill>
            <a:schemeClr val="bg2"/>
          </a:solidFill>
          <a:ln/>
        </p:spPr>
      </p:sp>
      <p:sp>
        <p:nvSpPr>
          <p:cNvPr id="17" name="text-166"/>
          <p:cNvSpPr txBox="1"/>
          <p:nvPr/>
        </p:nvSpPr>
        <p:spPr>
          <a:xfrm>
            <a:off x="9180576" y="1965960"/>
            <a:ext cx="2286000" cy="86868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2 / 2</a:t>
            </a:r>
            <a:endParaRPr lang="en-US" sz="4800" dirty="0"/>
          </a:p>
        </p:txBody>
      </p:sp>
      <p:sp>
        <p:nvSpPr>
          <p:cNvPr id="18" name="text-167"/>
          <p:cNvSpPr txBox="1"/>
          <p:nvPr/>
        </p:nvSpPr>
        <p:spPr>
          <a:xfrm>
            <a:off x="9180576" y="2834640"/>
            <a:ext cx="2286000" cy="640080"/>
          </a:xfrm>
          <a:prstGeom prst="rect">
            <a:avLst/>
          </a:prstGeom>
          <a:noFill/>
          <a:ln/>
        </p:spPr>
        <p:txBody>
          <a:bodyPr wrap="square" lIns="0" tIns="0" rIns="0" bIns="0" rtlCol="0" anchor="t"/>
          <a:lstStyle/>
          <a:p>
            <a:pPr indent="0" marL="0">
              <a:buNone/>
            </a:pPr>
            <a:r>
              <a:rPr lang="en-US" sz="1500" b="1" dirty="0">
                <a:solidFill>
                  <a:schemeClr val="tx1"/>
                </a:solidFill>
              </a:rPr>
              <a:t>planted shortcuts detected</a:t>
            </a:r>
            <a:endParaRPr lang="en-US" sz="1500" dirty="0"/>
          </a:p>
        </p:txBody>
      </p:sp>
      <p:sp>
        <p:nvSpPr>
          <p:cNvPr id="19" name="text-168"/>
          <p:cNvSpPr txBox="1"/>
          <p:nvPr/>
        </p:nvSpPr>
        <p:spPr>
          <a:xfrm>
            <a:off x="9180576" y="3520440"/>
            <a:ext cx="2286000" cy="914400"/>
          </a:xfrm>
          <a:prstGeom prst="rect">
            <a:avLst/>
          </a:prstGeom>
          <a:noFill/>
          <a:ln/>
        </p:spPr>
        <p:txBody>
          <a:bodyPr wrap="square" lIns="0" tIns="0" rIns="0" bIns="0" rtlCol="0" anchor="t"/>
          <a:lstStyle/>
          <a:p>
            <a:pPr indent="0" marL="0">
              <a:buNone/>
            </a:pPr>
            <a:r>
              <a:rPr lang="en-US" sz="1200" dirty="0">
                <a:solidFill>
                  <a:schemeClr val="tx2"/>
                </a:solidFill>
              </a:rPr>
              <a:t>Sabotage test: hardcoded Adjusted EBITDA, zeroed adjustment</a:t>
            </a:r>
            <a:endParaRPr lang="en-US" sz="1200" dirty="0"/>
          </a:p>
        </p:txBody>
      </p:sp>
      <p:sp>
        <p:nvSpPr>
          <p:cNvPr id="20" name="caveat-169"/>
          <p:cNvSpPr/>
          <p:nvPr/>
        </p:nvSpPr>
        <p:spPr>
          <a:xfrm>
            <a:off x="548640" y="4800600"/>
            <a:ext cx="11064240" cy="1097280"/>
          </a:xfrm>
          <a:prstGeom prst="roundRect">
            <a:avLst>
              <a:gd name="adj" fmla="val 6667"/>
            </a:avLst>
          </a:prstGeom>
          <a:solidFill>
            <a:schemeClr val="bg1"/>
          </a:solidFill>
          <a:ln w="19050">
            <a:solidFill>
              <a:srgbClr val="E07A1F"/>
            </a:solidFill>
            <a:prstDash val="solid"/>
          </a:ln>
        </p:spPr>
      </p:sp>
      <p:pic>
        <p:nvPicPr>
          <p:cNvPr id="21" name="caveaticon-170" descr="preencoded.png">    </p:cNvPr>
          <p:cNvPicPr>
            <a:picLocks noChangeAspect="1"/>
          </p:cNvPicPr>
          <p:nvPr/>
        </p:nvPicPr>
        <p:blipFill>
          <a:blip r:embed="rId1"/>
          <a:stretch>
            <a:fillRect/>
          </a:stretch>
        </p:blipFill>
        <p:spPr>
          <a:xfrm>
            <a:off x="777240" y="5120640"/>
            <a:ext cx="411480" cy="411480"/>
          </a:xfrm>
          <a:prstGeom prst="rect">
            <a:avLst/>
          </a:prstGeom>
        </p:spPr>
      </p:pic>
      <p:sp>
        <p:nvSpPr>
          <p:cNvPr id="22" name="text-171"/>
          <p:cNvSpPr txBox="1"/>
          <p:nvPr/>
        </p:nvSpPr>
        <p:spPr>
          <a:xfrm>
            <a:off x="1371600" y="4800600"/>
            <a:ext cx="10058400" cy="1097280"/>
          </a:xfrm>
          <a:prstGeom prst="rect">
            <a:avLst/>
          </a:prstGeom>
          <a:noFill/>
          <a:ln/>
        </p:spPr>
        <p:txBody>
          <a:bodyPr wrap="square" lIns="0" tIns="0" rIns="0" bIns="0" rtlCol="0" anchor="ctr"/>
          <a:lstStyle/>
          <a:p>
            <a:pPr indent="0" marL="0">
              <a:buNone/>
            </a:pPr>
            <a:r>
              <a:rPr lang="en-US" sz="1500" b="1" dirty="0">
                <a:solidFill>
                  <a:schemeClr val="tx1"/>
                </a:solidFill>
              </a:rPr>
              <a:t>Not yet proven: </a:t>
            </a:r>
            <a:pPr indent="0" marL="0">
              <a:buNone/>
            </a:pPr>
            <a:r>
              <a:rPr lang="en-US" sz="1500" dirty="0">
                <a:solidFill>
                  <a:schemeClr val="tx1"/>
                </a:solidFill>
              </a:rPr>
              <a:t>real workbooks. The synthetic model has 9 sheets and about 110 formulas; real models are far larger and less regular. The next tests use historical quarters with analyst answer keys.</a:t>
            </a:r>
            <a:endParaRPr lang="en-US" sz="1500" dirty="0"/>
          </a:p>
        </p:txBody>
      </p:sp>
      <p:sp>
        <p:nvSpPr>
          <p:cNvPr id="25" name="Slide Number Placeholder 0"/>
          <p:cNvSpPr>
            <a:spLocks noGrp="1"/>
          </p:cNvSpPr>
          <p:nvPr>
            <p:ph type="sldNum" sz="quarter" idx="4294967295"/>
          </p:nvPr>
        </p:nvSpPr>
        <p:spPr>
          <a:xfrm>
            <a:off x="1124712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4A526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548640"/>
            <a:ext cx="11064240" cy="9144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Proof plan and decision point</a:t>
            </a:r>
            <a:endParaRPr lang="en-US" sz="4000" dirty="0"/>
          </a:p>
        </p:txBody>
      </p:sp>
      <p:sp>
        <p:nvSpPr>
          <p:cNvPr id="3" name="Text 0"/>
          <p:cNvSpPr/>
          <p:nvPr>
            <p:ph idx="101" type="body" hasCustomPrompt="1"/>
          </p:nvPr>
        </p:nvSpPr>
        <p:spPr>
          <a:xfrm>
            <a:off x="548640" y="1554480"/>
            <a:ext cx="10515600" cy="822960"/>
          </a:xfrm>
          <a:prstGeom prst="rect">
            <a:avLst/>
          </a:prstGeom>
          <a:noFill/>
          <a:ln/>
        </p:spPr>
        <p:txBody>
          <a:bodyPr wrap="square" lIns="0" tIns="0" rIns="0" bIns="0" rtlCol="0" anchor="t"/>
          <a:lstStyle/>
          <a:p>
            <a:pPr indent="0" marL="0">
              <a:buNone/>
            </a:pPr>
            <a:r>
              <a:rPr lang="en-US" sz="2000" dirty="0">
                <a:solidFill>
                  <a:srgbClr val="D5DBE3"/>
                </a:solidFill>
              </a:rPr>
              <a:t>Stay lightweight unless repeated tests show it cannot hold up.</a:t>
            </a:r>
            <a:endParaRPr lang="en-US" sz="2000" dirty="0"/>
          </a:p>
        </p:txBody>
      </p:sp>
      <p:sp>
        <p:nvSpPr>
          <p:cNvPr id="4" name="chip-172"/>
          <p:cNvSpPr/>
          <p:nvPr/>
        </p:nvSpPr>
        <p:spPr>
          <a:xfrm>
            <a:off x="548640" y="2423160"/>
            <a:ext cx="1600200" cy="777240"/>
          </a:xfrm>
          <a:prstGeom prst="roundRect">
            <a:avLst>
              <a:gd name="adj" fmla="val 11765"/>
            </a:avLst>
          </a:prstGeom>
          <a:solidFill>
            <a:schemeClr val="accent1"/>
          </a:solidFill>
          <a:ln/>
        </p:spPr>
      </p:sp>
      <p:sp>
        <p:nvSpPr>
          <p:cNvPr id="5" name="chiptext-173"/>
          <p:cNvSpPr txBox="1"/>
          <p:nvPr/>
        </p:nvSpPr>
        <p:spPr>
          <a:xfrm>
            <a:off x="713232" y="2423160"/>
            <a:ext cx="1271016" cy="777240"/>
          </a:xfrm>
          <a:prstGeom prst="rect">
            <a:avLst/>
          </a:prstGeom>
          <a:noFill/>
          <a:ln/>
        </p:spPr>
        <p:txBody>
          <a:bodyPr wrap="square" lIns="0" tIns="0" rIns="0" bIns="0" rtlCol="0" anchor="ctr"/>
          <a:lstStyle/>
          <a:p>
            <a:pPr indent="0" marL="0">
              <a:buNone/>
            </a:pPr>
            <a:r>
              <a:rPr lang="en-US" sz="1400" b="1" dirty="0">
                <a:solidFill>
                  <a:schemeClr val="bg1"/>
                </a:solidFill>
              </a:rPr>
              <a:t>Historical Opus quarter</a:t>
            </a:r>
            <a:endParaRPr lang="en-US" sz="1400" dirty="0"/>
          </a:p>
        </p:txBody>
      </p:sp>
      <p:pic>
        <p:nvPicPr>
          <p:cNvPr id="6" name="arrow-174" descr="preencoded.png">    </p:cNvPr>
          <p:cNvPicPr>
            <a:picLocks noChangeAspect="1"/>
          </p:cNvPicPr>
          <p:nvPr/>
        </p:nvPicPr>
        <p:blipFill>
          <a:blip r:embed="rId1"/>
          <a:stretch>
            <a:fillRect/>
          </a:stretch>
        </p:blipFill>
        <p:spPr>
          <a:xfrm>
            <a:off x="2194560" y="2715768"/>
            <a:ext cx="201168" cy="201168"/>
          </a:xfrm>
          <a:prstGeom prst="rect">
            <a:avLst/>
          </a:prstGeom>
        </p:spPr>
      </p:pic>
      <p:sp>
        <p:nvSpPr>
          <p:cNvPr id="7" name="chip-175"/>
          <p:cNvSpPr/>
          <p:nvPr/>
        </p:nvSpPr>
        <p:spPr>
          <a:xfrm>
            <a:off x="2468880" y="2423160"/>
            <a:ext cx="1600200" cy="777240"/>
          </a:xfrm>
          <a:prstGeom prst="roundRect">
            <a:avLst>
              <a:gd name="adj" fmla="val 11765"/>
            </a:avLst>
          </a:prstGeom>
          <a:solidFill>
            <a:schemeClr val="accent1"/>
          </a:solidFill>
          <a:ln/>
        </p:spPr>
      </p:sp>
      <p:sp>
        <p:nvSpPr>
          <p:cNvPr id="8" name="chiptext-176"/>
          <p:cNvSpPr txBox="1"/>
          <p:nvPr/>
        </p:nvSpPr>
        <p:spPr>
          <a:xfrm>
            <a:off x="2633472" y="2423160"/>
            <a:ext cx="1271016" cy="777240"/>
          </a:xfrm>
          <a:prstGeom prst="rect">
            <a:avLst/>
          </a:prstGeom>
          <a:noFill/>
          <a:ln/>
        </p:spPr>
        <p:txBody>
          <a:bodyPr wrap="square" lIns="0" tIns="0" rIns="0" bIns="0" rtlCol="0" anchor="ctr"/>
          <a:lstStyle/>
          <a:p>
            <a:pPr indent="0" marL="0">
              <a:buNone/>
            </a:pPr>
            <a:r>
              <a:rPr lang="en-US" sz="1400" b="1" dirty="0">
                <a:solidFill>
                  <a:schemeClr val="bg1"/>
                </a:solidFill>
              </a:rPr>
              <a:t>Second Opus quarter</a:t>
            </a:r>
            <a:endParaRPr lang="en-US" sz="1400" dirty="0"/>
          </a:p>
        </p:txBody>
      </p:sp>
      <p:pic>
        <p:nvPicPr>
          <p:cNvPr id="9" name="arrow-177" descr="preencoded.png">    </p:cNvPr>
          <p:cNvPicPr>
            <a:picLocks noChangeAspect="1"/>
          </p:cNvPicPr>
          <p:nvPr/>
        </p:nvPicPr>
        <p:blipFill>
          <a:blip r:embed="rId2"/>
          <a:stretch>
            <a:fillRect/>
          </a:stretch>
        </p:blipFill>
        <p:spPr>
          <a:xfrm>
            <a:off x="4114800" y="2715768"/>
            <a:ext cx="201168" cy="201168"/>
          </a:xfrm>
          <a:prstGeom prst="rect">
            <a:avLst/>
          </a:prstGeom>
        </p:spPr>
      </p:pic>
      <p:sp>
        <p:nvSpPr>
          <p:cNvPr id="10" name="chip-178"/>
          <p:cNvSpPr/>
          <p:nvPr/>
        </p:nvSpPr>
        <p:spPr>
          <a:xfrm>
            <a:off x="4389120" y="2423160"/>
            <a:ext cx="1600200" cy="777240"/>
          </a:xfrm>
          <a:prstGeom prst="roundRect">
            <a:avLst>
              <a:gd name="adj" fmla="val 11765"/>
            </a:avLst>
          </a:prstGeom>
          <a:solidFill>
            <a:schemeClr val="accent1"/>
          </a:solidFill>
          <a:ln/>
        </p:spPr>
      </p:sp>
      <p:sp>
        <p:nvSpPr>
          <p:cNvPr id="11" name="chiptext-179"/>
          <p:cNvSpPr txBox="1"/>
          <p:nvPr/>
        </p:nvSpPr>
        <p:spPr>
          <a:xfrm>
            <a:off x="4553712" y="2423160"/>
            <a:ext cx="1271016" cy="777240"/>
          </a:xfrm>
          <a:prstGeom prst="rect">
            <a:avLst/>
          </a:prstGeom>
          <a:noFill/>
          <a:ln/>
        </p:spPr>
        <p:txBody>
          <a:bodyPr wrap="square" lIns="0" tIns="0" rIns="0" bIns="0" rtlCol="0" anchor="ctr"/>
          <a:lstStyle/>
          <a:p>
            <a:pPr indent="0" marL="0">
              <a:buNone/>
            </a:pPr>
            <a:r>
              <a:rPr lang="en-US" sz="1400" b="1" dirty="0">
                <a:solidFill>
                  <a:schemeClr val="bg1"/>
                </a:solidFill>
              </a:rPr>
              <a:t>Second company</a:t>
            </a:r>
            <a:endParaRPr lang="en-US" sz="1400" dirty="0"/>
          </a:p>
        </p:txBody>
      </p:sp>
      <p:pic>
        <p:nvPicPr>
          <p:cNvPr id="12" name="arrow-180" descr="preencoded.png">    </p:cNvPr>
          <p:cNvPicPr>
            <a:picLocks noChangeAspect="1"/>
          </p:cNvPicPr>
          <p:nvPr/>
        </p:nvPicPr>
        <p:blipFill>
          <a:blip r:embed="rId3"/>
          <a:stretch>
            <a:fillRect/>
          </a:stretch>
        </p:blipFill>
        <p:spPr>
          <a:xfrm>
            <a:off x="6035040" y="2715768"/>
            <a:ext cx="201168" cy="201168"/>
          </a:xfrm>
          <a:prstGeom prst="rect">
            <a:avLst/>
          </a:prstGeom>
        </p:spPr>
      </p:pic>
      <p:sp>
        <p:nvSpPr>
          <p:cNvPr id="13" name="chip-181"/>
          <p:cNvSpPr/>
          <p:nvPr/>
        </p:nvSpPr>
        <p:spPr>
          <a:xfrm>
            <a:off x="6309360" y="2423160"/>
            <a:ext cx="1600200" cy="777240"/>
          </a:xfrm>
          <a:prstGeom prst="roundRect">
            <a:avLst>
              <a:gd name="adj" fmla="val 11765"/>
            </a:avLst>
          </a:prstGeom>
          <a:solidFill>
            <a:schemeClr val="accent1"/>
          </a:solidFill>
          <a:ln/>
        </p:spPr>
      </p:sp>
      <p:sp>
        <p:nvSpPr>
          <p:cNvPr id="14" name="chiptext-182"/>
          <p:cNvSpPr txBox="1"/>
          <p:nvPr/>
        </p:nvSpPr>
        <p:spPr>
          <a:xfrm>
            <a:off x="6473952" y="2423160"/>
            <a:ext cx="1271016" cy="777240"/>
          </a:xfrm>
          <a:prstGeom prst="rect">
            <a:avLst/>
          </a:prstGeom>
          <a:noFill/>
          <a:ln/>
        </p:spPr>
        <p:txBody>
          <a:bodyPr wrap="square" lIns="0" tIns="0" rIns="0" bIns="0" rtlCol="0" anchor="ctr"/>
          <a:lstStyle/>
          <a:p>
            <a:pPr indent="0" marL="0">
              <a:buNone/>
            </a:pPr>
            <a:r>
              <a:rPr lang="en-US" sz="1400" b="1" dirty="0">
                <a:solidFill>
                  <a:schemeClr val="bg1"/>
                </a:solidFill>
              </a:rPr>
              <a:t>Structural-change case</a:t>
            </a:r>
            <a:endParaRPr lang="en-US" sz="1400" dirty="0"/>
          </a:p>
        </p:txBody>
      </p:sp>
      <p:pic>
        <p:nvPicPr>
          <p:cNvPr id="15" name="arrow-183" descr="preencoded.png">    </p:cNvPr>
          <p:cNvPicPr>
            <a:picLocks noChangeAspect="1"/>
          </p:cNvPicPr>
          <p:nvPr/>
        </p:nvPicPr>
        <p:blipFill>
          <a:blip r:embed="rId4"/>
          <a:stretch>
            <a:fillRect/>
          </a:stretch>
        </p:blipFill>
        <p:spPr>
          <a:xfrm>
            <a:off x="7955280" y="2715768"/>
            <a:ext cx="201168" cy="201168"/>
          </a:xfrm>
          <a:prstGeom prst="rect">
            <a:avLst/>
          </a:prstGeom>
        </p:spPr>
      </p:pic>
      <p:sp>
        <p:nvSpPr>
          <p:cNvPr id="16" name="chip-184"/>
          <p:cNvSpPr/>
          <p:nvPr/>
        </p:nvSpPr>
        <p:spPr>
          <a:xfrm>
            <a:off x="8229600" y="2423160"/>
            <a:ext cx="1600200" cy="777240"/>
          </a:xfrm>
          <a:prstGeom prst="roundRect">
            <a:avLst>
              <a:gd name="adj" fmla="val 11765"/>
            </a:avLst>
          </a:prstGeom>
          <a:solidFill>
            <a:schemeClr val="accent4"/>
          </a:solidFill>
          <a:ln/>
        </p:spPr>
      </p:sp>
      <p:sp>
        <p:nvSpPr>
          <p:cNvPr id="17" name="chiptext-185"/>
          <p:cNvSpPr txBox="1"/>
          <p:nvPr/>
        </p:nvSpPr>
        <p:spPr>
          <a:xfrm>
            <a:off x="8394192" y="2423160"/>
            <a:ext cx="1271016" cy="777240"/>
          </a:xfrm>
          <a:prstGeom prst="rect">
            <a:avLst/>
          </a:prstGeom>
          <a:noFill/>
          <a:ln/>
        </p:spPr>
        <p:txBody>
          <a:bodyPr wrap="square" lIns="0" tIns="0" rIns="0" bIns="0" rtlCol="0" anchor="ctr"/>
          <a:lstStyle/>
          <a:p>
            <a:pPr indent="0" marL="0">
              <a:buNone/>
            </a:pPr>
            <a:r>
              <a:rPr lang="en-US" sz="1400" b="1" dirty="0">
                <a:solidFill>
                  <a:schemeClr val="bg1"/>
                </a:solidFill>
              </a:rPr>
              <a:t>Fund roll-up</a:t>
            </a:r>
            <a:endParaRPr lang="en-US" sz="1400" dirty="0"/>
          </a:p>
        </p:txBody>
      </p:sp>
      <p:pic>
        <p:nvPicPr>
          <p:cNvPr id="18" name="arrow-186" descr="preencoded.png">    </p:cNvPr>
          <p:cNvPicPr>
            <a:picLocks noChangeAspect="1"/>
          </p:cNvPicPr>
          <p:nvPr/>
        </p:nvPicPr>
        <p:blipFill>
          <a:blip r:embed="rId5"/>
          <a:stretch>
            <a:fillRect/>
          </a:stretch>
        </p:blipFill>
        <p:spPr>
          <a:xfrm>
            <a:off x="9875520" y="2715768"/>
            <a:ext cx="201168" cy="201168"/>
          </a:xfrm>
          <a:prstGeom prst="rect">
            <a:avLst/>
          </a:prstGeom>
        </p:spPr>
      </p:pic>
      <p:sp>
        <p:nvSpPr>
          <p:cNvPr id="19" name="chip-187"/>
          <p:cNvSpPr/>
          <p:nvPr/>
        </p:nvSpPr>
        <p:spPr>
          <a:xfrm>
            <a:off x="10149840" y="2423160"/>
            <a:ext cx="1600200" cy="777240"/>
          </a:xfrm>
          <a:prstGeom prst="roundRect">
            <a:avLst>
              <a:gd name="adj" fmla="val 11765"/>
            </a:avLst>
          </a:prstGeom>
          <a:solidFill>
            <a:schemeClr val="accent3"/>
          </a:solidFill>
          <a:ln/>
        </p:spPr>
      </p:sp>
      <p:sp>
        <p:nvSpPr>
          <p:cNvPr id="20" name="chiptext-188"/>
          <p:cNvSpPr txBox="1"/>
          <p:nvPr/>
        </p:nvSpPr>
        <p:spPr>
          <a:xfrm>
            <a:off x="10314432" y="2423160"/>
            <a:ext cx="1271016" cy="777240"/>
          </a:xfrm>
          <a:prstGeom prst="rect">
            <a:avLst/>
          </a:prstGeom>
          <a:noFill/>
          <a:ln/>
        </p:spPr>
        <p:txBody>
          <a:bodyPr wrap="square" lIns="0" tIns="0" rIns="0" bIns="0" rtlCol="0" anchor="ctr"/>
          <a:lstStyle/>
          <a:p>
            <a:pPr indent="0" marL="0">
              <a:buNone/>
            </a:pPr>
            <a:r>
              <a:rPr lang="en-US" sz="1400" b="1" dirty="0">
                <a:solidFill>
                  <a:schemeClr val="bg1"/>
                </a:solidFill>
              </a:rPr>
              <a:t>Decide</a:t>
            </a:r>
            <a:endParaRPr lang="en-US" sz="1400" dirty="0"/>
          </a:p>
        </p:txBody>
      </p:sp>
      <p:sp>
        <p:nvSpPr>
          <p:cNvPr id="21" name="text-189"/>
          <p:cNvSpPr txBox="1"/>
          <p:nvPr/>
        </p:nvSpPr>
        <p:spPr>
          <a:xfrm>
            <a:off x="548640" y="3611880"/>
            <a:ext cx="5303520" cy="411480"/>
          </a:xfrm>
          <a:prstGeom prst="rect">
            <a:avLst/>
          </a:prstGeom>
          <a:noFill/>
          <a:ln/>
        </p:spPr>
        <p:txBody>
          <a:bodyPr wrap="square" lIns="0" tIns="0" rIns="0" bIns="0" rtlCol="0" anchor="t"/>
          <a:lstStyle/>
          <a:p>
            <a:pPr indent="0" marL="0">
              <a:buNone/>
            </a:pPr>
            <a:r>
              <a:rPr lang="en-US" sz="1800" b="1" dirty="0">
                <a:solidFill>
                  <a:schemeClr val="accent1"/>
                </a:solidFill>
              </a:rPr>
              <a:t>Stay with Agent Builder if</a:t>
            </a:r>
            <a:endParaRPr lang="en-US" sz="1800" dirty="0"/>
          </a:p>
        </p:txBody>
      </p:sp>
      <p:sp>
        <p:nvSpPr>
          <p:cNvPr id="22" name="list-190"/>
          <p:cNvSpPr txBox="1"/>
          <p:nvPr/>
        </p:nvSpPr>
        <p:spPr>
          <a:xfrm>
            <a:off x="548640" y="4069080"/>
            <a:ext cx="5303520"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E6EAF0"/>
                </a:solidFill>
              </a:rPr>
              <a:t>The approved workbook reliably carries company knowledge</a:t>
            </a:r>
            <a:endParaRPr lang="en-US" sz="1500" dirty="0"/>
          </a:p>
          <a:p>
            <a:pPr marL="342900" indent="-342900">
              <a:spcAft>
                <a:spcPts val="600"/>
              </a:spcAft>
              <a:buSzPct val="100000"/>
              <a:buChar char="•"/>
            </a:pPr>
            <a:r>
              <a:rPr lang="en-US" sz="1500" dirty="0">
                <a:solidFill>
                  <a:srgbClr val="E6EAF0"/>
                </a:solidFill>
              </a:rPr>
              <a:t>Verification keeps catching implementation errors</a:t>
            </a:r>
            <a:endParaRPr lang="en-US" sz="1500" dirty="0"/>
          </a:p>
          <a:p>
            <a:pPr marL="342900" indent="-342900">
              <a:spcAft>
                <a:spcPts val="600"/>
              </a:spcAft>
              <a:buSzPct val="100000"/>
              <a:buChar char="•"/>
            </a:pPr>
            <a:r>
              <a:rPr lang="en-US" sz="1500" dirty="0">
                <a:solidFill>
                  <a:srgbClr val="E6EAF0"/>
                </a:solidFill>
              </a:rPr>
              <a:t>Runs stay user-driven, file in and file out</a:t>
            </a:r>
            <a:endParaRPr lang="en-US" sz="1500" dirty="0"/>
          </a:p>
        </p:txBody>
      </p:sp>
      <p:sp>
        <p:nvSpPr>
          <p:cNvPr id="23" name="text-191"/>
          <p:cNvSpPr txBox="1"/>
          <p:nvPr/>
        </p:nvSpPr>
        <p:spPr>
          <a:xfrm>
            <a:off x="6309360" y="3611880"/>
            <a:ext cx="5303520" cy="411480"/>
          </a:xfrm>
          <a:prstGeom prst="rect">
            <a:avLst/>
          </a:prstGeom>
          <a:noFill/>
          <a:ln/>
        </p:spPr>
        <p:txBody>
          <a:bodyPr wrap="square" lIns="0" tIns="0" rIns="0" bIns="0" rtlCol="0" anchor="t"/>
          <a:lstStyle/>
          <a:p>
            <a:pPr indent="0" marL="0">
              <a:buNone/>
            </a:pPr>
            <a:r>
              <a:rPr lang="en-US" sz="1800" b="1" dirty="0">
                <a:solidFill>
                  <a:schemeClr val="accent2"/>
                </a:solidFill>
              </a:rPr>
              <a:t>Move to Copilot Studio if</a:t>
            </a:r>
            <a:endParaRPr lang="en-US" sz="1800" dirty="0"/>
          </a:p>
        </p:txBody>
      </p:sp>
      <p:sp>
        <p:nvSpPr>
          <p:cNvPr id="24" name="list-192"/>
          <p:cNvSpPr txBox="1"/>
          <p:nvPr/>
        </p:nvSpPr>
        <p:spPr>
          <a:xfrm>
            <a:off x="6309360" y="4069080"/>
            <a:ext cx="5303520"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E6EAF0"/>
                </a:solidFill>
              </a:rPr>
              <a:t>Mapping is inconsistent across repeated runs</a:t>
            </a:r>
            <a:endParaRPr lang="en-US" sz="1500" dirty="0"/>
          </a:p>
          <a:p>
            <a:pPr marL="342900" indent="-342900">
              <a:spcAft>
                <a:spcPts val="600"/>
              </a:spcAft>
              <a:buSzPct val="100000"/>
              <a:buChar char="•"/>
            </a:pPr>
            <a:r>
              <a:rPr lang="en-US" sz="1500" dirty="0">
                <a:solidFill>
                  <a:srgbClr val="E6EAF0"/>
                </a:solidFill>
              </a:rPr>
              <a:t>Verification must be an enforced stage, not an instruction</a:t>
            </a:r>
            <a:endParaRPr lang="en-US" sz="1500" dirty="0"/>
          </a:p>
          <a:p>
            <a:pPr marL="342900" indent="-342900">
              <a:spcAft>
                <a:spcPts val="600"/>
              </a:spcAft>
              <a:buSzPct val="100000"/>
              <a:buChar char="•"/>
            </a:pPr>
            <a:r>
              <a:rPr lang="en-US" sz="1500" dirty="0">
                <a:solidFill>
                  <a:srgbClr val="E6EAF0"/>
                </a:solidFill>
              </a:rPr>
              <a:t>Intake, approvals or SharePoint output must be automated</a:t>
            </a:r>
            <a:endParaRPr lang="en-US" sz="1500" dirty="0"/>
          </a:p>
        </p:txBody>
      </p:sp>
      <p:sp>
        <p:nvSpPr>
          <p:cNvPr id="25" name="Slide Number Placeholder 0"/>
          <p:cNvSpPr>
            <a:spLocks noGrp="1"/>
          </p:cNvSpPr>
          <p:nvPr>
            <p:ph type="sldNum" sz="quarter" idx="4294967295"/>
          </p:nvPr>
        </p:nvSpPr>
        <p:spPr>
          <a:xfrm>
            <a:off x="1124712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B8C0CC"/>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8"/>
          <p:cNvSpPr/>
          <p:nvPr>
            <p:ph idx="108" type="title" hasCustomPrompt="1"/>
          </p:nvPr>
        </p:nvSpPr>
        <p:spPr>
          <a:xfrm>
            <a:off x="548640" y="320040"/>
            <a:ext cx="11064240" cy="731520"/>
          </a:xfrm>
          <a:prstGeom prst="rect">
            <a:avLst/>
          </a:prstGeom>
          <a:noFill/>
          <a:ln/>
        </p:spPr>
        <p:txBody>
          <a:bodyPr wrap="square" lIns="0" tIns="0" rIns="0" bIns="0" rtlCol="0" anchor="t"/>
          <a:lstStyle/>
          <a:p>
            <a:pPr algn="l" indent="0" marL="0">
              <a:buNone/>
            </a:pPr>
            <a:r>
              <a:rPr lang="en-US" sz="3600" b="1" dirty="0">
                <a:solidFill>
                  <a:srgbClr val="1E2530"/>
                </a:solidFill>
                <a:latin typeface="Cambria" pitchFamily="34" charset="0"/>
                <a:ea typeface="Cambria" pitchFamily="34" charset="-122"/>
                <a:cs typeface="Cambria" pitchFamily="34" charset="-120"/>
              </a:rPr>
              <a:t>Appendix: what every run returns</a:t>
            </a:r>
            <a:endParaRPr lang="en-US" sz="3600" dirty="0"/>
          </a:p>
        </p:txBody>
      </p:sp>
      <p:sp>
        <p:nvSpPr>
          <p:cNvPr id="3" name="Text 8"/>
          <p:cNvSpPr/>
          <p:nvPr>
            <p:ph idx="109" type="body" hasCustomPrompt="1"/>
          </p:nvPr>
        </p:nvSpPr>
        <p:spPr>
          <a:xfrm>
            <a:off x="548640" y="1097280"/>
            <a:ext cx="11064240" cy="457200"/>
          </a:xfrm>
          <a:prstGeom prst="rect">
            <a:avLst/>
          </a:prstGeom>
          <a:noFill/>
          <a:ln/>
        </p:spPr>
        <p:txBody>
          <a:bodyPr wrap="square" lIns="0" tIns="0" rIns="0" bIns="0" rtlCol="0" anchor="t"/>
          <a:lstStyle/>
          <a:p>
            <a:pPr indent="0" marL="0">
              <a:buNone/>
            </a:pPr>
            <a:r>
              <a:rPr lang="en-US" sz="1800" dirty="0">
                <a:solidFill>
                  <a:srgbClr val="4A5260"/>
                </a:solidFill>
              </a:rPr>
              <a:t>One of three statuses, plus the evidence behind it.</a:t>
            </a:r>
            <a:endParaRPr lang="en-US" sz="1800" dirty="0"/>
          </a:p>
        </p:txBody>
      </p:sp>
      <p:sp>
        <p:nvSpPr>
          <p:cNvPr id="4" name="status-193"/>
          <p:cNvSpPr/>
          <p:nvPr/>
        </p:nvSpPr>
        <p:spPr>
          <a:xfrm>
            <a:off x="548640" y="1828800"/>
            <a:ext cx="6766560" cy="822960"/>
          </a:xfrm>
          <a:prstGeom prst="roundRect">
            <a:avLst>
              <a:gd name="adj" fmla="val 8889"/>
            </a:avLst>
          </a:prstGeom>
          <a:solidFill>
            <a:schemeClr val="bg2"/>
          </a:solidFill>
          <a:ln/>
        </p:spPr>
      </p:sp>
      <p:pic>
        <p:nvPicPr>
          <p:cNvPr id="5" name="staticon-194" descr="preencoded.png">    </p:cNvPr>
          <p:cNvPicPr>
            <a:picLocks noChangeAspect="1"/>
          </p:cNvPicPr>
          <p:nvPr/>
        </p:nvPicPr>
        <p:blipFill>
          <a:blip r:embed="rId1"/>
          <a:stretch>
            <a:fillRect/>
          </a:stretch>
        </p:blipFill>
        <p:spPr>
          <a:xfrm>
            <a:off x="731520" y="2039112"/>
            <a:ext cx="402336" cy="402336"/>
          </a:xfrm>
          <a:prstGeom prst="rect">
            <a:avLst/>
          </a:prstGeom>
        </p:spPr>
      </p:pic>
      <p:sp>
        <p:nvSpPr>
          <p:cNvPr id="6" name="text-195"/>
          <p:cNvSpPr txBox="1"/>
          <p:nvPr/>
        </p:nvSpPr>
        <p:spPr>
          <a:xfrm>
            <a:off x="1325880" y="1828800"/>
            <a:ext cx="5852160" cy="822960"/>
          </a:xfrm>
          <a:prstGeom prst="rect">
            <a:avLst/>
          </a:prstGeom>
          <a:noFill/>
          <a:ln/>
        </p:spPr>
        <p:txBody>
          <a:bodyPr wrap="square" lIns="0" tIns="0" rIns="0" bIns="0" rtlCol="0" anchor="ctr"/>
          <a:lstStyle/>
          <a:p>
            <a:pPr indent="0" marL="0">
              <a:buNone/>
            </a:pPr>
            <a:r>
              <a:rPr lang="en-US" sz="1500" b="1" dirty="0">
                <a:solidFill>
                  <a:schemeClr val="tx1"/>
                </a:solidFill>
              </a:rPr>
              <a:t>APPROVAL READY</a:t>
            </a:r>
            <a:endParaRPr lang="en-US" sz="1500" dirty="0"/>
          </a:p>
          <a:p>
            <a:pPr indent="0" marL="0">
              <a:buNone/>
            </a:pPr>
            <a:r>
              <a:rPr lang="en-US" sz="1300" dirty="0">
                <a:solidFill>
                  <a:srgbClr val="4A5260"/>
                </a:solidFill>
              </a:rPr>
              <a:t>Mechanical checks pass and no material judgment remains.</a:t>
            </a:r>
            <a:endParaRPr lang="en-US" sz="1500" dirty="0"/>
          </a:p>
        </p:txBody>
      </p:sp>
      <p:sp>
        <p:nvSpPr>
          <p:cNvPr id="7" name="status-196"/>
          <p:cNvSpPr/>
          <p:nvPr/>
        </p:nvSpPr>
        <p:spPr>
          <a:xfrm>
            <a:off x="548640" y="2788920"/>
            <a:ext cx="6766560" cy="822960"/>
          </a:xfrm>
          <a:prstGeom prst="roundRect">
            <a:avLst>
              <a:gd name="adj" fmla="val 8889"/>
            </a:avLst>
          </a:prstGeom>
          <a:solidFill>
            <a:schemeClr val="bg2"/>
          </a:solidFill>
          <a:ln/>
        </p:spPr>
      </p:sp>
      <p:pic>
        <p:nvPicPr>
          <p:cNvPr id="8" name="staticon-197" descr="preencoded.png">    </p:cNvPr>
          <p:cNvPicPr>
            <a:picLocks noChangeAspect="1"/>
          </p:cNvPicPr>
          <p:nvPr/>
        </p:nvPicPr>
        <p:blipFill>
          <a:blip r:embed="rId2"/>
          <a:stretch>
            <a:fillRect/>
          </a:stretch>
        </p:blipFill>
        <p:spPr>
          <a:xfrm>
            <a:off x="731520" y="2999232"/>
            <a:ext cx="402336" cy="402336"/>
          </a:xfrm>
          <a:prstGeom prst="rect">
            <a:avLst/>
          </a:prstGeom>
        </p:spPr>
      </p:pic>
      <p:sp>
        <p:nvSpPr>
          <p:cNvPr id="9" name="text-198"/>
          <p:cNvSpPr txBox="1"/>
          <p:nvPr/>
        </p:nvSpPr>
        <p:spPr>
          <a:xfrm>
            <a:off x="1325880" y="2788920"/>
            <a:ext cx="5852160" cy="822960"/>
          </a:xfrm>
          <a:prstGeom prst="rect">
            <a:avLst/>
          </a:prstGeom>
          <a:noFill/>
          <a:ln/>
        </p:spPr>
        <p:txBody>
          <a:bodyPr wrap="square" lIns="0" tIns="0" rIns="0" bIns="0" rtlCol="0" anchor="ctr"/>
          <a:lstStyle/>
          <a:p>
            <a:pPr indent="0" marL="0">
              <a:buNone/>
            </a:pPr>
            <a:r>
              <a:rPr lang="en-US" sz="1500" b="1" dirty="0">
                <a:solidFill>
                  <a:schemeClr val="tx1"/>
                </a:solidFill>
              </a:rPr>
              <a:t>READY FOR ANALYST JUDGMENT</a:t>
            </a:r>
            <a:endParaRPr lang="en-US" sz="1500" dirty="0"/>
          </a:p>
          <a:p>
            <a:pPr indent="0" marL="0">
              <a:buNone/>
            </a:pPr>
            <a:r>
              <a:rPr lang="en-US" sz="1300" dirty="0">
                <a:solidFill>
                  <a:srgbClr val="4A5260"/>
                </a:solidFill>
              </a:rPr>
              <a:t>Workbook is mechanically sound. Comparables, multiple, adjustments, ownership or another explicit judgment remains.</a:t>
            </a:r>
            <a:endParaRPr lang="en-US" sz="1500" dirty="0"/>
          </a:p>
        </p:txBody>
      </p:sp>
      <p:sp>
        <p:nvSpPr>
          <p:cNvPr id="10" name="status-199"/>
          <p:cNvSpPr/>
          <p:nvPr/>
        </p:nvSpPr>
        <p:spPr>
          <a:xfrm>
            <a:off x="548640" y="3749040"/>
            <a:ext cx="6766560" cy="822960"/>
          </a:xfrm>
          <a:prstGeom prst="roundRect">
            <a:avLst>
              <a:gd name="adj" fmla="val 8889"/>
            </a:avLst>
          </a:prstGeom>
          <a:solidFill>
            <a:schemeClr val="bg2"/>
          </a:solidFill>
          <a:ln/>
        </p:spPr>
      </p:sp>
      <p:pic>
        <p:nvPicPr>
          <p:cNvPr id="11" name="staticon-200" descr="preencoded.png">    </p:cNvPr>
          <p:cNvPicPr>
            <a:picLocks noChangeAspect="1"/>
          </p:cNvPicPr>
          <p:nvPr/>
        </p:nvPicPr>
        <p:blipFill>
          <a:blip r:embed="rId3"/>
          <a:stretch>
            <a:fillRect/>
          </a:stretch>
        </p:blipFill>
        <p:spPr>
          <a:xfrm>
            <a:off x="731520" y="3959352"/>
            <a:ext cx="402336" cy="402336"/>
          </a:xfrm>
          <a:prstGeom prst="rect">
            <a:avLst/>
          </a:prstGeom>
        </p:spPr>
      </p:pic>
      <p:sp>
        <p:nvSpPr>
          <p:cNvPr id="12" name="text-201"/>
          <p:cNvSpPr txBox="1"/>
          <p:nvPr/>
        </p:nvSpPr>
        <p:spPr>
          <a:xfrm>
            <a:off x="1325880" y="3749040"/>
            <a:ext cx="5852160" cy="822960"/>
          </a:xfrm>
          <a:prstGeom prst="rect">
            <a:avLst/>
          </a:prstGeom>
          <a:noFill/>
          <a:ln/>
        </p:spPr>
        <p:txBody>
          <a:bodyPr wrap="square" lIns="0" tIns="0" rIns="0" bIns="0" rtlCol="0" anchor="ctr"/>
          <a:lstStyle/>
          <a:p>
            <a:pPr indent="0" marL="0">
              <a:buNone/>
            </a:pPr>
            <a:r>
              <a:rPr lang="en-US" sz="1500" b="1" dirty="0">
                <a:solidFill>
                  <a:schemeClr val="tx1"/>
                </a:solidFill>
              </a:rPr>
              <a:t>MECHANICALLY INCOMPLETE</a:t>
            </a:r>
            <a:endParaRPr lang="en-US" sz="1500" dirty="0"/>
          </a:p>
          <a:p>
            <a:pPr indent="0" marL="0">
              <a:buNone/>
            </a:pPr>
            <a:r>
              <a:rPr lang="en-US" sz="1300" dirty="0">
                <a:solidFill>
                  <a:srgbClr val="4A5260"/>
                </a:solidFill>
              </a:rPr>
              <a:t>Data transfer, formula pattern, period, propagation or integrity failed. AI must repair before analyst review.</a:t>
            </a:r>
            <a:endParaRPr lang="en-US" sz="1500" dirty="0"/>
          </a:p>
        </p:txBody>
      </p:sp>
      <p:sp>
        <p:nvSpPr>
          <p:cNvPr id="13" name="text-202"/>
          <p:cNvSpPr txBox="1"/>
          <p:nvPr/>
        </p:nvSpPr>
        <p:spPr>
          <a:xfrm>
            <a:off x="7772400" y="1828800"/>
            <a:ext cx="3840480" cy="365760"/>
          </a:xfrm>
          <a:prstGeom prst="rect">
            <a:avLst/>
          </a:prstGeom>
          <a:noFill/>
          <a:ln/>
        </p:spPr>
        <p:txBody>
          <a:bodyPr wrap="square" lIns="0" tIns="0" rIns="0" bIns="0" rtlCol="0" anchor="t"/>
          <a:lstStyle/>
          <a:p>
            <a:pPr indent="0" marL="0">
              <a:buNone/>
            </a:pPr>
            <a:r>
              <a:rPr lang="en-US" sz="1600" b="1" dirty="0">
                <a:solidFill>
                  <a:schemeClr val="tx1"/>
                </a:solidFill>
              </a:rPr>
              <a:t>Every run also returns</a:t>
            </a:r>
            <a:endParaRPr lang="en-US" sz="1600" dirty="0"/>
          </a:p>
        </p:txBody>
      </p:sp>
      <p:sp>
        <p:nvSpPr>
          <p:cNvPr id="14" name="list-203"/>
          <p:cNvSpPr txBox="1"/>
          <p:nvPr/>
        </p:nvSpPr>
        <p:spPr>
          <a:xfrm>
            <a:off x="7772400" y="2286000"/>
            <a:ext cx="384048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Updated live workbook (draft)</a:t>
            </a:r>
            <a:endParaRPr lang="en-US" sz="1400" dirty="0"/>
          </a:p>
          <a:p>
            <a:pPr marL="342900" indent="-342900">
              <a:spcAft>
                <a:spcPts val="800"/>
              </a:spcAft>
              <a:buSzPct val="100000"/>
              <a:buChar char="•"/>
            </a:pPr>
            <a:r>
              <a:rPr lang="en-US" sz="1400" dirty="0">
                <a:solidFill>
                  <a:schemeClr val="tx1"/>
                </a:solidFill>
              </a:rPr>
              <a:t>Build summary: periods, files, carried-forward items</a:t>
            </a:r>
            <a:endParaRPr lang="en-US" sz="1400" dirty="0"/>
          </a:p>
          <a:p>
            <a:pPr marL="342900" indent="-342900">
              <a:spcAft>
                <a:spcPts val="800"/>
              </a:spcAft>
              <a:buSzPct val="100000"/>
              <a:buChar char="•"/>
            </a:pPr>
            <a:r>
              <a:rPr lang="en-US" sz="1400" dirty="0">
                <a:solidFill>
                  <a:schemeClr val="tx1"/>
                </a:solidFill>
              </a:rPr>
              <a:t>Check table and critical-path table</a:t>
            </a:r>
            <a:endParaRPr lang="en-US" sz="1400" dirty="0"/>
          </a:p>
          <a:p>
            <a:pPr marL="342900" indent="-342900">
              <a:spcAft>
                <a:spcPts val="800"/>
              </a:spcAft>
              <a:buSzPct val="100000"/>
              <a:buChar char="•"/>
            </a:pPr>
            <a:r>
              <a:rPr lang="en-US" sz="1400" dirty="0">
                <a:solidFill>
                  <a:schemeClr val="tx1"/>
                </a:solidFill>
              </a:rPr>
              <a:t>Analyst review list: judgments only, with affected outputs</a:t>
            </a:r>
            <a:endParaRPr lang="en-US" sz="1400" dirty="0"/>
          </a:p>
        </p:txBody>
      </p:sp>
      <p:sp>
        <p:nvSpPr>
          <p:cNvPr id="15" name="text-204"/>
          <p:cNvSpPr txBox="1"/>
          <p:nvPr/>
        </p:nvSpPr>
        <p:spPr>
          <a:xfrm>
            <a:off x="548640" y="4937760"/>
            <a:ext cx="11064240" cy="822960"/>
          </a:xfrm>
          <a:prstGeom prst="rect">
            <a:avLst/>
          </a:prstGeom>
          <a:noFill/>
          <a:ln/>
        </p:spPr>
        <p:txBody>
          <a:bodyPr wrap="square" lIns="0" tIns="0" rIns="0" bIns="0" rtlCol="0" anchor="t"/>
          <a:lstStyle/>
          <a:p>
            <a:pPr indent="0" marL="0">
              <a:buNone/>
            </a:pPr>
            <a:r>
              <a:rPr lang="en-US" sz="1400" b="1" dirty="0">
                <a:solidFill>
                  <a:schemeClr val="tx1"/>
                </a:solidFill>
              </a:rPr>
              <a:t>Evidence states per item: </a:t>
            </a:r>
            <a:pPr indent="0" marL="0">
              <a:buNone/>
            </a:pPr>
            <a:r>
              <a:rPr lang="en-US" sz="1400" dirty="0">
                <a:solidFill>
                  <a:schemeClr val="tx1"/>
                </a:solidFill>
              </a:rPr>
              <a:t>Supported (from a supplied source)  ·  Calculated (formula of supported inputs)  ·  Carried forward (approved prior value, not refreshed)  ·  Unresolved (ambiguous)  ·  Blocked (cannot safely be calculated)</a:t>
            </a:r>
            <a:endParaRPr lang="en-US" sz="1400" dirty="0"/>
          </a:p>
        </p:txBody>
      </p:sp>
      <p:sp>
        <p:nvSpPr>
          <p:cNvPr id="25" name="Slide Number Placeholder 0"/>
          <p:cNvSpPr>
            <a:spLocks noGrp="1"/>
          </p:cNvSpPr>
          <p:nvPr>
            <p:ph type="sldNum" sz="quarter" idx="4294967295"/>
          </p:nvPr>
        </p:nvSpPr>
        <p:spPr>
          <a:xfrm>
            <a:off x="1124712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4A526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8"/>
          <p:cNvSpPr/>
          <p:nvPr>
            <p:ph idx="108" type="title" hasCustomPrompt="1"/>
          </p:nvPr>
        </p:nvSpPr>
        <p:spPr>
          <a:xfrm>
            <a:off x="548640" y="320040"/>
            <a:ext cx="11064240" cy="731520"/>
          </a:xfrm>
          <a:prstGeom prst="rect">
            <a:avLst/>
          </a:prstGeom>
          <a:noFill/>
          <a:ln/>
        </p:spPr>
        <p:txBody>
          <a:bodyPr wrap="square" lIns="0" tIns="0" rIns="0" bIns="0" rtlCol="0" anchor="t"/>
          <a:lstStyle/>
          <a:p>
            <a:pPr algn="l" indent="0" marL="0">
              <a:buNone/>
            </a:pPr>
            <a:r>
              <a:rPr lang="en-US" sz="3600" b="1" dirty="0">
                <a:solidFill>
                  <a:srgbClr val="1E2530"/>
                </a:solidFill>
                <a:latin typeface="Cambria" pitchFamily="34" charset="0"/>
                <a:ea typeface="Cambria" pitchFamily="34" charset="-122"/>
                <a:cs typeface="Cambria" pitchFamily="34" charset="-120"/>
              </a:rPr>
              <a:t>Appendix: the Copilot Studio scale-up path</a:t>
            </a:r>
            <a:endParaRPr lang="en-US" sz="3600" dirty="0"/>
          </a:p>
        </p:txBody>
      </p:sp>
      <p:sp>
        <p:nvSpPr>
          <p:cNvPr id="3" name="Text 8"/>
          <p:cNvSpPr/>
          <p:nvPr>
            <p:ph idx="109" type="body" hasCustomPrompt="1"/>
          </p:nvPr>
        </p:nvSpPr>
        <p:spPr>
          <a:xfrm>
            <a:off x="548640" y="1097280"/>
            <a:ext cx="11064240" cy="457200"/>
          </a:xfrm>
          <a:prstGeom prst="rect">
            <a:avLst/>
          </a:prstGeom>
          <a:noFill/>
          <a:ln/>
        </p:spPr>
        <p:txBody>
          <a:bodyPr wrap="square" lIns="0" tIns="0" rIns="0" bIns="0" rtlCol="0" anchor="t"/>
          <a:lstStyle/>
          <a:p>
            <a:pPr indent="0" marL="0">
              <a:buNone/>
            </a:pPr>
            <a:r>
              <a:rPr lang="en-US" sz="1800" dirty="0">
                <a:solidFill>
                  <a:srgbClr val="4A5260"/>
                </a:solidFill>
              </a:rPr>
              <a:t>If the lightweight MVP cannot hold up across companies, existing Studio work becomes durable, governed workflow.</a:t>
            </a:r>
            <a:endParaRPr lang="en-US" sz="1800" dirty="0"/>
          </a:p>
        </p:txBody>
      </p:sp>
      <p:sp>
        <p:nvSpPr>
          <p:cNvPr id="4" name="chip-205"/>
          <p:cNvSpPr/>
          <p:nvPr/>
        </p:nvSpPr>
        <p:spPr>
          <a:xfrm>
            <a:off x="548640" y="1965960"/>
            <a:ext cx="2468880" cy="868680"/>
          </a:xfrm>
          <a:prstGeom prst="roundRect">
            <a:avLst>
              <a:gd name="adj" fmla="val 10526"/>
            </a:avLst>
          </a:prstGeom>
          <a:solidFill>
            <a:schemeClr val="accent2"/>
          </a:solidFill>
          <a:ln/>
        </p:spPr>
      </p:sp>
      <p:sp>
        <p:nvSpPr>
          <p:cNvPr id="5" name="chiptext-206"/>
          <p:cNvSpPr txBox="1"/>
          <p:nvPr/>
        </p:nvSpPr>
        <p:spPr>
          <a:xfrm>
            <a:off x="713232" y="1965960"/>
            <a:ext cx="2139696" cy="868680"/>
          </a:xfrm>
          <a:prstGeom prst="rect">
            <a:avLst/>
          </a:prstGeom>
          <a:noFill/>
          <a:ln/>
        </p:spPr>
        <p:txBody>
          <a:bodyPr wrap="square" lIns="0" tIns="0" rIns="0" bIns="0" rtlCol="0" anchor="ctr"/>
          <a:lstStyle/>
          <a:p>
            <a:pPr indent="0" marL="0">
              <a:buNone/>
            </a:pPr>
            <a:r>
              <a:rPr lang="en-US" sz="1500" b="1" dirty="0">
                <a:solidFill>
                  <a:schemeClr val="bg1"/>
                </a:solidFill>
              </a:rPr>
              <a:t>Register files</a:t>
            </a:r>
            <a:endParaRPr lang="en-US" sz="1500" dirty="0"/>
          </a:p>
        </p:txBody>
      </p:sp>
      <p:pic>
        <p:nvPicPr>
          <p:cNvPr id="6" name="arrow-207" descr="preencoded.png">    </p:cNvPr>
          <p:cNvPicPr>
            <a:picLocks noChangeAspect="1"/>
          </p:cNvPicPr>
          <p:nvPr/>
        </p:nvPicPr>
        <p:blipFill>
          <a:blip r:embed="rId1"/>
          <a:stretch>
            <a:fillRect/>
          </a:stretch>
        </p:blipFill>
        <p:spPr>
          <a:xfrm>
            <a:off x="3072384" y="2258568"/>
            <a:ext cx="292608" cy="292608"/>
          </a:xfrm>
          <a:prstGeom prst="rect">
            <a:avLst/>
          </a:prstGeom>
        </p:spPr>
      </p:pic>
      <p:sp>
        <p:nvSpPr>
          <p:cNvPr id="7" name="chip-208"/>
          <p:cNvSpPr/>
          <p:nvPr/>
        </p:nvSpPr>
        <p:spPr>
          <a:xfrm>
            <a:off x="3429000" y="1965960"/>
            <a:ext cx="2468880" cy="868680"/>
          </a:xfrm>
          <a:prstGeom prst="roundRect">
            <a:avLst>
              <a:gd name="adj" fmla="val 10526"/>
            </a:avLst>
          </a:prstGeom>
          <a:solidFill>
            <a:schemeClr val="accent1"/>
          </a:solidFill>
          <a:ln/>
        </p:spPr>
      </p:sp>
      <p:sp>
        <p:nvSpPr>
          <p:cNvPr id="8" name="chiptext-209"/>
          <p:cNvSpPr txBox="1"/>
          <p:nvPr/>
        </p:nvSpPr>
        <p:spPr>
          <a:xfrm>
            <a:off x="3593592" y="1965960"/>
            <a:ext cx="2139696" cy="868680"/>
          </a:xfrm>
          <a:prstGeom prst="rect">
            <a:avLst/>
          </a:prstGeom>
          <a:noFill/>
          <a:ln/>
        </p:spPr>
        <p:txBody>
          <a:bodyPr wrap="square" lIns="0" tIns="0" rIns="0" bIns="0" rtlCol="0" anchor="ctr"/>
          <a:lstStyle/>
          <a:p>
            <a:pPr indent="0" marL="0">
              <a:buNone/>
            </a:pPr>
            <a:r>
              <a:rPr lang="en-US" sz="1500" b="1" dirty="0">
                <a:solidFill>
                  <a:schemeClr val="bg1"/>
                </a:solidFill>
              </a:rPr>
              <a:t>Profile and extract</a:t>
            </a:r>
            <a:endParaRPr lang="en-US" sz="1500" dirty="0"/>
          </a:p>
        </p:txBody>
      </p:sp>
      <p:pic>
        <p:nvPicPr>
          <p:cNvPr id="9" name="arrow-210" descr="preencoded.png">    </p:cNvPr>
          <p:cNvPicPr>
            <a:picLocks noChangeAspect="1"/>
          </p:cNvPicPr>
          <p:nvPr/>
        </p:nvPicPr>
        <p:blipFill>
          <a:blip r:embed="rId2"/>
          <a:stretch>
            <a:fillRect/>
          </a:stretch>
        </p:blipFill>
        <p:spPr>
          <a:xfrm>
            <a:off x="5952744" y="2258568"/>
            <a:ext cx="292608" cy="292608"/>
          </a:xfrm>
          <a:prstGeom prst="rect">
            <a:avLst/>
          </a:prstGeom>
        </p:spPr>
      </p:pic>
      <p:sp>
        <p:nvSpPr>
          <p:cNvPr id="10" name="chip-211"/>
          <p:cNvSpPr/>
          <p:nvPr/>
        </p:nvSpPr>
        <p:spPr>
          <a:xfrm>
            <a:off x="6309360" y="1965960"/>
            <a:ext cx="2468880" cy="868680"/>
          </a:xfrm>
          <a:prstGeom prst="roundRect">
            <a:avLst>
              <a:gd name="adj" fmla="val 10526"/>
            </a:avLst>
          </a:prstGeom>
          <a:solidFill>
            <a:schemeClr val="accent4"/>
          </a:solidFill>
          <a:ln/>
        </p:spPr>
      </p:sp>
      <p:sp>
        <p:nvSpPr>
          <p:cNvPr id="11" name="chiptext-212"/>
          <p:cNvSpPr txBox="1"/>
          <p:nvPr/>
        </p:nvSpPr>
        <p:spPr>
          <a:xfrm>
            <a:off x="6473952" y="1965960"/>
            <a:ext cx="2139696" cy="868680"/>
          </a:xfrm>
          <a:prstGeom prst="rect">
            <a:avLst/>
          </a:prstGeom>
          <a:noFill/>
          <a:ln/>
        </p:spPr>
        <p:txBody>
          <a:bodyPr wrap="square" lIns="0" tIns="0" rIns="0" bIns="0" rtlCol="0" anchor="ctr"/>
          <a:lstStyle/>
          <a:p>
            <a:pPr indent="0" marL="0">
              <a:buNone/>
            </a:pPr>
            <a:r>
              <a:rPr lang="en-US" sz="1500" b="1" dirty="0">
                <a:solidFill>
                  <a:schemeClr val="bg1"/>
                </a:solidFill>
              </a:rPr>
              <a:t>Company knowledge</a:t>
            </a:r>
            <a:endParaRPr lang="en-US" sz="1500" dirty="0"/>
          </a:p>
        </p:txBody>
      </p:sp>
      <p:pic>
        <p:nvPicPr>
          <p:cNvPr id="12" name="arrow-213" descr="preencoded.png">    </p:cNvPr>
          <p:cNvPicPr>
            <a:picLocks noChangeAspect="1"/>
          </p:cNvPicPr>
          <p:nvPr/>
        </p:nvPicPr>
        <p:blipFill>
          <a:blip r:embed="rId3"/>
          <a:stretch>
            <a:fillRect/>
          </a:stretch>
        </p:blipFill>
        <p:spPr>
          <a:xfrm>
            <a:off x="8833104" y="2258568"/>
            <a:ext cx="292608" cy="292608"/>
          </a:xfrm>
          <a:prstGeom prst="rect">
            <a:avLst/>
          </a:prstGeom>
        </p:spPr>
      </p:pic>
      <p:sp>
        <p:nvSpPr>
          <p:cNvPr id="13" name="chip-214"/>
          <p:cNvSpPr/>
          <p:nvPr/>
        </p:nvSpPr>
        <p:spPr>
          <a:xfrm>
            <a:off x="9189720" y="1965960"/>
            <a:ext cx="2468880" cy="868680"/>
          </a:xfrm>
          <a:prstGeom prst="roundRect">
            <a:avLst>
              <a:gd name="adj" fmla="val 10526"/>
            </a:avLst>
          </a:prstGeom>
          <a:solidFill>
            <a:schemeClr val="accent1"/>
          </a:solidFill>
          <a:ln/>
        </p:spPr>
      </p:sp>
      <p:sp>
        <p:nvSpPr>
          <p:cNvPr id="14" name="chiptext-215"/>
          <p:cNvSpPr txBox="1"/>
          <p:nvPr/>
        </p:nvSpPr>
        <p:spPr>
          <a:xfrm>
            <a:off x="9354312" y="1965960"/>
            <a:ext cx="2139696" cy="868680"/>
          </a:xfrm>
          <a:prstGeom prst="rect">
            <a:avLst/>
          </a:prstGeom>
          <a:noFill/>
          <a:ln/>
        </p:spPr>
        <p:txBody>
          <a:bodyPr wrap="square" lIns="0" tIns="0" rIns="0" bIns="0" rtlCol="0" anchor="ctr"/>
          <a:lstStyle/>
          <a:p>
            <a:pPr indent="0" marL="0">
              <a:buNone/>
            </a:pPr>
            <a:r>
              <a:rPr lang="en-US" sz="1500" b="1" dirty="0">
                <a:solidFill>
                  <a:schemeClr val="bg1"/>
                </a:solidFill>
              </a:rPr>
              <a:t>Quarterly map</a:t>
            </a:r>
            <a:endParaRPr lang="en-US" sz="1500" dirty="0"/>
          </a:p>
        </p:txBody>
      </p:sp>
      <p:sp>
        <p:nvSpPr>
          <p:cNvPr id="15" name="chip-216"/>
          <p:cNvSpPr/>
          <p:nvPr/>
        </p:nvSpPr>
        <p:spPr>
          <a:xfrm>
            <a:off x="548640" y="3383280"/>
            <a:ext cx="2468880" cy="868680"/>
          </a:xfrm>
          <a:prstGeom prst="roundRect">
            <a:avLst>
              <a:gd name="adj" fmla="val 10526"/>
            </a:avLst>
          </a:prstGeom>
          <a:solidFill>
            <a:schemeClr val="accent1"/>
          </a:solidFill>
          <a:ln/>
        </p:spPr>
      </p:sp>
      <p:sp>
        <p:nvSpPr>
          <p:cNvPr id="16" name="chiptext-217"/>
          <p:cNvSpPr txBox="1"/>
          <p:nvPr/>
        </p:nvSpPr>
        <p:spPr>
          <a:xfrm>
            <a:off x="713232" y="3383280"/>
            <a:ext cx="2139696" cy="868680"/>
          </a:xfrm>
          <a:prstGeom prst="rect">
            <a:avLst/>
          </a:prstGeom>
          <a:noFill/>
          <a:ln/>
        </p:spPr>
        <p:txBody>
          <a:bodyPr wrap="square" lIns="0" tIns="0" rIns="0" bIns="0" rtlCol="0" anchor="ctr"/>
          <a:lstStyle/>
          <a:p>
            <a:pPr indent="0" marL="0">
              <a:buNone/>
            </a:pPr>
            <a:r>
              <a:rPr lang="en-US" sz="1500" b="1" dirty="0">
                <a:solidFill>
                  <a:schemeClr val="bg1"/>
                </a:solidFill>
              </a:rPr>
              <a:t>Build workbook</a:t>
            </a:r>
            <a:endParaRPr lang="en-US" sz="1500" dirty="0"/>
          </a:p>
        </p:txBody>
      </p:sp>
      <p:pic>
        <p:nvPicPr>
          <p:cNvPr id="17" name="arrow-218" descr="preencoded.png">    </p:cNvPr>
          <p:cNvPicPr>
            <a:picLocks noChangeAspect="1"/>
          </p:cNvPicPr>
          <p:nvPr/>
        </p:nvPicPr>
        <p:blipFill>
          <a:blip r:embed="rId4"/>
          <a:stretch>
            <a:fillRect/>
          </a:stretch>
        </p:blipFill>
        <p:spPr>
          <a:xfrm>
            <a:off x="3072384" y="3675888"/>
            <a:ext cx="292608" cy="292608"/>
          </a:xfrm>
          <a:prstGeom prst="rect">
            <a:avLst/>
          </a:prstGeom>
        </p:spPr>
      </p:pic>
      <p:sp>
        <p:nvSpPr>
          <p:cNvPr id="18" name="chip-219"/>
          <p:cNvSpPr/>
          <p:nvPr/>
        </p:nvSpPr>
        <p:spPr>
          <a:xfrm>
            <a:off x="3429000" y="3383280"/>
            <a:ext cx="2468880" cy="868680"/>
          </a:xfrm>
          <a:prstGeom prst="roundRect">
            <a:avLst>
              <a:gd name="adj" fmla="val 10526"/>
            </a:avLst>
          </a:prstGeom>
          <a:solidFill>
            <a:schemeClr val="accent2"/>
          </a:solidFill>
          <a:ln/>
        </p:spPr>
      </p:sp>
      <p:sp>
        <p:nvSpPr>
          <p:cNvPr id="19" name="chiptext-220"/>
          <p:cNvSpPr txBox="1"/>
          <p:nvPr/>
        </p:nvSpPr>
        <p:spPr>
          <a:xfrm>
            <a:off x="3593592" y="3383280"/>
            <a:ext cx="2139696" cy="868680"/>
          </a:xfrm>
          <a:prstGeom prst="rect">
            <a:avLst/>
          </a:prstGeom>
          <a:noFill/>
          <a:ln/>
        </p:spPr>
        <p:txBody>
          <a:bodyPr wrap="square" lIns="0" tIns="0" rIns="0" bIns="0" rtlCol="0" anchor="ctr"/>
          <a:lstStyle/>
          <a:p>
            <a:pPr indent="0" marL="0">
              <a:buNone/>
            </a:pPr>
            <a:r>
              <a:rPr lang="en-US" sz="1500" b="1" dirty="0">
                <a:solidFill>
                  <a:schemeClr val="bg1"/>
                </a:solidFill>
              </a:rPr>
              <a:t>Reviewer and test bench</a:t>
            </a:r>
            <a:endParaRPr lang="en-US" sz="1500" dirty="0"/>
          </a:p>
        </p:txBody>
      </p:sp>
      <p:pic>
        <p:nvPicPr>
          <p:cNvPr id="20" name="arrow-221" descr="preencoded.png">    </p:cNvPr>
          <p:cNvPicPr>
            <a:picLocks noChangeAspect="1"/>
          </p:cNvPicPr>
          <p:nvPr/>
        </p:nvPicPr>
        <p:blipFill>
          <a:blip r:embed="rId5"/>
          <a:stretch>
            <a:fillRect/>
          </a:stretch>
        </p:blipFill>
        <p:spPr>
          <a:xfrm>
            <a:off x="5952744" y="3675888"/>
            <a:ext cx="292608" cy="292608"/>
          </a:xfrm>
          <a:prstGeom prst="rect">
            <a:avLst/>
          </a:prstGeom>
        </p:spPr>
      </p:pic>
      <p:sp>
        <p:nvSpPr>
          <p:cNvPr id="21" name="chip-222"/>
          <p:cNvSpPr/>
          <p:nvPr/>
        </p:nvSpPr>
        <p:spPr>
          <a:xfrm>
            <a:off x="6309360" y="3383280"/>
            <a:ext cx="2468880" cy="868680"/>
          </a:xfrm>
          <a:prstGeom prst="roundRect">
            <a:avLst>
              <a:gd name="adj" fmla="val 10526"/>
            </a:avLst>
          </a:prstGeom>
          <a:solidFill>
            <a:schemeClr val="accent3"/>
          </a:solidFill>
          <a:ln/>
        </p:spPr>
      </p:sp>
      <p:sp>
        <p:nvSpPr>
          <p:cNvPr id="22" name="chiptext-223"/>
          <p:cNvSpPr txBox="1"/>
          <p:nvPr/>
        </p:nvSpPr>
        <p:spPr>
          <a:xfrm>
            <a:off x="6473952" y="3383280"/>
            <a:ext cx="2139696" cy="868680"/>
          </a:xfrm>
          <a:prstGeom prst="rect">
            <a:avLst/>
          </a:prstGeom>
          <a:noFill/>
          <a:ln/>
        </p:spPr>
        <p:txBody>
          <a:bodyPr wrap="square" lIns="0" tIns="0" rIns="0" bIns="0" rtlCol="0" anchor="ctr"/>
          <a:lstStyle/>
          <a:p>
            <a:pPr indent="0" marL="0">
              <a:buNone/>
            </a:pPr>
            <a:r>
              <a:rPr lang="en-US" sz="1500" b="1" dirty="0">
                <a:solidFill>
                  <a:schemeClr val="bg1"/>
                </a:solidFill>
              </a:rPr>
              <a:t>Analyst exceptions</a:t>
            </a:r>
            <a:endParaRPr lang="en-US" sz="1500" dirty="0"/>
          </a:p>
        </p:txBody>
      </p:sp>
      <p:pic>
        <p:nvPicPr>
          <p:cNvPr id="23" name="arrow-224" descr="preencoded.png">    </p:cNvPr>
          <p:cNvPicPr>
            <a:picLocks noChangeAspect="1"/>
          </p:cNvPicPr>
          <p:nvPr/>
        </p:nvPicPr>
        <p:blipFill>
          <a:blip r:embed="rId6"/>
          <a:stretch>
            <a:fillRect/>
          </a:stretch>
        </p:blipFill>
        <p:spPr>
          <a:xfrm>
            <a:off x="8833104" y="3675888"/>
            <a:ext cx="292608" cy="292608"/>
          </a:xfrm>
          <a:prstGeom prst="rect">
            <a:avLst/>
          </a:prstGeom>
        </p:spPr>
      </p:pic>
      <p:sp>
        <p:nvSpPr>
          <p:cNvPr id="24" name="chip-225"/>
          <p:cNvSpPr/>
          <p:nvPr/>
        </p:nvSpPr>
        <p:spPr>
          <a:xfrm>
            <a:off x="9189720" y="3383280"/>
            <a:ext cx="2468880" cy="868680"/>
          </a:xfrm>
          <a:prstGeom prst="roundRect">
            <a:avLst>
              <a:gd name="adj" fmla="val 10526"/>
            </a:avLst>
          </a:prstGeom>
          <a:solidFill>
            <a:schemeClr val="accent4"/>
          </a:solidFill>
          <a:ln/>
        </p:spPr>
      </p:sp>
      <p:sp>
        <p:nvSpPr>
          <p:cNvPr id="25" name="chiptext-226"/>
          <p:cNvSpPr txBox="1"/>
          <p:nvPr/>
        </p:nvSpPr>
        <p:spPr>
          <a:xfrm>
            <a:off x="9354312" y="3383280"/>
            <a:ext cx="2139696" cy="868680"/>
          </a:xfrm>
          <a:prstGeom prst="rect">
            <a:avLst/>
          </a:prstGeom>
          <a:noFill/>
          <a:ln/>
        </p:spPr>
        <p:txBody>
          <a:bodyPr wrap="square" lIns="0" tIns="0" rIns="0" bIns="0" rtlCol="0" anchor="ctr"/>
          <a:lstStyle/>
          <a:p>
            <a:pPr indent="0" marL="0">
              <a:buNone/>
            </a:pPr>
            <a:r>
              <a:rPr lang="en-US" sz="1500" b="1" dirty="0">
                <a:solidFill>
                  <a:schemeClr val="bg1"/>
                </a:solidFill>
              </a:rPr>
              <a:t>Approved output</a:t>
            </a:r>
            <a:endParaRPr lang="en-US" sz="1500" dirty="0"/>
          </a:p>
        </p:txBody>
      </p:sp>
      <p:sp>
        <p:nvSpPr>
          <p:cNvPr id="26" name="text-227"/>
          <p:cNvSpPr txBox="1"/>
          <p:nvPr/>
        </p:nvSpPr>
        <p:spPr>
          <a:xfrm>
            <a:off x="548640" y="4983480"/>
            <a:ext cx="11064240" cy="731520"/>
          </a:xfrm>
          <a:prstGeom prst="rect">
            <a:avLst/>
          </a:prstGeom>
          <a:noFill/>
          <a:ln/>
        </p:spPr>
        <p:txBody>
          <a:bodyPr wrap="square" lIns="0" tIns="0" rIns="0" bIns="0" rtlCol="0" anchor="t"/>
          <a:lstStyle/>
          <a:p>
            <a:pPr indent="0" marL="0">
              <a:buNone/>
            </a:pPr>
            <a:r>
              <a:rPr lang="en-US" sz="1500" dirty="0">
                <a:solidFill>
                  <a:schemeClr val="tx1"/>
                </a:solidFill>
              </a:rPr>
              <a:t>Justified when repeated evidence shows one agent cannot consistently retain mappings, enforce implementation patterns or verify itself across companies and quarters.</a:t>
            </a:r>
            <a:endParaRPr lang="en-US" sz="1500" dirty="0"/>
          </a:p>
        </p:txBody>
      </p:sp>
      <p:sp>
        <p:nvSpPr>
          <p:cNvPr id="25" name="Slide Number Placeholder 0"/>
          <p:cNvSpPr>
            <a:spLocks noGrp="1"/>
          </p:cNvSpPr>
          <p:nvPr>
            <p:ph type="sldNum" sz="quarter" idx="4294967295"/>
          </p:nvPr>
        </p:nvSpPr>
        <p:spPr>
          <a:xfrm>
            <a:off x="1124712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4A5260"/>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8"/>
          <p:cNvSpPr/>
          <p:nvPr>
            <p:ph idx="108" type="title" hasCustomPrompt="1"/>
          </p:nvPr>
        </p:nvSpPr>
        <p:spPr>
          <a:xfrm>
            <a:off x="548640" y="320040"/>
            <a:ext cx="11064240" cy="731520"/>
          </a:xfrm>
          <a:prstGeom prst="rect">
            <a:avLst/>
          </a:prstGeom>
          <a:noFill/>
          <a:ln/>
        </p:spPr>
        <p:txBody>
          <a:bodyPr wrap="square" lIns="0" tIns="0" rIns="0" bIns="0" rtlCol="0" anchor="t"/>
          <a:lstStyle/>
          <a:p>
            <a:pPr algn="l" indent="0" marL="0">
              <a:buNone/>
            </a:pPr>
            <a:r>
              <a:rPr lang="en-US" sz="3600" b="1" dirty="0">
                <a:solidFill>
                  <a:srgbClr val="1E2530"/>
                </a:solidFill>
                <a:latin typeface="Cambria" pitchFamily="34" charset="0"/>
                <a:ea typeface="Cambria" pitchFamily="34" charset="-122"/>
                <a:cs typeface="Cambria" pitchFamily="34" charset="-120"/>
              </a:rPr>
              <a:t>Appendix: glossary</a:t>
            </a:r>
            <a:endParaRPr lang="en-US" sz="3600" dirty="0"/>
          </a:p>
        </p:txBody>
      </p:sp>
      <p:graphicFrame>
        <p:nvGraphicFramePr>
          <p:cNvPr id="13" name="glossary-228"/>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4206240"/>
                <a:gridCol w="6858000"/>
              </a:tblGrid>
              <a:tr h="512064">
                <a:tc>
                  <a:txBody>
                    <a:bodyPr/>
                    <a:lstStyle/>
                    <a:p>
                      <a:pPr indent="0" marL="0">
                        <a:buNone/>
                      </a:pPr>
                      <a:r>
                        <a:rPr lang="en-US" sz="1300" b="1" dirty="0">
                          <a:solidFill>
                            <a:srgbClr val="1E2530"/>
                          </a:solidFill>
                          <a:latin typeface="Calibri" pitchFamily="34" charset="0"/>
                          <a:ea typeface="Calibri" pitchFamily="34" charset="-122"/>
                          <a:cs typeface="Calibri" pitchFamily="34" charset="-120"/>
                        </a:rPr>
                        <a:t>Trailing twelve months (TTM)</a:t>
                      </a:r>
                      <a:endParaRPr lang="en-US" sz="13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300" dirty="0">
                          <a:solidFill>
                            <a:srgbClr val="1E2530"/>
                          </a:solidFill>
                          <a:latin typeface="Calibri" pitchFamily="34" charset="0"/>
                          <a:ea typeface="Calibri" pitchFamily="34" charset="-122"/>
                          <a:cs typeface="Calibri" pitchFamily="34" charset="-120"/>
                        </a:rPr>
                        <a:t>The 12 months ending at the quarter-end. For Q2 2026: July 2025 to June 2026.</a:t>
                      </a:r>
                      <a:endParaRPr lang="en-US" sz="13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512064">
                <a:tc>
                  <a:txBody>
                    <a:bodyPr/>
                    <a:lstStyle/>
                    <a:p>
                      <a:pPr indent="0" marL="0">
                        <a:buNone/>
                      </a:pPr>
                      <a:r>
                        <a:rPr lang="en-US" sz="1300" b="1" dirty="0">
                          <a:solidFill>
                            <a:srgbClr val="1E2530"/>
                          </a:solidFill>
                          <a:latin typeface="Calibri" pitchFamily="34" charset="0"/>
                          <a:ea typeface="Calibri" pitchFamily="34" charset="-122"/>
                          <a:cs typeface="Calibri" pitchFamily="34" charset="-120"/>
                        </a:rPr>
                        <a:t>Earnings before interest, taxes, depreciation and amortization (EBITDA)</a:t>
                      </a:r>
                      <a:endParaRPr lang="en-US" sz="13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300" dirty="0">
                          <a:solidFill>
                            <a:srgbClr val="1E2530"/>
                          </a:solidFill>
                          <a:latin typeface="Calibri" pitchFamily="34" charset="0"/>
                          <a:ea typeface="Calibri" pitchFamily="34" charset="-122"/>
                          <a:cs typeface="Calibri" pitchFamily="34" charset="-120"/>
                        </a:rPr>
                        <a:t>Operating earnings used as the valuation base.</a:t>
                      </a:r>
                      <a:endParaRPr lang="en-US" sz="13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512064">
                <a:tc>
                  <a:txBody>
                    <a:bodyPr/>
                    <a:lstStyle/>
                    <a:p>
                      <a:pPr indent="0" marL="0">
                        <a:buNone/>
                      </a:pPr>
                      <a:r>
                        <a:rPr lang="en-US" sz="1300" b="1" dirty="0">
                          <a:solidFill>
                            <a:srgbClr val="1E2530"/>
                          </a:solidFill>
                          <a:latin typeface="Calibri" pitchFamily="34" charset="0"/>
                          <a:ea typeface="Calibri" pitchFamily="34" charset="-122"/>
                          <a:cs typeface="Calibri" pitchFamily="34" charset="-120"/>
                        </a:rPr>
                        <a:t>Adjusted EBITDA</a:t>
                      </a:r>
                      <a:endParaRPr lang="en-US" sz="13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300" dirty="0">
                          <a:solidFill>
                            <a:srgbClr val="1E2530"/>
                          </a:solidFill>
                          <a:latin typeface="Calibri" pitchFamily="34" charset="0"/>
                          <a:ea typeface="Calibri" pitchFamily="34" charset="-122"/>
                          <a:cs typeface="Calibri" pitchFamily="34" charset="-120"/>
                        </a:rPr>
                        <a:t>EBITDA plus approved adjustments from the XPV EBITDA adjustment template.</a:t>
                      </a:r>
                      <a:endParaRPr lang="en-US" sz="13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512064">
                <a:tc>
                  <a:txBody>
                    <a:bodyPr/>
                    <a:lstStyle/>
                    <a:p>
                      <a:pPr indent="0" marL="0">
                        <a:buNone/>
                      </a:pPr>
                      <a:r>
                        <a:rPr lang="en-US" sz="1300" b="1" dirty="0">
                          <a:solidFill>
                            <a:srgbClr val="1E2530"/>
                          </a:solidFill>
                          <a:latin typeface="Calibri" pitchFamily="34" charset="0"/>
                          <a:ea typeface="Calibri" pitchFamily="34" charset="-122"/>
                          <a:cs typeface="Calibri" pitchFamily="34" charset="-120"/>
                        </a:rPr>
                        <a:t>Multiple on invested capital (MOIC)</a:t>
                      </a:r>
                      <a:endParaRPr lang="en-US" sz="13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300" dirty="0">
                          <a:solidFill>
                            <a:srgbClr val="1E2530"/>
                          </a:solidFill>
                          <a:latin typeface="Calibri" pitchFamily="34" charset="0"/>
                          <a:ea typeface="Calibri" pitchFamily="34" charset="-122"/>
                          <a:cs typeface="Calibri" pitchFamily="34" charset="-120"/>
                        </a:rPr>
                        <a:t>Total realized and unrealized value divided by invested capital.</a:t>
                      </a:r>
                      <a:endParaRPr lang="en-US" sz="13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512064">
                <a:tc>
                  <a:txBody>
                    <a:bodyPr/>
                    <a:lstStyle/>
                    <a:p>
                      <a:pPr indent="0" marL="0">
                        <a:buNone/>
                      </a:pPr>
                      <a:r>
                        <a:rPr lang="en-US" sz="1300" b="1" dirty="0">
                          <a:solidFill>
                            <a:srgbClr val="1E2530"/>
                          </a:solidFill>
                          <a:latin typeface="Calibri" pitchFamily="34" charset="0"/>
                          <a:ea typeface="Calibri" pitchFamily="34" charset="-122"/>
                          <a:cs typeface="Calibri" pitchFamily="34" charset="-120"/>
                        </a:rPr>
                        <a:t>Internal rate of return (IRR)</a:t>
                      </a:r>
                      <a:endParaRPr lang="en-US" sz="13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300" dirty="0">
                          <a:solidFill>
                            <a:srgbClr val="1E2530"/>
                          </a:solidFill>
                          <a:latin typeface="Calibri" pitchFamily="34" charset="0"/>
                          <a:ea typeface="Calibri" pitchFamily="34" charset="-122"/>
                          <a:cs typeface="Calibri" pitchFamily="34" charset="-120"/>
                        </a:rPr>
                        <a:t>Annualized return from dated cash flows.</a:t>
                      </a:r>
                      <a:endParaRPr lang="en-US" sz="13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512064">
                <a:tc>
                  <a:txBody>
                    <a:bodyPr/>
                    <a:lstStyle/>
                    <a:p>
                      <a:pPr indent="0" marL="0">
                        <a:buNone/>
                      </a:pPr>
                      <a:r>
                        <a:rPr lang="en-US" sz="1300" b="1" dirty="0">
                          <a:solidFill>
                            <a:srgbClr val="1E2530"/>
                          </a:solidFill>
                          <a:latin typeface="Calibri" pitchFamily="34" charset="0"/>
                          <a:ea typeface="Calibri" pitchFamily="34" charset="-122"/>
                          <a:cs typeface="Calibri" pitchFamily="34" charset="-120"/>
                        </a:rPr>
                        <a:t>Limited partner (LP) report</a:t>
                      </a:r>
                      <a:endParaRPr lang="en-US" sz="13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300" dirty="0">
                          <a:solidFill>
                            <a:srgbClr val="1E2530"/>
                          </a:solidFill>
                          <a:latin typeface="Calibri" pitchFamily="34" charset="0"/>
                          <a:ea typeface="Calibri" pitchFamily="34" charset="-122"/>
                          <a:cs typeface="Calibri" pitchFamily="34" charset="-120"/>
                        </a:rPr>
                        <a:t>The fund's investor report; the end product the workbooks feed.</a:t>
                      </a:r>
                      <a:endParaRPr lang="en-US" sz="13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512064">
                <a:tc>
                  <a:txBody>
                    <a:bodyPr/>
                    <a:lstStyle/>
                    <a:p>
                      <a:pPr indent="0" marL="0">
                        <a:buNone/>
                      </a:pPr>
                      <a:r>
                        <a:rPr lang="en-US" sz="1300" b="1" dirty="0">
                          <a:solidFill>
                            <a:srgbClr val="1E2530"/>
                          </a:solidFill>
                          <a:latin typeface="Calibri" pitchFamily="34" charset="0"/>
                          <a:ea typeface="Calibri" pitchFamily="34" charset="-122"/>
                          <a:cs typeface="Calibri" pitchFamily="34" charset="-120"/>
                        </a:rPr>
                        <a:t>Steelman test</a:t>
                      </a:r>
                      <a:endParaRPr lang="en-US" sz="13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300" dirty="0">
                          <a:solidFill>
                            <a:srgbClr val="1E2530"/>
                          </a:solidFill>
                          <a:latin typeface="Calibri" pitchFamily="34" charset="0"/>
                          <a:ea typeface="Calibri" pitchFamily="34" charset="-122"/>
                          <a:cs typeface="Calibri" pitchFamily="34" charset="-120"/>
                        </a:rPr>
                        <a:t>The strongest fair test of AI alone: one model, real files, no scaffolding.</a:t>
                      </a:r>
                      <a:endParaRPr lang="en-US" sz="13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512064">
                <a:tc>
                  <a:txBody>
                    <a:bodyPr/>
                    <a:lstStyle/>
                    <a:p>
                      <a:pPr indent="0" marL="0">
                        <a:buNone/>
                      </a:pPr>
                      <a:r>
                        <a:rPr lang="en-US" sz="1300" b="1" dirty="0">
                          <a:solidFill>
                            <a:srgbClr val="1E2530"/>
                          </a:solidFill>
                          <a:latin typeface="Calibri" pitchFamily="34" charset="0"/>
                          <a:ea typeface="Calibri" pitchFamily="34" charset="-122"/>
                          <a:cs typeface="Calibri" pitchFamily="34" charset="-120"/>
                        </a:rPr>
                        <a:t>Agent Builder</a:t>
                      </a:r>
                      <a:endParaRPr lang="en-US" sz="13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300" dirty="0">
                          <a:solidFill>
                            <a:srgbClr val="1E2530"/>
                          </a:solidFill>
                          <a:latin typeface="Calibri" pitchFamily="34" charset="0"/>
                          <a:ea typeface="Calibri" pitchFamily="34" charset="-122"/>
                          <a:cs typeface="Calibri" pitchFamily="34" charset="-120"/>
                        </a:rPr>
                        <a:t>The Microsoft 365 Copilot agent builder in Teams; lighter than Copilot Studio.</a:t>
                      </a:r>
                      <a:endParaRPr lang="en-US" sz="13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r h="512064">
                <a:tc>
                  <a:txBody>
                    <a:bodyPr/>
                    <a:lstStyle/>
                    <a:p>
                      <a:pPr indent="0" marL="0">
                        <a:buNone/>
                      </a:pPr>
                      <a:r>
                        <a:rPr lang="en-US" sz="1300" b="1" dirty="0">
                          <a:solidFill>
                            <a:srgbClr val="1E2530"/>
                          </a:solidFill>
                          <a:latin typeface="Calibri" pitchFamily="34" charset="0"/>
                          <a:ea typeface="Calibri" pitchFamily="34" charset="-122"/>
                          <a:cs typeface="Calibri" pitchFamily="34" charset="-120"/>
                        </a:rPr>
                        <a:t>Verifier</a:t>
                      </a:r>
                      <a:endParaRPr lang="en-US" sz="13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c>
                  <a:txBody>
                    <a:bodyPr/>
                    <a:lstStyle/>
                    <a:p>
                      <a:pPr indent="0" marL="0">
                        <a:buNone/>
                      </a:pPr>
                      <a:r>
                        <a:rPr lang="en-US" sz="1300" dirty="0">
                          <a:solidFill>
                            <a:srgbClr val="1E2530"/>
                          </a:solidFill>
                          <a:latin typeface="Calibri" pitchFamily="34" charset="0"/>
                          <a:ea typeface="Calibri" pitchFamily="34" charset="-122"/>
                          <a:cs typeface="Calibri" pitchFamily="34" charset="-120"/>
                        </a:rPr>
                        <a:t>Fixed Python checks run on the finished workbook; the AI cannot change them.</a:t>
                      </a:r>
                      <a:endParaRPr lang="en-US" sz="1300" dirty="0">
                        <a:latin typeface="Calibri" charset="0"/>
                        <a:ea typeface="Calibri" charset="0"/>
                        <a:cs typeface="Calibri" charset="0"/>
                      </a:endParaRPr>
                    </a:p>
                  </a:txBody>
                  <a:tcPr marL="91440" marR="91440" marT="45720" marB="45720"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tcPr>
                </a:tc>
              </a:tr>
            </a:tbl>
          </a:graphicData>
        </a:graphic>
      </p:graphicFrame>
      <p:sp>
        <p:nvSpPr>
          <p:cNvPr id="4" name="Text 8"/>
          <p:cNvSpPr/>
          <p:nvPr>
            <p:ph idx="109" type="body" hasCustomPrompt="1"/>
          </p:nvPr>
        </p:nvSpPr>
        <p:spPr>
          <a:xfrm>
            <a:off x="548640" y="1097280"/>
            <a:ext cx="11064240" cy="45720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247120" y="635508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4A5260"/>
                </a:solidFill>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XPV Valuation Automation">
  <a:themeElements>
    <a:clrScheme name="XPV Valuation Automation">
      <a:dk1>
        <a:srgbClr val="1E2530"/>
      </a:dk1>
      <a:lt1>
        <a:srgbClr val="FFFFFF"/>
      </a:lt1>
      <a:dk2>
        <a:srgbClr val="4A5260"/>
      </a:dk2>
      <a:lt2>
        <a:srgbClr val="F2F4F7"/>
      </a:lt2>
      <a:accent1>
        <a:srgbClr val="1F8A5B"/>
      </a:accent1>
      <a:accent2>
        <a:srgbClr val="2C6FB7"/>
      </a:accent2>
      <a:accent3>
        <a:srgbClr val="E07A1F"/>
      </a:accent3>
      <a:accent4>
        <a:srgbClr val="8C939D"/>
      </a:accent4>
      <a:accent5>
        <a:srgbClr val="C0392B"/>
      </a:accent5>
      <a:accent6>
        <a:srgbClr val="DCE3EA"/>
      </a:accent6>
      <a:hlink>
        <a:srgbClr val="2C6FB7"/>
      </a:hlink>
      <a:folHlink>
        <a:srgbClr val="4A5260"/>
      </a:folHlink>
    </a:clrScheme>
    <a:fontScheme name="XPV Valuation Auto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XPV Water Partners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AI-led quarterly valuation workflow</dc:title>
  <dc:subject>PptxGenJS Presentation</dc:subject>
  <dc:creator>Aria</dc:creator>
  <cp:lastModifiedBy>Aria</cp:lastModifiedBy>
  <cp:revision>1</cp:revision>
  <dcterms:created xsi:type="dcterms:W3CDTF">2026-10-13T22:14:21Z</dcterms:created>
  <dcterms:modified xsi:type="dcterms:W3CDTF">2026-10-13T22:14:21Z</dcterms:modified>
</cp:coreProperties>
</file>